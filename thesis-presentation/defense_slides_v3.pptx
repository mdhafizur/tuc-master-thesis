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36576" cy="4572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315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502920"/>
            <a:ext cx="2926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37215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Privacy-Preserving Source Code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Vulnerability Detection &amp;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10637215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C8D0E0"/>
                </a:solidFill>
                <a:latin typeface="Calibri"/>
              </a:rPr>
              <a:t>Retrieval-Augmented LLMs for Visual Studio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356616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CA311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35661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Md Hafizur Rahman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96128"/>
            <a:ext cx="35661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C8D0E0"/>
                </a:solidFill>
                <a:latin typeface="Calibri"/>
              </a:rPr>
              <a:t>Mat. No. 810641  ·  M.Sc. Web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029200"/>
            <a:ext cx="356616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CA311"/>
                </a:solidFill>
                <a:latin typeface="Calibri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303520"/>
            <a:ext cx="35661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Abubaker Gaber  (Internal)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5029200"/>
            <a:ext cx="356616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CA311"/>
                </a:solidFill>
                <a:latin typeface="Calibri"/>
              </a:rPr>
              <a:t>EXAMINER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5303520"/>
            <a:ext cx="35661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Dr.-Ing. Sebastian Heil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5669280"/>
            <a:ext cx="356616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CA311"/>
                </a:solidFill>
                <a:latin typeface="Calibri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943600"/>
            <a:ext cx="35661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June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The Developer's Dilemma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2 / 26</a:t>
            </a:r>
          </a:p>
        </p:txBody>
      </p:sp>
      <p:pic>
        <p:nvPicPr>
          <p:cNvPr id="10" name="Picture 9" descr="illustration_2_di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322" y="1783080"/>
            <a:ext cx="840105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Today You Pick: Send Code Away — or Get No Help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3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5455767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455767" cy="73152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C9184A"/>
                </a:solidFill>
                <a:latin typeface="Calibri"/>
              </a:rP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377440"/>
            <a:ext cx="455051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0B1428"/>
                </a:solidFill>
                <a:latin typeface="Calibri"/>
              </a:rPr>
              <a:t>Cloud LLM (Copilot, ChatGPT, Cursor)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98648"/>
            <a:ext cx="5053431" cy="1856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Source code crosses the network on every request.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Blocked outright in finance, healthcare, defence,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and air-gapped environments.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Strong reasoning · zero privacy guarantees.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194560"/>
            <a:ext cx="5455767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2194560"/>
            <a:ext cx="5455767" cy="73152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9895" y="237744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C9184A"/>
                </a:solidFill>
                <a:latin typeface="Calibri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2815" y="2377440"/>
            <a:ext cx="455051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0B1428"/>
                </a:solidFill>
                <a:latin typeface="Calibri"/>
              </a:rPr>
              <a:t>Local SAST (Semgrep, CodeQL, ESLint)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2898648"/>
            <a:ext cx="5053431" cy="1856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Stays local. Cannot reason across files or generate fixes.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Semgrep canonical recall on our JS/TS corpus:  12.68 %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Strong privacy · poor coverage · no repair.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49240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728655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Either choice forces a trade-off — privacy or capability, never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No Tool Combines All Three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4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357621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3576218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0604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06040"/>
            <a:ext cx="2670962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B1428"/>
                </a:solidFill>
                <a:latin typeface="Calibri"/>
              </a:rPr>
              <a:t>Local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93008"/>
            <a:ext cx="3173882" cy="10332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Code never leaves the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developer's machine.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Verifiable network boundary.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2423160"/>
            <a:ext cx="357621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7738" y="2423160"/>
            <a:ext cx="3576218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8906" y="260604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1826" y="2606040"/>
            <a:ext cx="2670962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B1428"/>
                </a:solidFill>
                <a:latin typeface="Calibri"/>
              </a:rPr>
              <a:t>Retrieval-Augmented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906" y="3493008"/>
            <a:ext cx="3173882" cy="10332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Grounded in CWE / OWASP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knowledge.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Not just pattern matching.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2423160"/>
            <a:ext cx="357621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8276" y="2423160"/>
            <a:ext cx="3576218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9444" y="260604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2364" y="2606040"/>
            <a:ext cx="2670962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B1428"/>
                </a:solidFill>
                <a:latin typeface="Calibri"/>
              </a:rPr>
              <a:t>Developer-Controlled Repair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9444" y="3493008"/>
            <a:ext cx="3173882" cy="10332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Structured fix returned.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Developer applies via Quick Fix.</a:t>
            </a:r>
          </a:p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No silent rewrites.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10728655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This thesis builds and evaluates a tool that delivers all three.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Research Questions and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5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437375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825118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CA311"/>
                </a:solidFill>
                <a:latin typeface="Calibri"/>
              </a:rPr>
              <a:t>RESEARCH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77440"/>
            <a:ext cx="3139318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Can a local LLM on consumer hardware reach acceptable detection quality under a strict privacy envelope?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46120"/>
            <a:ext cx="3139318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Does grounding the LLM in retrieved CWE / OWASP knowledge (RAG) improve detection?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14800"/>
            <a:ext cx="3139318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Is in-IDE latency acceptable for developer workflows?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5278" y="1783080"/>
            <a:ext cx="662921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9598" y="1920240"/>
            <a:ext cx="608057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CA311"/>
                </a:solidFill>
                <a:latin typeface="Calibri"/>
              </a:rPr>
              <a:t>FIVE 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9598" y="2377440"/>
            <a:ext cx="2903128" cy="6858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6758" y="2432304"/>
            <a:ext cx="4572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5398" y="243230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5398" y="270662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precision, recall, F1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57046" y="2377440"/>
            <a:ext cx="2903128" cy="6858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94206" y="2432304"/>
            <a:ext cx="4572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2846" y="243230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2846" y="270662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JSON parse, inter-run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79598" y="3154680"/>
            <a:ext cx="2903128" cy="6858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16758" y="3209544"/>
            <a:ext cx="4572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5398" y="320954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Repair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5398" y="348386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manual + auto-applicable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57046" y="3154680"/>
            <a:ext cx="2903128" cy="6858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4206" y="3209544"/>
            <a:ext cx="4572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2846" y="320954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Usability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2846" y="348386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latency, IDE 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79598" y="3931920"/>
            <a:ext cx="2903128" cy="6858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16758" y="3986784"/>
            <a:ext cx="4572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5398" y="398678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Privacy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5398" y="4261104"/>
            <a:ext cx="212588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zero exfiltration, signed corpus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12080"/>
            <a:ext cx="11277295" cy="502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212080"/>
            <a:ext cx="1072865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R1–R5 use fixed four-level threshold scales set in Chapter 2 — before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Three Existing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6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3606698" cy="502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3606698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CLOUD LLM ASSISTANTS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GitHub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Microsoft · 2021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ChatGPT / GPT-4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OpenAI · 2022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0507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Cursor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7939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Anysphere · 2023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3659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1091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Anthropic · 2024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2498" y="1783080"/>
            <a:ext cx="3606698" cy="502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2498" y="1783080"/>
            <a:ext cx="3606698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LOCAL SAST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2498" y="246888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5378" y="254203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Semgrep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5378" y="281635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Rule-based · OSS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2498" y="320040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5378" y="327355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CodeQL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5378" y="354787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GitHub · taint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2498" y="393192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5378" y="400507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ESLint security plugins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5378" y="427939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Lint-level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2498" y="466344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5378" y="473659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Bandit / SpotBugs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5378" y="501091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Other languages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7796" y="1783080"/>
            <a:ext cx="3606698" cy="502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7796" y="1783080"/>
            <a:ext cx="3606698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ACADEMIC LLM-FOR-SEC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7796" y="246888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0676" y="254203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IRIS + GPT-4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0676" y="281635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Li et al. · ICLR 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27796" y="320040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0676" y="327355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SecRepair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0676" y="354787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Islam et al. · NDSS 2024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7796" y="393192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0676" y="400507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LLMSecGuard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0676" y="427939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Kavian et al. · EASE 2024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7796" y="4663440"/>
            <a:ext cx="360669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0676" y="473659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RESCUE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0676" y="5010912"/>
            <a:ext cx="324093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Shi &amp; Zhang ·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No Tool Satisfies R1 + R3 + R5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7 /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10312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10312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Solution /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783080"/>
            <a:ext cx="127097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783080"/>
            <a:ext cx="127097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R1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1290" y="1783080"/>
            <a:ext cx="127097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290" y="1783080"/>
            <a:ext cx="127097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R2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CONSISTENCY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260" y="1783080"/>
            <a:ext cx="127097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260" y="1783080"/>
            <a:ext cx="127097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R3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3230" y="1783080"/>
            <a:ext cx="127097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230" y="1783080"/>
            <a:ext cx="127097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R4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44201" y="1783080"/>
            <a:ext cx="127097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201" y="1783080"/>
            <a:ext cx="127097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R5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PRIVACY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68880"/>
            <a:ext cx="210312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468880"/>
            <a:ext cx="192024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0B1428"/>
                </a:solidFill>
                <a:latin typeface="Calibri"/>
              </a:rPr>
              <a:t>GitHub Copilot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468880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468880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1290" y="2468880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31290" y="2468880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02260" y="2468880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260" y="2468880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230" y="2468880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230" y="2468880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44201" y="2468880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4201" y="2468880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36976"/>
            <a:ext cx="21031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236976"/>
            <a:ext cx="192024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0B1428"/>
                </a:solidFill>
                <a:latin typeface="Calibri"/>
              </a:rPr>
              <a:t>Semgrep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236976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3236976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31290" y="3236976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31290" y="3236976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02260" y="3236976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260" y="3236976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3230" y="3236976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230" y="3236976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44201" y="3236976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44201" y="3236976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05072"/>
            <a:ext cx="210312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005072"/>
            <a:ext cx="192024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0B1428"/>
                </a:solidFill>
                <a:latin typeface="Calibri"/>
              </a:rPr>
              <a:t>CodeQL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4005072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4005072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31290" y="4005072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31290" y="4005072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02260" y="4005072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02260" y="4005072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230" y="4005072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230" y="4005072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44201" y="4005072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44201" y="4005072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773168"/>
            <a:ext cx="21031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773168"/>
            <a:ext cx="192024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0B1428"/>
                </a:solidFill>
                <a:latin typeface="Calibri"/>
              </a:rPr>
              <a:t>IRIS (GPT-4)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4773168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0" y="4773168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31290" y="4773168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31290" y="4773168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02260" y="4773168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02260" y="4773168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230" y="4773168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73230" y="4773168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44201" y="4773168"/>
            <a:ext cx="127097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44201" y="4773168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541264"/>
            <a:ext cx="210312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5541264"/>
            <a:ext cx="192024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0B1428"/>
                </a:solidFill>
                <a:latin typeface="Calibri"/>
              </a:rPr>
              <a:t>SecRepair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60320" y="5541264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60320" y="5541264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31290" y="5541264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31290" y="5541264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02260" y="5541264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02260" y="5541264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73230" y="5541264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73230" y="5541264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44201" y="5541264"/>
            <a:ext cx="1270970" cy="768096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44201" y="5541264"/>
            <a:ext cx="127097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89491" y="1783080"/>
            <a:ext cx="2545003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72371" y="192024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LEGEND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72371" y="2240280"/>
            <a:ext cx="2179243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✅  High / Satisfied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🟡  Partial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❌  Not satisfied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89491" y="3611880"/>
            <a:ext cx="2545003" cy="26974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18091" y="3840480"/>
            <a:ext cx="208780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THE GAP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091" y="4297680"/>
            <a:ext cx="2087803" cy="182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existing tool delivers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privacy + repair + IDE-grade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latency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One Pipeline, Four Developer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8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2647873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2647873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965960"/>
            <a:ext cx="174261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Real-time Diagnostics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87168"/>
            <a:ext cx="2245537" cy="1673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Inline squiggles per function as you save.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3673" y="1783080"/>
            <a:ext cx="2647873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3673" y="1783080"/>
            <a:ext cx="2647873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4841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7761" y="1965960"/>
            <a:ext cx="174261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On-demand File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841" y="2487168"/>
            <a:ext cx="2245537" cy="1673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Right-click → scan the current 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7" y="1783080"/>
            <a:ext cx="2647873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0147" y="1783080"/>
            <a:ext cx="2647873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1315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4235" y="1965960"/>
            <a:ext cx="174261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Interactive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5" y="2487168"/>
            <a:ext cx="2245537" cy="1673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Ask about a finding in a side panel.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6621" y="1783080"/>
            <a:ext cx="2647873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6621" y="1783080"/>
            <a:ext cx="2647873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7789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🗂️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0709" y="1965960"/>
            <a:ext cx="174261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Workspace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7789" y="2487168"/>
            <a:ext cx="2245537" cy="1673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Batch scan the whole project.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17720"/>
            <a:ext cx="11277295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27448"/>
            <a:ext cx="10728655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ALL FOUR WORKFLOWS HIT THE SAME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120640"/>
            <a:ext cx="1926275" cy="777240"/>
          </a:xfrm>
          <a:prstGeom prst="roundRect">
            <a:avLst>
              <a:gd name="adj" fmla="val 6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20640"/>
            <a:ext cx="1926275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4213D"/>
                </a:solidFill>
                <a:latin typeface="Calibri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7523" y="5120640"/>
            <a:ext cx="192024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CA311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7835" y="5120640"/>
            <a:ext cx="1926275" cy="77724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7835" y="5120640"/>
            <a:ext cx="1926275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1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Detection (LLM + RAG)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2398" y="5120640"/>
            <a:ext cx="192024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CA311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32710" y="5120640"/>
            <a:ext cx="1926275" cy="777240"/>
          </a:xfrm>
          <a:prstGeom prst="roundRect">
            <a:avLst>
              <a:gd name="adj" fmla="val 6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2710" y="5120640"/>
            <a:ext cx="1926275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4213D"/>
                </a:solidFill>
                <a:latin typeface="Calibri"/>
              </a:rPr>
              <a:t>Consensus</a:t>
            </a:r>
          </a:p>
          <a:p>
            <a:pPr algn="ctr"/>
            <a:r>
              <a:rPr sz="1100" b="1" i="0">
                <a:solidFill>
                  <a:srgbClr val="14213D"/>
                </a:solidFill>
                <a:latin typeface="Calibri"/>
              </a:rPr>
              <a:t>filter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77273" y="5120640"/>
            <a:ext cx="192024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CA311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87585" y="5120640"/>
            <a:ext cx="1926275" cy="77724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87585" y="5120640"/>
            <a:ext cx="1926275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2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Repair (LLM)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2148" y="5120640"/>
            <a:ext cx="192024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CA311"/>
                </a:solidFill>
                <a:latin typeface="Calibr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42460" y="5120640"/>
            <a:ext cx="1926275" cy="777240"/>
          </a:xfrm>
          <a:prstGeom prst="roundRect">
            <a:avLst>
              <a:gd name="adj" fmla="val 6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42460" y="5120640"/>
            <a:ext cx="1926275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4213D"/>
                </a:solidFill>
                <a:latin typeface="Calibri"/>
              </a:rPr>
              <a:t>QUICK</a:t>
            </a:r>
          </a:p>
          <a:p>
            <a:pPr algn="ctr"/>
            <a:r>
              <a:rPr sz="1100" b="1" i="0">
                <a:solidFill>
                  <a:srgbClr val="14213D"/>
                </a:solidFill>
                <a:latin typeface="Calibri"/>
              </a:rPr>
              <a:t>FIX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Two-Stage Local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9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5364327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36432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377440"/>
            <a:ext cx="445907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0B1428"/>
                </a:solidFill>
                <a:latin typeface="Calibri"/>
              </a:rPr>
              <a:t>Stage 1 —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98648"/>
            <a:ext cx="4961991" cy="18105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JSON-mode LLM call  ·  schema-pinned output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Optional RAG context  ·  top-k CWE / OWASP snippets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Three deterministic runs  ·  seed = 42, temperature = 0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Inter-run confidence gate  ·  ≥ 2-of-3 agreement (0.67)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Returns:  category, severity, line range,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0167" y="2194560"/>
            <a:ext cx="5364327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0167" y="2194560"/>
            <a:ext cx="5364327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1335" y="237744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4255" y="2377440"/>
            <a:ext cx="445907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0B1428"/>
                </a:solidFill>
                <a:latin typeface="Calibri"/>
              </a:rPr>
              <a:t>Stage 2 — 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1335" y="2898648"/>
            <a:ext cx="4961991" cy="18105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Separate structured call  ·  invoked only when detected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Returns  { code, language }  ·  18 explicit abstentions allowed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Validator parses output with @babel/parser  ·  rejects prose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Surfaced as a VS Code Quick Fix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F36"/>
                </a:solidFill>
                <a:latin typeface="Calibri"/>
              </a:rPr>
              <a:t>• Developer applies the patch  ·  no silent rewrites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1527" y="2194560"/>
            <a:ext cx="548640" cy="2697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1" i="0">
                <a:solidFill>
                  <a:srgbClr val="FCA311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57800"/>
            <a:ext cx="11277295" cy="77724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10728655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Privacy by construction  ·  Ollama bound to loopback  ·  embeddings local  ·  no telemetry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Live in VS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10 / 26</a:t>
            </a:r>
          </a:p>
        </p:txBody>
      </p:sp>
      <p:pic>
        <p:nvPicPr>
          <p:cNvPr id="10" name="Picture 9" descr="screenshot_vs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8184629" cy="4160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016751"/>
            <a:ext cx="818462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5B657A"/>
                </a:solidFill>
                <a:latin typeface="Calibri"/>
              </a:rPr>
              <a:t>Editor with flagged findings (path traversal · command injection · hardcoded secret) and the Code Security Analysis panel.</a:t>
            </a:r>
          </a:p>
        </p:txBody>
      </p:sp>
      <p:pic>
        <p:nvPicPr>
          <p:cNvPr id="12" name="Picture 11" descr="q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78308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695" y="3703320"/>
            <a:ext cx="1828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4213D"/>
                </a:solidFill>
                <a:latin typeface="Calibri"/>
              </a:rPr>
              <a:t>SCAN  ·  Install from VS Code Marketplace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11 / 26</a:t>
            </a:r>
          </a:p>
        </p:txBody>
      </p:sp>
      <p:pic>
        <p:nvPicPr>
          <p:cNvPr id="10" name="Picture 9" descr="diagram_1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1127729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Privacy by Construction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12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524347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24347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96596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Loopback-only Ollama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87168"/>
            <a:ext cx="5122011" cy="8275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Bound to 127.0.0.1. Network isolation arm of the threat model — empirically verified.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83080"/>
            <a:ext cx="5524347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1783080"/>
            <a:ext cx="5524347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1315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4235" y="196596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Signed RAG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1315" y="2487168"/>
            <a:ext cx="5122011" cy="8275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Ed25519 manifest verified at load. Provenance arm of the threat model — corpus cannot be silently rewritten.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26180"/>
            <a:ext cx="5524347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26180"/>
            <a:ext cx="5524347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090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90906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Pinned 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30268"/>
            <a:ext cx="5122011" cy="8275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Node 20.19.0-alpine · npm ci · seed = 42 · byte-identical runs.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147" y="3726180"/>
            <a:ext cx="5524347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147" y="3726180"/>
            <a:ext cx="5524347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1315" y="39090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4235" y="390906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Prompt-Injection Harness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1315" y="4430268"/>
            <a:ext cx="5122011" cy="8275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12 cases of crafted prompts attempting exfiltration. leakFreeRate = 100 %.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Evaluation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13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3606698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3606698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965960"/>
            <a:ext cx="2701442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87168"/>
            <a:ext cx="3204362" cy="30449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Curated JS / TS  ·  101 cases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(71 vulnerable + 30 secure)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14 CWE categories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External:  15 cases from NodeGoat,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Juice Shop, 3 named CVEs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Whole-project scan:  OWASP NodeGoat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2498" y="1783080"/>
            <a:ext cx="3606698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2498" y="1783080"/>
            <a:ext cx="3606698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3666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6586" y="1965960"/>
            <a:ext cx="2701442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Configurations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3666" y="2487168"/>
            <a:ext cx="3204362" cy="30449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5 Ollama models × {LLM-only, LLM+RAG}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= 10 configurations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+ 3 SAST baselines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(Semgrep, CodeQL, ESLint)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3 runs per sample  ·  deterministic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→  303 invocations per config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1783080"/>
            <a:ext cx="3606698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7796" y="1783080"/>
            <a:ext cx="3606698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8964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1884" y="1965960"/>
            <a:ext cx="2701442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Statistical 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8964" y="2487168"/>
            <a:ext cx="3204362" cy="30449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Held-out 71 / 30 test split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(threshold tuning off the test set)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McNemar with Bonferroni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across paired model comparisons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Exact-binomial CIs for small-n rates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Headline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14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501487" cy="18973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47672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R1 —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044287" cy="4800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71.43 %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20340"/>
            <a:ext cx="5044287" cy="77724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F1  ·  qwen3:8b + RAG</a:t>
            </a:r>
          </a:p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precision 72.46 %  ·  recall 70.42 %</a:t>
            </a:r>
          </a:p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Gated ≥0.67  →  74.07 % F1, 78.13 %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83080"/>
            <a:ext cx="5501487" cy="18973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947672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R3 — 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331720"/>
            <a:ext cx="5044287" cy="4800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90.32 %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720340"/>
            <a:ext cx="5044287" cy="77724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Auto-applicable rate (n = 279)</a:t>
            </a:r>
          </a:p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Manual: 89.5 % semantic · 68 % combined (n = 25)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4780"/>
            <a:ext cx="5501487" cy="18973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9372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R4 —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03420"/>
            <a:ext cx="5044287" cy="4800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2.2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5044287" cy="77724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Median stage-1  ·  p95 = 4.3 s</a:t>
            </a:r>
          </a:p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Comfortably inside on-demand band (≤ 5 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954780"/>
            <a:ext cx="5501487" cy="18973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4119372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CA311"/>
                </a:solidFill>
                <a:latin typeface="Calibri"/>
              </a:rPr>
              <a:t>R5 —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4503420"/>
            <a:ext cx="5044287" cy="4800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4892040"/>
            <a:ext cx="5044287" cy="77724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leakFreeRate · 12-case prompt-injection harness</a:t>
            </a:r>
          </a:p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schemaValidRate 83 % (10/12) · zero non-loopback traffic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1277295" cy="4114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961888"/>
            <a:ext cx="10728655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R2 — CONSISTENCY:  100 % JSON-parse success, 3,030 invocations (inter-run agreement is deterministic by seed).   R1 / R3 / R4 / R5 detailed on the next four slides.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R1 — Detection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15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02975" y="228600"/>
            <a:ext cx="6400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2975" y="228600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11277295" cy="12801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1072865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CA311"/>
                </a:solidFill>
                <a:latin typeface="Calibri"/>
              </a:rPr>
              <a:t>qwen3:8b + RAG  ·  canonical taxonomy  ·  full 101-case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272788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71.43 %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72788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963" y="2286000"/>
            <a:ext cx="272788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72.46 %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7963" y="2743200"/>
            <a:ext cx="272788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2286000"/>
            <a:ext cx="272788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70.42 %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2743200"/>
            <a:ext cx="272788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731" y="2286000"/>
            <a:ext cx="272788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10.0 %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731" y="2743200"/>
            <a:ext cx="272788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FPR</a:t>
            </a:r>
          </a:p>
        </p:txBody>
      </p:sp>
      <p:pic>
        <p:nvPicPr>
          <p:cNvPr id="21" name="Picture 20" descr="chart_15_f1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46120"/>
            <a:ext cx="6991922" cy="31089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632002" y="3246120"/>
            <a:ext cx="410249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2002" y="3246120"/>
            <a:ext cx="4102492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3170" y="342900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311"/>
                </a:solidFill>
                <a:latin typeface="Calibri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090" y="3429000"/>
            <a:ext cx="319723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Refinements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3170" y="3950208"/>
            <a:ext cx="3700156" cy="22219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With confidence gate ≥ 0.67: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F1 = 74.07 %  ·  precision = 78.13 %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Held-out 71 / 30 test split: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F1 = 61.11 %  ·  FPR = 0 %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Beats every SAST baseline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on recall-driven F1.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RAG Is Not a Uniform 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16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228600"/>
            <a:ext cx="164592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97135" y="228600"/>
            <a:ext cx="16459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R1  ·  RQ2</a:t>
            </a:r>
          </a:p>
        </p:txBody>
      </p:sp>
      <p:pic>
        <p:nvPicPr>
          <p:cNvPr id="11" name="Picture 10" descr="chart_16_ra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91922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32002" y="1783080"/>
            <a:ext cx="4102492" cy="44805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4882" y="1920240"/>
            <a:ext cx="373673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CA311"/>
                </a:solidFill>
                <a:latin typeface="Calibri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4882" y="2286000"/>
            <a:ext cx="3736732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RAG can help, harm,</a:t>
            </a:r>
          </a:p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or do nothing —</a:t>
            </a:r>
          </a:p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depending on the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4882" y="4434840"/>
            <a:ext cx="3736732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8DEEE"/>
                </a:solidFill>
                <a:latin typeface="Calibri"/>
              </a:rPr>
              <a:t>Only codellama's −29.89 F1 survives Bonferroni at α = 0.01</a:t>
            </a:r>
          </a:p>
          <a:p>
            <a:pPr algn="l"/>
            <a:r>
              <a:rPr sz="1100" b="0" i="0">
                <a:solidFill>
                  <a:srgbClr val="D8DEEE"/>
                </a:solidFill>
                <a:latin typeface="Calibri"/>
              </a:rPr>
              <a:t>(McNemar p = 0.0013).</a:t>
            </a:r>
          </a:p>
          <a:p>
            <a:pPr algn="l"/>
            <a:r>
              <a:rPr sz="1100" b="0" i="0">
                <a:solidFill>
                  <a:srgbClr val="D8DEEE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D8DEEE"/>
                </a:solidFill>
                <a:latin typeface="Calibri"/>
              </a:rPr>
              <a:t>Design implication:  treat RAG as a per-model configuration choice, not a default.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R3 — Repair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17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02975" y="228600"/>
            <a:ext cx="6400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2975" y="228600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5501487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1487" cy="7315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47672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⚙️  AUTO-APPLICABLE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Validator parses with @babel/parser  ·  fully automated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428"/>
                </a:solidFill>
                <a:latin typeface="Calibri"/>
              </a:rPr>
              <a:t>On issued fixes  (252 / 279)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35808"/>
            <a:ext cx="5044287" cy="50292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035808"/>
            <a:ext cx="4556000" cy="50292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035808"/>
            <a:ext cx="4226816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90.32 %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428"/>
                </a:solidFill>
                <a:latin typeface="Calibri"/>
              </a:rPr>
              <a:t>Across all stage-2 calls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87368"/>
            <a:ext cx="5044287" cy="50292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087368"/>
            <a:ext cx="4280077" cy="502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087368"/>
            <a:ext cx="3950893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84.85 %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1783080"/>
            <a:ext cx="5501487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007" y="1783080"/>
            <a:ext cx="550148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1947672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👤  MANUAL REVIEW  ·  n =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228600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57A"/>
                </a:solidFill>
                <a:latin typeface="Calibri"/>
              </a:rPr>
              <a:t>Rubric-based review on a sampled subset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7" y="2743200"/>
            <a:ext cx="5044287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1428"/>
                </a:solidFill>
                <a:latin typeface="Calibri"/>
              </a:rPr>
              <a:t>Fix provided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1607" y="2962656"/>
            <a:ext cx="5044287" cy="301752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61607" y="2962656"/>
            <a:ext cx="3833658" cy="301752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6199" y="2962656"/>
            <a:ext cx="3504474" cy="3017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76 %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1607" y="3291840"/>
            <a:ext cx="5044287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1428"/>
                </a:solidFill>
                <a:latin typeface="Calibri"/>
              </a:rPr>
              <a:t>Semantically correct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1607" y="3511296"/>
            <a:ext cx="5044287" cy="301752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61607" y="3511296"/>
            <a:ext cx="4514637" cy="301752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6199" y="3511296"/>
            <a:ext cx="4185453" cy="3017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89.5 %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607" y="3840480"/>
            <a:ext cx="5044287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1428"/>
                </a:solidFill>
                <a:latin typeface="Calibri"/>
              </a:rPr>
              <a:t>Strategy-aligned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61607" y="4059936"/>
            <a:ext cx="5044287" cy="301752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61607" y="4059936"/>
            <a:ext cx="4776940" cy="301752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6199" y="4059936"/>
            <a:ext cx="4447756" cy="3017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94.7 %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1607" y="4389120"/>
            <a:ext cx="5044287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1428"/>
                </a:solidFill>
                <a:latin typeface="Calibri"/>
              </a:rPr>
              <a:t>Executable 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61607" y="4608576"/>
            <a:ext cx="5044287" cy="301752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61607" y="4608576"/>
            <a:ext cx="2123645" cy="301752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6199" y="4608576"/>
            <a:ext cx="1794461" cy="3017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42.1 %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257800"/>
            <a:ext cx="11277295" cy="594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312664"/>
            <a:ext cx="10728655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TWO-TIER METRIC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513832"/>
            <a:ext cx="1072865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Auto-applicable = deployment reading.  Manual = decision-support reading.  Combined = 76 % fix-rate × 89.5 % semantic ≈ 68 %.  Stage 2 returns { code, language } + 18 abstentions.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R4 — Usability: Latency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18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02975" y="228600"/>
            <a:ext cx="6400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2975" y="228600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pic>
        <p:nvPicPr>
          <p:cNvPr id="11" name="Picture 10" descr="chart_18_latency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91922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32002" y="1783080"/>
            <a:ext cx="4102492" cy="131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2002" y="1783080"/>
            <a:ext cx="91440" cy="1310640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4882" y="1874520"/>
            <a:ext cx="382817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⚡  Real-time  ≤ 500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4882" y="2194560"/>
            <a:ext cx="3828172" cy="853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SAST baselines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2002" y="3276600"/>
            <a:ext cx="4102492" cy="131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2002" y="3276600"/>
            <a:ext cx="91440" cy="131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4882" y="3368040"/>
            <a:ext cx="382817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🖱️  Interactive  ≤ 1.5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4882" y="3688080"/>
            <a:ext cx="3828172" cy="853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gemma3:1b + RAG  (1,019 ms)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qwen3:4b  (1,328 ms)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2002" y="4770120"/>
            <a:ext cx="4102492" cy="131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2002" y="4770120"/>
            <a:ext cx="91440" cy="1310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4882" y="4861560"/>
            <a:ext cx="382817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🧠  On-demand  ≤ 5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4882" y="5181600"/>
            <a:ext cx="3828172" cy="853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qwen3:8b + RAG  (2,216 ms)  ←  headline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p95 = 4,327 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R5 — Privacy: Empirically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19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02975" y="228600"/>
            <a:ext cx="6400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2975" y="228600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5501487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1487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457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Calibri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84248"/>
            <a:ext cx="454136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Network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441448"/>
            <a:ext cx="5090007" cy="6675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Egress harness + tcpdump on the locked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config: zero non-loopback connections.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5468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15468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54680"/>
            <a:ext cx="4760823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100 %  satisfied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501487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1783080"/>
            <a:ext cx="5501487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4175" y="1965960"/>
            <a:ext cx="457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Calibri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247" y="1984248"/>
            <a:ext cx="454136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Prompt-Injection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4175" y="2441448"/>
            <a:ext cx="5090007" cy="6675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12 crafted exfiltration attempts: no code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echoed · schemaValidRate 83 % (10/12).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4175" y="315468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4175" y="315468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8767" y="3154680"/>
            <a:ext cx="4760823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100 %  leakFreeRate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5501487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5501487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114800"/>
            <a:ext cx="457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Calibri"/>
              </a:rPr>
              <a:t>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133088"/>
            <a:ext cx="454136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Ed25519-Signed Corpus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590288"/>
            <a:ext cx="5090007" cy="6675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RAG corpus provenance verified at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load — manifest signature checked.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30352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530352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03520"/>
            <a:ext cx="4760823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Verified  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3931920"/>
            <a:ext cx="5501487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3007" y="3931920"/>
            <a:ext cx="5501487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4175" y="4114800"/>
            <a:ext cx="457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Calibri"/>
              </a:rPr>
              <a:t>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0247" y="4133088"/>
            <a:ext cx="454136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428"/>
                </a:solidFill>
                <a:latin typeface="Calibri"/>
              </a:rPr>
              <a:t>Reproducible 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4175" y="4590288"/>
            <a:ext cx="5090007" cy="6675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Node 20.19.0-alpine · npm ci · seed = 42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byte-identical runs.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4175" y="530352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34175" y="5303520"/>
            <a:ext cx="5090007" cy="384048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8767" y="5303520"/>
            <a:ext cx="4760823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Reproducible  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52160"/>
            <a:ext cx="11277295" cy="5029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852160"/>
            <a:ext cx="1072865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Resource footprint:  harness 3 ms median CPU, 87 MB RSS  ·  Ollama 6–8 GB RAM for 8B-q4.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What We Learned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20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524347" cy="1851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96596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A local 8B model is enough  ·  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87168"/>
            <a:ext cx="5122011" cy="9646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qwen3:8b + RAG reaches ~71 % F1 on JS/TS — well inside the on-demand latency band on a developer laptop. The privacy envelope holds without paying for it in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83080"/>
            <a:ext cx="5524347" cy="1851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178308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1315" y="196596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4235" y="196596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RAG is model-dependent  ·  RQ2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1315" y="2487168"/>
            <a:ext cx="5122011" cy="9646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The largest paired effect in the dataset is a RAG-induced degradation (codellama −29.89 F1). Treat retrieval as a per-model design choice, not a default.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63340"/>
            <a:ext cx="5524347" cy="1851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6334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4622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404622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Repair is the real product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67428"/>
            <a:ext cx="5122011" cy="9646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90 % auto-applicable means the developer can act, not just be warned. This is where SAST falls flat — they detect, they don't fix.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147" y="3863340"/>
            <a:ext cx="5524347" cy="1851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147" y="386334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1315" y="4046220"/>
            <a:ext cx="548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213D"/>
                </a:solidFill>
                <a:latin typeface="Calibri"/>
              </a:rP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4235" y="4046220"/>
            <a:ext cx="4619091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B1428"/>
                </a:solidFill>
                <a:latin typeface="Calibri"/>
              </a:rPr>
              <a:t>Privacy as a verifiable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1315" y="4567428"/>
            <a:ext cx="5122011" cy="9646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Loopback + signed corpus + container pin makes privacy testable, not aspirational. leakFreeRate = 100 % isn't a slogan — it's a measurement.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24728"/>
            <a:ext cx="11277295" cy="4572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61304"/>
            <a:ext cx="10728655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RQ1  yes — 71.43 % F1 under the privacy envelope     ·     RQ2  yes, but per-model — RAG is not a default     ·     RQ3  yes — 2.2 s median, inside the on-demand band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Code Guardian Closes the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21 /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103120" cy="594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10312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Solution /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783080"/>
            <a:ext cx="1270970" cy="594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783080"/>
            <a:ext cx="127097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R1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1290" y="1783080"/>
            <a:ext cx="1270970" cy="594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290" y="1783080"/>
            <a:ext cx="127097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R2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CONSISTENCY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260" y="1783080"/>
            <a:ext cx="1270970" cy="594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260" y="1783080"/>
            <a:ext cx="127097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R3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REPAIR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3230" y="1783080"/>
            <a:ext cx="1270970" cy="594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230" y="1783080"/>
            <a:ext cx="127097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R4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44201" y="1783080"/>
            <a:ext cx="1270970" cy="594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201" y="1783080"/>
            <a:ext cx="127097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R5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PRIVACY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77440"/>
            <a:ext cx="210312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377440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0B1428"/>
                </a:solidFill>
                <a:latin typeface="Calibri"/>
              </a:rPr>
              <a:t>GitHub Copilot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3774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377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1290" y="23774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31290" y="2377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02260" y="23774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260" y="2377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230" y="23774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230" y="2377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44201" y="23774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4201" y="2377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83464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2834640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0B1428"/>
                </a:solidFill>
                <a:latin typeface="Calibri"/>
              </a:rPr>
              <a:t>Semgrep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28346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28346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31290" y="28346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31290" y="28346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02260" y="28346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260" y="28346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3230" y="28346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230" y="28346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44201" y="28346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44201" y="28346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291840"/>
            <a:ext cx="210312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291840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0B1428"/>
                </a:solidFill>
                <a:latin typeface="Calibri"/>
              </a:rPr>
              <a:t>CodeQL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2918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32918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31290" y="32918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31290" y="32918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02260" y="32918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02260" y="32918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230" y="32918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230" y="32918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44201" y="32918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44201" y="32918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374904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3749040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0B1428"/>
                </a:solidFill>
                <a:latin typeface="Calibri"/>
              </a:rPr>
              <a:t>IRIS (GPT-4)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37490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0" y="37490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31290" y="37490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31290" y="37490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02260" y="37490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02260" y="37490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230" y="37490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73230" y="37490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44201" y="3749040"/>
            <a:ext cx="127097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44201" y="37490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206240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0B1428"/>
                </a:solidFill>
                <a:latin typeface="Calibri"/>
              </a:rPr>
              <a:t>SecRepair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60320" y="42062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60320" y="42062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31290" y="42062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31290" y="42062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02260" y="42062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02260" y="42062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73230" y="42062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73230" y="42062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44201" y="4206240"/>
            <a:ext cx="1270970" cy="457200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44201" y="42062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663440"/>
            <a:ext cx="2103120" cy="4572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4663440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0B1428"/>
                </a:solidFill>
                <a:latin typeface="Calibri"/>
              </a:rPr>
              <a:t>Code Guardian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0" y="4663440"/>
            <a:ext cx="1270970" cy="4572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4663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🟡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31290" y="4663440"/>
            <a:ext cx="1270970" cy="4572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31290" y="4663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02260" y="4663440"/>
            <a:ext cx="1270970" cy="4572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02260" y="4663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73230" y="4663440"/>
            <a:ext cx="1270970" cy="4572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73230" y="4663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644201" y="4663440"/>
            <a:ext cx="1270970" cy="4572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44201" y="4663440"/>
            <a:ext cx="127097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 i="0">
                <a:solidFill>
                  <a:srgbClr val="0B1428"/>
                </a:solidFill>
                <a:latin typeface="Calibri"/>
              </a:rPr>
              <a:t>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5193792"/>
            <a:ext cx="8457971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5B657A"/>
                </a:solidFill>
                <a:latin typeface="Calibri"/>
              </a:rPr>
              <a:t>✅ = meets the pre-registered threshold.   R1 shown 🟡: F1 71 % lands in the Medium band — competitive, not High.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189491" y="1783080"/>
            <a:ext cx="2545003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26651" y="1874520"/>
            <a:ext cx="227068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LEGEND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26651" y="2148840"/>
            <a:ext cx="227068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✅  High / Satisfied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🟡  Partial</a:t>
            </a:r>
          </a:p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❌  Not satisfied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189491" y="3246120"/>
            <a:ext cx="2545003" cy="201168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72371" y="33832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GAP CLOSED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72371" y="3703320"/>
            <a:ext cx="2179243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only approach to bring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privacy + repair + IDE-grade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latency together in one local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tool — with competitive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detection accuracy.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22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91440" cy="804672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C9184A"/>
                </a:solidFill>
                <a:latin typeface="Calibri"/>
              </a:rP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56232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Single-reviewer manual review (n = 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194560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Inter-rater agreement on the 25-sample subset = future work.  Headline R3 metric is the fully objective auto-applicable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79192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79192"/>
            <a:ext cx="91440" cy="804672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70632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C9184A"/>
                </a:solidFill>
                <a:latin typeface="Calibr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52344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Curated 101-case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90672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Selection bias mitigated by held-out 71 / 30 split, 15-case external set (NodeGoat, Juice Shop, 3 CVEs), and whole-project NodeGoat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75304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75304"/>
            <a:ext cx="91440" cy="804672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C9184A"/>
                </a:solidFill>
                <a:latin typeface="Calibr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48456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One real-world project end-to-end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86784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NodeGoat  ·  multi-project validation is future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71416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71416"/>
            <a:ext cx="91440" cy="804672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62856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C9184A"/>
                </a:solidFill>
                <a:latin typeface="Calibri"/>
              </a:rPr>
              <a:t>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Consensus filter inert under deterministic decoding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882896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Three runs are byte-identical with seed = 42.  Needs seed rotation to produce a real consistency signal.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67528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67528"/>
            <a:ext cx="91440" cy="804672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58968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C9184A"/>
                </a:solidFill>
                <a:latin typeface="Calibri"/>
              </a:rPr>
              <a:t>☁️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440680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No cloud-LLM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779008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Excluded by the privacy threat model  ·  floor provided by 3 SAST baselines.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23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91440" cy="80467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FCA311"/>
                </a:solidFill>
                <a:latin typeface="Calibri"/>
              </a:rPr>
              <a:t>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56232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Seed rotation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194560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Genuine consensus signal beyond the deterministic-decoding floor.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79192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79192"/>
            <a:ext cx="91440" cy="80467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70632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FCA311"/>
                </a:solidFill>
                <a:latin typeface="Calibr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52344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Inter-rater agreement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90672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Second reviewer on the 25-sample subset for κ statistic.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75304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75304"/>
            <a:ext cx="91440" cy="80467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FCA311"/>
                </a:solidFill>
                <a:latin typeface="Calibri"/>
              </a:rPr>
              <a:t>🏗️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48456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Multi-project real-world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86784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Beyond NodeGoat  ·  measured recall on diverse production codebases.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71416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71416"/>
            <a:ext cx="91440" cy="80467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62856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FCA311"/>
                </a:solidFill>
                <a:latin typeface="Calibri"/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Streaming partial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882896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Break the real-time band by surfacing first-token findings.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67528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67528"/>
            <a:ext cx="91440" cy="804672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58968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FCA311"/>
                </a:solidFill>
                <a:latin typeface="Calibri"/>
              </a:rPr>
              <a:t>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440680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Adaptive RAG gating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779008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Per-model RAG enable/disable driven by slide 16's finding.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Contributions of This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24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91440" cy="8046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2E8B57"/>
                </a:solidFill>
                <a:latin typeface="Calibri"/>
              </a:rPr>
              <a:t>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56232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Working VS Code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194560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Local LLM + RAG + signed corpus + pinned container — published to the Marketplace.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79192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79192"/>
            <a:ext cx="91440" cy="8046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70632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2E8B57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52344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Two-stage pipeline with structured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90672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Detection (JSON-mode) + Repair ({ code, language }) — schema-pinned at every boundary.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75304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75304"/>
            <a:ext cx="91440" cy="8046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2E8B57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48456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Empirical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86784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5 models × 2 modes + 3 SAST baselines · 303 invocations per config · CWE-mapped JS/TS corpus.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71416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71416"/>
            <a:ext cx="91440" cy="8046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62856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2E8B57"/>
                </a:solidFill>
                <a:latin typeface="Calibri"/>
              </a:rPr>
              <a:t>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Reproducibility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882896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Byte-identical runs, Ed25519-signed manifest, pinned Node 20.19.0-alpine container.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67528"/>
            <a:ext cx="11277295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67528"/>
            <a:ext cx="91440" cy="8046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58968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2E8B57"/>
                </a:solidFill>
                <a:latin typeface="Calibri"/>
              </a:rPr>
              <a:t>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440680"/>
            <a:ext cx="4114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Statistical discipline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779008"/>
            <a:ext cx="10362895" cy="43891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Bonferroni-corrected McNemar, exact-binomial CIs, held-out 71 / 30 split.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2735" y="201168"/>
            <a:ext cx="2743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CODE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25 /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[1] Touvron, H., et al.: Llama 2: Open foundation and fine-tuned chat models. arXiv:2307.09288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[2] Lewis, P., et al.: Retrieval-augmented generation for knowledge-intensive NLP tasks. NeurIPS (2020)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[3] Li, Z., et al.: IRIS: Using LLMs for context-aware vulnerability detection. ICLR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[4] Islam, N., et al.: SecRepair: LLM-driven security vulnerability repair. NDSS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[5] Kavian, S., et al.: LLMSecGuard: Securing LLM-generated code. EASE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[6] Peng, B., et al.: CWEval: Outcome-driven evaluation of LLM code generation. ACL (2025)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78308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[7] Pearce, H., et al.: SecurityEval dataset: mining vulnerability examples. MSR4P&amp;S (2022)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28600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[8] MITRE: Common Weakness Enumeration (CWE)  ·  https://cwe.mitre.org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78892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[9] OWASP Foundation: OWASP Top 10  ·  https://owasp.org/Top10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29184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[10] Malfa, E.L., Petrov, A., et al.: A taxonomy of evaluation methods for LLMs. arXiv:2402.13887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79476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[11] Ollama: Local LLM serving  ·  https://ollama.com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297680"/>
            <a:ext cx="5455767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A1F36"/>
                </a:solidFill>
                <a:latin typeface="Calibri"/>
              </a:rPr>
              <a:t>[12] Microsoft: VS Code Extension API  ·  https://code.visualstudio.com/api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36576" cy="4572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315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94360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59436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0" i="0">
                <a:solidFill>
                  <a:srgbClr val="C8D0E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19456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0B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474720" cy="23774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0" b="1" i="0">
                <a:solidFill>
                  <a:srgbClr val="FCA311"/>
                </a:solidFill>
                <a:latin typeface="Calibri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937760"/>
            <a:ext cx="10637215" cy="777240"/>
          </a:xfrm>
          <a:prstGeom prst="roundRect">
            <a:avLst>
              <a:gd name="adj" fmla="val 6000"/>
            </a:avLst>
          </a:prstGeom>
          <a:solidFill>
            <a:srgbClr val="0B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62895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HEADLINE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628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F1 71.43 %   ·   repair 90.32 % auto-applicable   ·   latency 2.2 s median   ·   leakFreeRate 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Md Hafizur Rahman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45352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M.Sc. Web Engineering  ·  TU Chemnitz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989320"/>
            <a:ext cx="3200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FCA311"/>
                </a:solidFill>
                <a:latin typeface="Calibri"/>
              </a:rPr>
              <a:t>DEFENSE  ·  16.06.2026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A1  ·  Full Per-Model Results  ·  Canonical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5775" y="228600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228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103120" cy="3657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1031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783080"/>
            <a:ext cx="868680" cy="3657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783080"/>
            <a:ext cx="8686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783080"/>
            <a:ext cx="868680" cy="3657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783080"/>
            <a:ext cx="8686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83080"/>
            <a:ext cx="868680" cy="3657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83080"/>
            <a:ext cx="8686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1783080"/>
            <a:ext cx="868680" cy="3657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783080"/>
            <a:ext cx="8686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FPR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783080"/>
            <a:ext cx="1371600" cy="3657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783080"/>
            <a:ext cx="13716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Latency p50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783080"/>
            <a:ext cx="868680" cy="3657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783080"/>
            <a:ext cx="8686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2103120" cy="292608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14884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qwen3:8b + RAG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148840"/>
            <a:ext cx="868680" cy="292608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214884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428"/>
                </a:solidFill>
                <a:latin typeface="Calibri"/>
              </a:rPr>
              <a:t>71.43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2148840"/>
            <a:ext cx="868680" cy="292608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14884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428"/>
                </a:solidFill>
                <a:latin typeface="Calibri"/>
              </a:rPr>
              <a:t>72.46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148840"/>
            <a:ext cx="868680" cy="292608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214884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428"/>
                </a:solidFill>
                <a:latin typeface="Calibri"/>
              </a:rPr>
              <a:t>70.42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2148840"/>
            <a:ext cx="868680" cy="292608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214884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428"/>
                </a:solidFill>
                <a:latin typeface="Calibri"/>
              </a:rPr>
              <a:t>10.00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148840"/>
            <a:ext cx="1371600" cy="292608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2148840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428"/>
                </a:solidFill>
                <a:latin typeface="Calibri"/>
              </a:rPr>
              <a:t>2,216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148840"/>
            <a:ext cx="868680" cy="292608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214884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428"/>
                </a:solidFill>
                <a:latin typeface="Calibri"/>
              </a:rPr>
              <a:t>~6 GB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441448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44144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qwen3:8b (no RAG)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244144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244144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67.52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244144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244144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61.63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44144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244144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74.65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66360" y="244144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66360" y="244144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50.00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441448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244144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1,534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244144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244144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~6 GB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734056"/>
            <a:ext cx="210312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273405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qwen3:4b + RAG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273405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0" y="273405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60.92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29000" y="273405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273405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51.46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273405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0" y="273405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74.65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66360" y="273405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66360" y="273405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100.00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2734056"/>
            <a:ext cx="137160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2734056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1,328 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273405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273405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~4 GB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026664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302666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qwen3:4b (no RAG)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3026664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0" y="302666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66.14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3026664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29000" y="302666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56.95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026664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80" y="302666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78.87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66360" y="3026664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66360" y="302666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90.00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026664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35040" y="3026664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1,305 ms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06640" y="3026664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06640" y="302666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~4 GB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319272"/>
            <a:ext cx="210312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3319272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gemma3:4b + RAG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0" y="3319272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60320" y="331927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57.14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29000" y="3319272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29000" y="331927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46.85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7680" y="3319272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97680" y="331927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73.24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66360" y="3319272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66360" y="331927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100.00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35040" y="3319272"/>
            <a:ext cx="137160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0" y="3319272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2,077 ms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06640" y="3319272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06640" y="331927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~4 GB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3611880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361188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gemma3:4b (no RAG)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60320" y="3611880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60320" y="361188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57.30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29000" y="3611880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29000" y="361188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46.49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97680" y="3611880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97680" y="361188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74.65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166360" y="3611880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66360" y="361188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100.00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035040" y="361188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35040" y="3611880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2,550 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406640" y="3611880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06640" y="361188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~4 GB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7200" y="3904488"/>
            <a:ext cx="210312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390448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gemma3:1b + RAG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60320" y="3904488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560320" y="390448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36.02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429000" y="3904488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29000" y="390448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32.22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297680" y="3904488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297680" y="390448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40.85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166360" y="3904488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166360" y="390448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23.33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035040" y="3904488"/>
            <a:ext cx="137160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035040" y="390448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1,019 ms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406640" y="3904488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06640" y="390448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~2 GB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4197096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419709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gemma3:1b (no RAG)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560320" y="4197096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560320" y="419709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36.65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29000" y="4197096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429000" y="419709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29.17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97680" y="4197096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297680" y="419709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49.30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66360" y="4197096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66360" y="419709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53.33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35040" y="4197096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035040" y="4197096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1,215 ms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406640" y="4197096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406640" y="419709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~2 GB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7200" y="4489704"/>
            <a:ext cx="210312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7200" y="448970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codellama + RAG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560320" y="4489704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560320" y="448970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23.17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429000" y="4489704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29000" y="448970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14.79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297680" y="4489704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297680" y="448970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53.52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166360" y="4489704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166360" y="448970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100.00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035040" y="4489704"/>
            <a:ext cx="137160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035040" y="4489704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3,529 ms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406640" y="4489704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406640" y="4489704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~6 GB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4782312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57200" y="4782312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codellama (no RAG)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560320" y="4782312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560320" y="478231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53.06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429000" y="4782312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429000" y="478231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41.60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97680" y="4782312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297680" y="478231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73.24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166360" y="4782312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166360" y="478231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100.00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035040" y="4782312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035040" y="4782312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2,024 ms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406640" y="4782312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406640" y="4782312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~6 GB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5074920"/>
            <a:ext cx="210312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57200" y="507492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Semgrep (SAST)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560320" y="5074920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560320" y="507492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20.22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429000" y="5074920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429000" y="507492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50.00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297680" y="5074920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297680" y="507492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12.68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166360" y="5074920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166360" y="507492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6.67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035040" y="5074920"/>
            <a:ext cx="137160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035040" y="5074920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63 ms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406640" y="5074920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406640" y="5074920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n/a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57200" y="5367528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57200" y="536752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CodeQL (SAST)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560320" y="536752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2560320" y="536752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10.85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429000" y="536752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429000" y="536752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12.07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297680" y="536752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297680" y="536752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9.86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166360" y="536752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166360" y="536752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53.33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035040" y="5367528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035040" y="536752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182 ms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406640" y="5367528"/>
            <a:ext cx="868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406640" y="5367528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n/a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57200" y="5660136"/>
            <a:ext cx="210312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57200" y="566013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0B1428"/>
                </a:solidFill>
                <a:latin typeface="Calibri"/>
              </a:rPr>
              <a:t>ESLint-security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560320" y="566013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560320" y="566013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0.00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429000" y="566013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429000" y="566013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0.00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297680" y="566013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297680" y="566013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0.00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166360" y="566013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166360" y="566013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0.00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035040" y="5660136"/>
            <a:ext cx="137160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035040" y="5660136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1 ms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406640" y="5660136"/>
            <a:ext cx="868680" cy="292608"/>
          </a:xfrm>
          <a:prstGeom prst="rect">
            <a:avLst/>
          </a:prstGeom>
          <a:solidFill>
            <a:srgbClr val="F6F7FB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406640" y="5660136"/>
            <a:ext cx="868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950" b="0" i="0">
                <a:solidFill>
                  <a:srgbClr val="0B1428"/>
                </a:solidFill>
                <a:latin typeface="Calibri"/>
              </a:rPr>
              <a:t>n/a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57200" y="5998464"/>
            <a:ext cx="11277295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5B657A"/>
                </a:solidFill>
                <a:latin typeface="Calibri"/>
              </a:rPr>
              <a:t>qwen3:8b + RAG headline uses phase1-b3 canonical run; all others use canonical-taxonomy ablation. p95 latencies in source JSON.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A2  ·  Confusion Matrices  ·  qwen3:8b +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5775" y="228600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228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55767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499856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Full corpus  (n = 101)  ·  case-level majority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Predicted: Vuln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5083" y="233172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Predicted: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5029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Actual</a:t>
            </a:r>
          </a:p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Vuln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5029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Actual</a:t>
            </a:r>
          </a:p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Safe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651760"/>
            <a:ext cx="2179243" cy="9144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5083" y="2651760"/>
            <a:ext cx="2179243" cy="914400"/>
          </a:xfrm>
          <a:prstGeom prst="rect">
            <a:avLst/>
          </a:prstGeom>
          <a:solidFill>
            <a:srgbClr val="F9E6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5083" y="26974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5083" y="31546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FN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566160"/>
            <a:ext cx="2179243" cy="914400"/>
          </a:xfrm>
          <a:prstGeom prst="rect">
            <a:avLst/>
          </a:prstGeom>
          <a:solidFill>
            <a:srgbClr val="F9E6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FP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5083" y="3566160"/>
            <a:ext cx="2179243" cy="9144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5083" y="36118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5083" y="40690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TN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1783080"/>
            <a:ext cx="5455767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327" y="1920240"/>
            <a:ext cx="499856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Held-out test split  (n = 30)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7367" y="233172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Predicted: Vuln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611" y="233172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Predicted: Safe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447" y="2651760"/>
            <a:ext cx="5029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Actual</a:t>
            </a:r>
          </a:p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Vuln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447" y="3566160"/>
            <a:ext cx="50292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Actual</a:t>
            </a:r>
          </a:p>
          <a:p>
            <a:pPr algn="ctr"/>
            <a:r>
              <a:rPr sz="1000" b="1" i="0">
                <a:solidFill>
                  <a:srgbClr val="5B657A"/>
                </a:solidFill>
                <a:latin typeface="Calibri"/>
              </a:rPr>
              <a:t>Safe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7367" y="2651760"/>
            <a:ext cx="2179243" cy="9144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27367" y="26974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7367" y="31546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TP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611" y="2651760"/>
            <a:ext cx="2179243" cy="914400"/>
          </a:xfrm>
          <a:prstGeom prst="rect">
            <a:avLst/>
          </a:prstGeom>
          <a:solidFill>
            <a:srgbClr val="F9E6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611" y="26974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611" y="31546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FN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27367" y="3566160"/>
            <a:ext cx="2179243" cy="914400"/>
          </a:xfrm>
          <a:prstGeom prst="rect">
            <a:avLst/>
          </a:prstGeom>
          <a:solidFill>
            <a:srgbClr val="F9E6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7367" y="36118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7367" y="40690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FP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611" y="3566160"/>
            <a:ext cx="2179243" cy="914400"/>
          </a:xfrm>
          <a:prstGeom prst="rect">
            <a:avLst/>
          </a:prstGeom>
          <a:solidFill>
            <a:srgbClr val="E9F3E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611" y="3611880"/>
            <a:ext cx="2179243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1428"/>
                </a:solidFill>
                <a:latin typeface="Calibr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611" y="4069080"/>
            <a:ext cx="217924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B657A"/>
                </a:solidFill>
                <a:latin typeface="Calibri"/>
              </a:rPr>
              <a:t>TN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394960"/>
            <a:ext cx="11277295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5B657A"/>
                </a:solidFill>
                <a:latin typeface="Calibri"/>
              </a:rPr>
              <a:t>Sample-level via ≥2/3 majority over 3 deterministic runs (seed=42, T=0).  Precision is finding-level/pooled, so 72.46 % ≠ TP/(TP+FP) here.  Source: phase1-b3 canonical taxonomy.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A3  ·  Why the Single-Reviewer Manual Review Is Bounded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5775" y="228600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228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524347" cy="15316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585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Fix provided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1585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FCA311"/>
                </a:solidFill>
                <a:latin typeface="Calibri"/>
              </a:rPr>
              <a:t>76 %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58587" cy="1600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Of 25 reviewed samples, 19 included a repair suggestion.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83080"/>
            <a:ext cx="5524347" cy="15316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178308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27" y="1920240"/>
            <a:ext cx="51585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Semantically 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286000"/>
            <a:ext cx="51585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FCA311"/>
                </a:solidFill>
                <a:latin typeface="Calibri"/>
              </a:rPr>
              <a:t>89.5 %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971800"/>
            <a:ext cx="5158587" cy="1600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Fix addresses the CWE (17 of 19 issued fixes).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43300"/>
            <a:ext cx="5524347" cy="15316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4330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80460"/>
            <a:ext cx="51585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Strategy-aligned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46220"/>
            <a:ext cx="51585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FCA311"/>
                </a:solidFill>
                <a:latin typeface="Calibri"/>
              </a:rPr>
              <a:t>94.7 %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32020"/>
            <a:ext cx="5158587" cy="1600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Right repair pattern (parameterized query, escaping, etc.).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147" y="3543300"/>
            <a:ext cx="5524347" cy="15316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147" y="3543300"/>
            <a:ext cx="5524347" cy="731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27" y="3680460"/>
            <a:ext cx="51585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1428"/>
                </a:solidFill>
                <a:latin typeface="Calibri"/>
              </a:rPr>
              <a:t>Executable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27" y="4046220"/>
            <a:ext cx="51585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FCA311"/>
                </a:solidFill>
                <a:latin typeface="Calibri"/>
              </a:rPr>
              <a:t>42.1 %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27" y="4732020"/>
            <a:ext cx="5158587" cy="1600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Patch runs without modification; the rest give prose guidance.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66360"/>
            <a:ext cx="11277295" cy="6400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10728655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Inter-rater on the 25-sample subset = future work.  Headline R3 is the fully objective auto-applicable rate (90.32 %, n = 279).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A4  ·  Why a Curated Corpus, Not an Existing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5775" y="228600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228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501487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CA311"/>
                </a:solidFill>
                <a:latin typeface="Calibri"/>
              </a:rPr>
              <a:t>WHY EXISTING JS/TS BENCHMARKS DON'T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Juliet (NIST)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5044287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C / C++ / Java only.  No first-party JS 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OWASP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5044287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Java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SecurityEval (Pearce 2022)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5044287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Small, partially synthetic.  CWE labelling inconsistent with OWASP Top 10.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CyberSecEval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63440"/>
            <a:ext cx="5044287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29.3 % of vulnerable samples are reproducible (Peng et al. 2025).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CWEval (Peng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5044287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Calibri"/>
              </a:rPr>
              <a:t>119 curated tasks across 31 CWEs, 5 languages — peer-comparable to 101 cases.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1783080"/>
            <a:ext cx="5501487" cy="44805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1920240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CA311"/>
                </a:solidFill>
                <a:latin typeface="Calibri"/>
              </a:rPr>
              <a:t>SELECTION-BIAS MITIGATIONS IN THIS 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237744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Held-out 71 / 30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2651760"/>
            <a:ext cx="5044287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Frozen TEST set keeps threshold tuning out of headline numbers.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324612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15-case external corpus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7" y="3520440"/>
            <a:ext cx="5044287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NodeGoat, Juice Shop, 3 named CVEs — independent of the curator.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411480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Whole-project NodeGoat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1607" y="4389120"/>
            <a:ext cx="5044287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Project-level recall independent of sample selection.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607" y="4983480"/>
            <a:ext cx="5044287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Provenance bound into manifest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1607" y="5257800"/>
            <a:ext cx="5044287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Ed25519 signature; corpus cannot be silently rewritten.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A5  ·  Why No Cloud-LLM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5775" y="228600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228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pic>
        <p:nvPicPr>
          <p:cNvPr id="10" name="Picture 9" descr="diagram_29_threa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5501487" cy="4480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3007" y="1783080"/>
            <a:ext cx="5501487" cy="44805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920240"/>
            <a:ext cx="5044287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CA311"/>
                </a:solidFill>
                <a:latin typeface="Calibri"/>
              </a:rPr>
              <a:t>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331720"/>
            <a:ext cx="5044287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Cloud-LLM is the 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651760"/>
            <a:ext cx="50442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Including it as a baseline contradicts the threat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291840"/>
            <a:ext cx="5044287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Floor provided by 3 SAST baselines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3611880"/>
            <a:ext cx="50442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Semgrep, CodeQL, ESLint  ·  all local, all reproducible.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4251960"/>
            <a:ext cx="5044287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Frontier cloud will always win raw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4572000"/>
            <a:ext cx="50442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The thesis competes on the constraint set:  local, zero-egress, reproducible.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5212080"/>
            <a:ext cx="5044287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Post-defense addendum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5532120"/>
            <a:ext cx="5044287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8D0E0"/>
                </a:solidFill>
                <a:latin typeface="Calibri"/>
              </a:rPr>
              <a:t>A one-paragraph comparison to published GPT-4 numbers on similar JS corpora is straightforward.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UNIVERSITY OF CHEMNITZ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libri"/>
              </a:rPr>
              <a:t>A6  ·  Why R2 Reports 100 % Inter-Run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3657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45720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Md Hafizur Rahman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5775" y="228600"/>
            <a:ext cx="1097280" cy="365760"/>
          </a:xfrm>
          <a:prstGeom prst="roundRect">
            <a:avLst>
              <a:gd name="adj" fmla="val 6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228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3637178" cy="3200400"/>
          </a:xfrm>
          <a:prstGeom prst="roundRect">
            <a:avLst>
              <a:gd name="adj" fmla="val 6000"/>
            </a:avLst>
          </a:prstGeom>
          <a:solidFill>
            <a:srgbClr val="0B1428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327141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RUN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271418" cy="2743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"findings": [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"category":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"sql-injection",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"severity":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"high",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"line": 42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]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1783080"/>
            <a:ext cx="3637178" cy="3200400"/>
          </a:xfrm>
          <a:prstGeom prst="roundRect">
            <a:avLst>
              <a:gd name="adj" fmla="val 6000"/>
            </a:avLst>
          </a:prstGeom>
          <a:solidFill>
            <a:srgbClr val="0B1428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0138" y="1874520"/>
            <a:ext cx="327141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RUN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2194560"/>
            <a:ext cx="3271418" cy="2743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"findings": [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"category":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"sql-injection",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"severity":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"high",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"line": 42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]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783080"/>
            <a:ext cx="3637178" cy="3200400"/>
          </a:xfrm>
          <a:prstGeom prst="roundRect">
            <a:avLst>
              <a:gd name="adj" fmla="val 6000"/>
            </a:avLst>
          </a:prstGeom>
          <a:solidFill>
            <a:srgbClr val="0B1428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196" y="1874520"/>
            <a:ext cx="3271418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RUN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196" y="2194560"/>
            <a:ext cx="3271418" cy="2743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"findings": [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"category":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"sql-injection",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"severity":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"high",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"line": 42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]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277295" cy="8686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10728655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311"/>
                </a:solidFill>
                <a:latin typeface="Calibri"/>
              </a:rPr>
              <a:t>WHY THEY'RE IDENTICAL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72865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temperature = 0   ·   seed = 42   ·   format = JSON   ·   fixed prompt.  Byte-identical → consensus signal requires seed rotation (future work).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