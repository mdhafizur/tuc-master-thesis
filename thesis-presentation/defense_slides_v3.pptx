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 — Title  ·  [60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"Good afternoon. You have just finished writing code for a bank — or a hospital. You need the answer to one simple question: is it secure? Getting that answer today means making a trade-off. And by the end of this talk, I want to convince you it is a trade-off no developer should have to make.</a:t>
            </a:r>
          </a:p>
          <a:p>
            <a:pPr>
              <a:spcAft>
                <a:spcPts val="400"/>
              </a:spcAft>
            </a:pPr>
            <a:r>
              <a:rPr sz="1100" b="0">
                <a:solidFill>
                  <a:srgbClr val="1A1F36"/>
                </a:solidFill>
                <a:latin typeface="Calibri"/>
              </a:rPr>
              <a:t>The thesis is titled Privacy-Preserving Source Code Vulnerability Detection and Repair using Retrieval-Augmented Local LLMs for Visual Studio Code. The system is called Code Guardian. Three parts: why the tool is needed, what it does, and what the evaluation shows. About thirty minutes."</a:t>
            </a:r>
          </a:p>
          <a:p>
            <a:pPr>
              <a:spcAft>
                <a:spcPts val="400"/>
              </a:spcAft>
            </a:pPr>
            <a:r>
              <a:rPr sz="1100" b="0">
                <a:solidFill>
                  <a:srgbClr val="1A1F36"/>
                </a:solidFill>
                <a:latin typeface="Calibri"/>
              </a:rPr>
              <a:t>(Pause. Look at the panel. Move to next slide.)</a:t>
            </a:r>
          </a:p>
          <a:p>
            <a:pPr>
              <a:spcAft>
                <a:spcPts val="400"/>
              </a:spcAft>
            </a:pPr>
            <a:r>
              <a:rPr sz="1100" b="1">
                <a:solidFill>
                  <a:srgbClr val="1A1F36"/>
                </a:solidFill>
                <a:latin typeface="Calibri"/>
              </a:rPr>
              <a:t>TRANSITION</a:t>
            </a:r>
            <a:r>
              <a:rPr sz="1100" b="0">
                <a:solidFill>
                  <a:srgbClr val="1A1F36"/>
                </a:solidFill>
                <a:latin typeface="Calibri"/>
              </a:rPr>
              <a:t> — "I'll start with the problem the tool solves."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 — The Developer's Dilemma  ·  [40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"Three problems arrive at once. First: sensitive code can't be pasted into a cloud model without breaking compliance. Second: the local scanner on your machine keeps missing real bugs — so the vulnerability reaches production. Third: when a scanner does flag something, it warns you, but it never fixes anything. The repair is still entirely your job.</a:t>
            </a:r>
          </a:p>
          <a:p>
            <a:pPr>
              <a:spcAft>
                <a:spcPts val="400"/>
              </a:spcAft>
            </a:pPr>
            <a:r>
              <a:rPr sz="1100" b="0">
                <a:solidFill>
                  <a:srgbClr val="1A1F36"/>
                </a:solidFill>
                <a:latin typeface="Calibri"/>
              </a:rPr>
              <a:t>No tool today solves all three. So the real question is the one in the corner — what is the alternative? That is what the rest of this talk answers."</a:t>
            </a:r>
          </a:p>
          <a:p>
            <a:pPr>
              <a:spcAft>
                <a:spcPts val="400"/>
              </a:spcAft>
            </a:pPr>
            <a:r>
              <a:rPr sz="1100" b="0">
                <a:solidFill>
                  <a:srgbClr val="1A1F36"/>
                </a:solidFill>
                <a:latin typeface="Calibri"/>
              </a:rPr>
              <a:t>(Four bubbles on screen: three problems plus one question — the green 'What's the alternative?'. Let the image breathe; gesture, don't enumerate them.)</a:t>
            </a:r>
          </a:p>
          <a:p>
            <a:pPr>
              <a:spcAft>
                <a:spcPts val="400"/>
              </a:spcAft>
            </a:pPr>
            <a:r>
              <a:rPr sz="1100" b="1">
                <a:solidFill>
                  <a:srgbClr val="1A1F36"/>
                </a:solidFill>
                <a:latin typeface="Calibri"/>
              </a:rPr>
              <a:t>TRANSITION</a:t>
            </a:r>
            <a:r>
              <a:rPr sz="1100" b="0">
                <a:solidFill>
                  <a:srgbClr val="1A1F36"/>
                </a:solidFill>
                <a:latin typeface="Calibri"/>
              </a:rPr>
              <a:t> — "Let me make the cost concrete."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3 — Today You Pick: Send Code Away — or Get No Help  ·  [80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"Today, in practice, there are only two options. On one side, the cloud assistants — Copilot, ChatGPT, Cursor. The reasoning is excellent. But every request leaves your machine, and in finance, healthcare, defence, or any air-gapped setting, that door is simply closed.</a:t>
            </a:r>
          </a:p>
          <a:p>
            <a:pPr>
              <a:spcAft>
                <a:spcPts val="400"/>
              </a:spcAft>
            </a:pPr>
            <a:r>
              <a:rPr sz="1100" b="0">
                <a:solidFill>
                  <a:srgbClr val="1A1F36"/>
                </a:solidFill>
                <a:latin typeface="Calibri"/>
              </a:rPr>
              <a:t>On the other side, the local scanners — Semgrep, CodeQL, ESLint. They stay on your machine, so privacy is complete. But they miss most of the bugs. On the JavaScript and TypeScript in this thesis, Semgrep's canonical recall is 12.68 percent. And they only warn — they never fix.</a:t>
            </a:r>
          </a:p>
          <a:p>
            <a:pPr>
              <a:spcAft>
                <a:spcPts val="400"/>
              </a:spcAft>
            </a:pPr>
            <a:r>
              <a:rPr sz="1100" b="0">
                <a:solidFill>
                  <a:srgbClr val="1A1F36"/>
                </a:solidFill>
                <a:latin typeface="Calibri"/>
              </a:rPr>
              <a:t>So here is the trade you're offered: send your code away, or work almost unprotected. That's the whole menu. And neither side is good enough."</a:t>
            </a:r>
          </a:p>
          <a:p>
            <a:pPr>
              <a:spcAft>
                <a:spcPts val="400"/>
              </a:spcAft>
            </a:pPr>
            <a:r>
              <a:rPr sz="1100" b="1">
                <a:solidFill>
                  <a:srgbClr val="1A1F36"/>
                </a:solidFill>
                <a:latin typeface="Calibri"/>
              </a:rPr>
              <a:t>TRANSITION</a:t>
            </a:r>
            <a:r>
              <a:rPr sz="1100" b="0">
                <a:solidFill>
                  <a:srgbClr val="1A1F36"/>
                </a:solidFill>
                <a:latin typeface="Calibri"/>
              </a:rPr>
              <a:t> — "So this thesis asks one question: why should that be the trade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4 — No Tool Combines All Three  ·  [60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"Removing that trade requires three things to be true at the same time. The tool must be </a:t>
            </a:r>
            <a:r>
              <a:rPr sz="1100" b="1">
                <a:solidFill>
                  <a:srgbClr val="1A1F36"/>
                </a:solidFill>
                <a:latin typeface="Calibri"/>
              </a:rPr>
              <a:t>local</a:t>
            </a:r>
            <a:r>
              <a:rPr sz="1100" b="0">
                <a:solidFill>
                  <a:srgbClr val="1A1F36"/>
                </a:solidFill>
                <a:latin typeface="Calibri"/>
              </a:rPr>
              <a:t>, so your code never leaves the machine and you can prove it. It must be </a:t>
            </a:r>
            <a:r>
              <a:rPr sz="1100" b="1">
                <a:solidFill>
                  <a:srgbClr val="1A1F36"/>
                </a:solidFill>
                <a:latin typeface="Calibri"/>
              </a:rPr>
              <a:t>grounded</a:t>
            </a:r>
            <a:r>
              <a:rPr sz="1100" b="0">
                <a:solidFill>
                  <a:srgbClr val="1A1F36"/>
                </a:solidFill>
                <a:latin typeface="Calibri"/>
              </a:rPr>
              <a:t>, reasoning with real CWE and OWASP knowledge rather than fixed patterns. And it must stay </a:t>
            </a:r>
            <a:r>
              <a:rPr sz="1100" b="1">
                <a:solidFill>
                  <a:srgbClr val="1A1F36"/>
                </a:solidFill>
                <a:latin typeface="Calibri"/>
              </a:rPr>
              <a:t>in your hands</a:t>
            </a:r>
            <a:r>
              <a:rPr sz="1100" b="0">
                <a:solidFill>
                  <a:srgbClr val="1A1F36"/>
                </a:solidFill>
                <a:latin typeface="Calibri"/>
              </a:rPr>
              <a:t>, offering a fix that you choose to apply, with nothing rewritten behind your back.</a:t>
            </a:r>
          </a:p>
          <a:p>
            <a:pPr>
              <a:spcAft>
                <a:spcPts val="400"/>
              </a:spcAft>
            </a:pPr>
            <a:r>
              <a:rPr sz="1100" b="0">
                <a:solidFill>
                  <a:srgbClr val="1A1F36"/>
                </a:solidFill>
                <a:latin typeface="Calibri"/>
              </a:rPr>
              <a:t>No existing tool delivers all three together, and that is the gap this thesis sets out to close."</a:t>
            </a:r>
          </a:p>
          <a:p>
            <a:pPr>
              <a:spcAft>
                <a:spcPts val="400"/>
              </a:spcAft>
            </a:pPr>
            <a:r>
              <a:rPr sz="1100" b="1">
                <a:solidFill>
                  <a:srgbClr val="1A1F36"/>
                </a:solidFill>
                <a:latin typeface="Calibri"/>
              </a:rPr>
              <a:t>PRE-EMPT</a:t>
            </a:r>
            <a:r>
              <a:rPr sz="1100" b="0">
                <a:solidFill>
                  <a:srgbClr val="1A1F36"/>
                </a:solidFill>
                <a:latin typeface="Calibri"/>
              </a:rPr>
              <a:t> (fold into the flow — answers a question before it's asked) — "And the scope is JavaScript and TypeScript on purpose: it's the most-used stack on GitHub, and it's where local static analysis is weakest — so it's where a privacy-preserving tool helps most."  → defuses "why JS/TS?" (QA_PREP A.4)</a:t>
            </a:r>
          </a:p>
          <a:p>
            <a:pPr>
              <a:spcAft>
                <a:spcPts val="400"/>
              </a:spcAft>
            </a:pPr>
            <a:r>
              <a:rPr sz="1100" b="1">
                <a:solidFill>
                  <a:srgbClr val="1A1F36"/>
                </a:solidFill>
                <a:latin typeface="Calibri"/>
              </a:rPr>
              <a:t>LIT-ANCHOR</a:t>
            </a:r>
            <a:r>
              <a:rPr sz="1100" b="0">
                <a:solidFill>
                  <a:srgbClr val="1A1F36"/>
                </a:solidFill>
                <a:latin typeface="Calibri"/>
              </a:rPr>
              <a:t> (reserve — drop only if the IDE-integration gap is doubted in Q&amp;A) — "A 2025 survey of 58 LLM vulnerability studies found not one was wired into a developer's workflow — every one was evaluated offline. That's the gap this slide names." (Zhou et al., TOSEM 2025)  → backs "in your hands"; QA_PREP J.1</a:t>
            </a:r>
          </a:p>
          <a:p>
            <a:pPr>
              <a:spcAft>
                <a:spcPts val="400"/>
              </a:spcAft>
            </a:pPr>
            <a:r>
              <a:rPr sz="1100" b="1">
                <a:solidFill>
                  <a:srgbClr val="1A1F36"/>
                </a:solidFill>
                <a:latin typeface="Calibri"/>
              </a:rPr>
              <a:t>TRANSITION</a:t>
            </a:r>
            <a:r>
              <a:rPr sz="1100" b="0">
                <a:solidFill>
                  <a:srgbClr val="1A1F36"/>
                </a:solidFill>
                <a:latin typeface="Calibri"/>
              </a:rPr>
              <a:t> — "Before the system, here are the research questions and the five requirements I commit 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5 — Research Questions and Requirements  ·  [90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"Three research questions frame the work. RQ1 asks whether a local model, on a normal laptop, can detect vulnerabilities well enough under a strict privacy envelope. RQ2 asks whether grounding that model in retrieved CWE and OWASP knowledge actually helps. And RQ3 asks whether it is fast enough inside the editor for real work.</a:t>
            </a:r>
          </a:p>
          <a:p>
            <a:pPr>
              <a:spcAft>
                <a:spcPts val="400"/>
              </a:spcAft>
            </a:pPr>
            <a:r>
              <a:rPr sz="1100" b="0">
                <a:solidFill>
                  <a:srgbClr val="1A1F36"/>
                </a:solidFill>
                <a:latin typeface="Calibri"/>
              </a:rPr>
              <a:t>Before measuring anything, I fixed five requirements. R1 is accuracy — precision, recall, and F1. R2 is consistency — valid, stable output. R3 is repair quality. R4 is usability — latency and IDE fit. And R5 is privacy — nothing leaves the machine.</a:t>
            </a:r>
          </a:p>
          <a:p>
            <a:pPr>
              <a:spcAft>
                <a:spcPts val="400"/>
              </a:spcAft>
            </a:pPr>
            <a:r>
              <a:rPr sz="1100" b="0">
                <a:solidFill>
                  <a:srgbClr val="1A1F36"/>
                </a:solidFill>
                <a:latin typeface="Calibri"/>
              </a:rPr>
              <a:t>Each requirement has a fixed grading scale, written into the requirements chapter before any model ran. R1 and R2 use four levels, and R3 and R4 use three. This matters because the bar was set before I saw a single result, so it is the same bar before and after evaluation."</a:t>
            </a:r>
          </a:p>
          <a:p>
            <a:pPr>
              <a:spcAft>
                <a:spcPts val="400"/>
              </a:spcAft>
            </a:pPr>
            <a:r>
              <a:rPr sz="1100" b="1">
                <a:solidFill>
                  <a:srgbClr val="1A1F36"/>
                </a:solidFill>
                <a:latin typeface="Calibri"/>
              </a:rPr>
              <a:t>PRE-EMPT</a:t>
            </a:r>
            <a:r>
              <a:rPr sz="1100" b="0">
                <a:solidFill>
                  <a:srgbClr val="1A1F36"/>
                </a:solidFill>
                <a:latin typeface="Calibri"/>
              </a:rPr>
              <a:t> (this line is itself the pre-empt — say it slowly, look at the panel) — fixing the grading scales before evaluation is exactly what disarms "how did you choose the thresholds?"  → defuses QA_PREP G.3</a:t>
            </a:r>
          </a:p>
          <a:p>
            <a:pPr>
              <a:spcAft>
                <a:spcPts val="400"/>
              </a:spcAft>
            </a:pPr>
            <a:r>
              <a:rPr sz="1100" b="1">
                <a:solidFill>
                  <a:srgbClr val="1A1F36"/>
                </a:solidFill>
                <a:latin typeface="Calibri"/>
              </a:rPr>
              <a:t>TRANSITION</a:t>
            </a:r>
            <a:r>
              <a:rPr sz="1100" b="0">
                <a:solidFill>
                  <a:srgbClr val="1A1F36"/>
                </a:solidFill>
                <a:latin typeface="Calibri"/>
              </a:rPr>
              <a:t> — "Where do existing systems sit against R1 to R5?"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6 — Three Existing Approaches  ·  [60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"The related work falls into three camps. The </a:t>
            </a:r>
            <a:r>
              <a:rPr sz="1100" b="1">
                <a:solidFill>
                  <a:srgbClr val="1A1F36"/>
                </a:solidFill>
                <a:latin typeface="Calibri"/>
              </a:rPr>
              <a:t>cloud assistants</a:t>
            </a:r>
            <a:r>
              <a:rPr sz="1100" b="0">
                <a:solidFill>
                  <a:srgbClr val="1A1F36"/>
                </a:solidFill>
                <a:latin typeface="Calibri"/>
              </a:rPr>
              <a:t> — Copilot, ChatGPT, Cursor, Claude Code — are strong on accuracy, repair, and usability, but they fail privacy by design, because every request leaves the machine. </a:t>
            </a:r>
            <a:r>
              <a:rPr sz="1100" b="1">
                <a:solidFill>
                  <a:srgbClr val="1A1F36"/>
                </a:solidFill>
                <a:latin typeface="Calibri"/>
              </a:rPr>
              <a:t>Local static analysis</a:t>
            </a:r>
            <a:r>
              <a:rPr sz="1100" b="0">
                <a:solidFill>
                  <a:srgbClr val="1A1F36"/>
                </a:solidFill>
                <a:latin typeface="Calibri"/>
              </a:rPr>
              <a:t> — Semgrep, CodeQL, ESLint — is strong on consistency and privacy, but weak on accuracy and repair, because it matches patterns rather than reasoning and it only warns. And the </a:t>
            </a:r>
            <a:r>
              <a:rPr sz="1100" b="1">
                <a:solidFill>
                  <a:srgbClr val="1A1F36"/>
                </a:solidFill>
                <a:latin typeface="Calibri"/>
              </a:rPr>
              <a:t>academic LLM-for-security work</a:t>
            </a:r>
            <a:r>
              <a:rPr sz="1100" b="0">
                <a:solidFill>
                  <a:srgbClr val="1A1F36"/>
                </a:solidFill>
                <a:latin typeface="Calibri"/>
              </a:rPr>
              <a:t> — IRIS, SecRepair, LLMSecGuard, RESCUE — is promising, but each system drops at least one of privacy, repair, or IDE speed. None brings them all together."</a:t>
            </a:r>
          </a:p>
          <a:p>
            <a:pPr>
              <a:spcAft>
                <a:spcPts val="400"/>
              </a:spcAft>
            </a:pPr>
            <a:r>
              <a:rPr sz="1100" b="1">
                <a:solidFill>
                  <a:srgbClr val="1A1F36"/>
                </a:solidFill>
                <a:latin typeface="Calibri"/>
              </a:rPr>
              <a:t>TRANSITION</a:t>
            </a:r>
            <a:r>
              <a:rPr sz="1100" b="0">
                <a:solidFill>
                  <a:srgbClr val="1A1F36"/>
                </a:solidFill>
                <a:latin typeface="Calibri"/>
              </a:rPr>
              <a:t> — "Put them in a matrix against R1 to R5, and the gap is clear."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7 — No Tool Satisfies R3 + R4 + R5 Together  ·  [75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"Read across each row. Copilot meets accuracy, consistency, and repair, is only partial on usability, and fails privacy. Semgrep and CodeQL meet privacy but fail accuracy and repair. IRIS, even with GPT-4 behind it, fails repair, usability, and privacy, because it is a whole-repo batch tool. And SecRepair fine-tunes a model rather than prompting one, runs in batch, and targets mostly C and C++.</a:t>
            </a:r>
          </a:p>
          <a:p>
            <a:pPr>
              <a:spcAft>
                <a:spcPts val="400"/>
              </a:spcAft>
            </a:pPr>
            <a:r>
              <a:rPr sz="1100" b="0">
                <a:solidFill>
                  <a:srgbClr val="1A1F36"/>
                </a:solidFill>
                <a:latin typeface="Calibri"/>
              </a:rPr>
              <a:t>The bottom row is Code Guardian, and it is the claim this talk defends: no existing tool delivers privacy, repair, and IDE-grade speed at the same time."</a:t>
            </a:r>
          </a:p>
          <a:p>
            <a:pPr>
              <a:spcAft>
                <a:spcPts val="400"/>
              </a:spcAft>
            </a:pPr>
            <a:r>
              <a:rPr sz="1100" b="1">
                <a:solidFill>
                  <a:srgbClr val="1A1F36"/>
                </a:solidFill>
                <a:latin typeface="Calibri"/>
              </a:rPr>
              <a:t>LIT-ANCHOR</a:t>
            </a:r>
            <a:r>
              <a:rPr sz="1100" b="0">
                <a:solidFill>
                  <a:srgbClr val="1A1F36"/>
                </a:solidFill>
                <a:latin typeface="Calibri"/>
              </a:rPr>
              <a:t> (reserve — drop only if the bottom row is challenged in Q&amp;A) — "LLMSecGuard's own authors call IDE integration 'essential' — then leave it as future work. Code Guardian ships it." (Kavian et al., EASE 2024)  → sharpens the matrix; QA_PREP H.1</a:t>
            </a:r>
          </a:p>
          <a:p>
            <a:pPr>
              <a:spcAft>
                <a:spcPts val="400"/>
              </a:spcAft>
            </a:pPr>
            <a:r>
              <a:rPr sz="1100" b="1">
                <a:solidFill>
                  <a:srgbClr val="1A1F36"/>
                </a:solidFill>
                <a:latin typeface="Calibri"/>
              </a:rPr>
              <a:t>SOURCE NOTE</a:t>
            </a:r>
            <a:r>
              <a:rPr sz="1100" b="0">
                <a:solidFill>
                  <a:srgbClr val="1A1F36"/>
                </a:solidFill>
                <a:latin typeface="Calibri"/>
              </a:rPr>
              <a:t> (point to the footnote only if asked where the levels come from — don't read it) — the small line under the matrix says the High / Partial / Not-satisfied levels apply the fixed R1–R5 scales, with accuracy/repair thresholds from IR/SE work, latency from HCI response-time limits, and privacy as a checklist. The full scale-and-source table is </a:t>
            </a:r>
            <a:r>
              <a:rPr sz="1100" b="1">
                <a:solidFill>
                  <a:srgbClr val="1A1F36"/>
                </a:solidFill>
                <a:latin typeface="Calibri"/>
              </a:rPr>
              <a:t>Appendix slide A8</a:t>
            </a:r>
            <a:r>
              <a:rPr sz="1100" b="0">
                <a:solidFill>
                  <a:srgbClr val="1A1F36"/>
                </a:solidFill>
                <a:latin typeface="Calibri"/>
              </a:rPr>
              <a:t> — put it up if the panel pushes on "how did you choose the thresholds?"  → backs QA_PREP G.3</a:t>
            </a:r>
          </a:p>
          <a:p>
            <a:pPr>
              <a:spcAft>
                <a:spcPts val="400"/>
              </a:spcAft>
            </a:pPr>
            <a:r>
              <a:rPr sz="1100" b="1">
                <a:solidFill>
                  <a:srgbClr val="1A1F36"/>
                </a:solidFill>
                <a:latin typeface="Calibri"/>
              </a:rPr>
              <a:t>TRANSITION</a:t>
            </a:r>
            <a:r>
              <a:rPr sz="1100" b="0">
                <a:solidFill>
                  <a:srgbClr val="1A1F36"/>
                </a:solidFill>
                <a:latin typeface="Calibri"/>
              </a:rPr>
              <a:t> — "Now the system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8 — Proposed Workflow  ·  [60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"The extension offers four ways to work: inline diagnostics that appear as you save, a file scan on right-click, a side panel for asking about any finding, and a workspace audit that covers the whole project at once.</a:t>
            </a:r>
          </a:p>
          <a:p>
            <a:pPr>
              <a:spcAft>
                <a:spcPts val="400"/>
              </a:spcAft>
            </a:pPr>
            <a:r>
              <a:rPr sz="1100" b="0">
                <a:solidFill>
                  <a:srgbClr val="1A1F36"/>
                </a:solidFill>
                <a:latin typeface="Calibri"/>
              </a:rPr>
              <a:t>Why four? Because the question 'is this secure?' arises at different moments — as you save, on a single file, on one finding, or across the whole project — and each workflow meets it where it happens. One pipeline sits behind all four: detect, then repair. And everything inside the dashed line runs on your machine."</a:t>
            </a:r>
          </a:p>
          <a:p>
            <a:pPr>
              <a:spcAft>
                <a:spcPts val="400"/>
              </a:spcAft>
            </a:pPr>
            <a:r>
              <a:rPr sz="1100" b="1">
                <a:solidFill>
                  <a:srgbClr val="1A1F36"/>
                </a:solidFill>
                <a:latin typeface="Calibri"/>
              </a:rPr>
              <a:t>TRANSITION</a:t>
            </a:r>
            <a:r>
              <a:rPr sz="1100" b="0">
                <a:solidFill>
                  <a:srgbClr val="1A1F36"/>
                </a:solidFill>
                <a:latin typeface="Calibri"/>
              </a:rPr>
              <a:t> — "Here are the two stages in detail."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9 — Two-Stage Local Pipeline  ·  [90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"Two stages. The first finds the problem. The second repairs it.</a:t>
            </a:r>
          </a:p>
          <a:p>
            <a:pPr>
              <a:spcAft>
                <a:spcPts val="400"/>
              </a:spcAft>
            </a:pPr>
            <a:r>
              <a:rPr sz="1100" b="0">
                <a:solidFill>
                  <a:srgbClr val="1A1F36"/>
                </a:solidFill>
                <a:latin typeface="Calibri"/>
              </a:rPr>
              <a:t>Stage one is detection. The code goes to the local model as a single JSON-mode call, and the model fills a fixed schema — so what comes back is structured data, not an essay. When RAG is on, the most relevant CWE and OWASP snippets go into the prompt first. And to filter out one-off noise, detection runs twice — each pass from a different random starting point, what's called a seed. A finding survives only when both passes agree. That's the consensus check.</a:t>
            </a:r>
          </a:p>
          <a:p>
            <a:pPr>
              <a:spcAft>
                <a:spcPts val="400"/>
              </a:spcAft>
            </a:pPr>
            <a:r>
              <a:rPr sz="1100" b="0">
                <a:solidFill>
                  <a:srgbClr val="1A1F36"/>
                </a:solidFill>
                <a:latin typeface="Calibri"/>
              </a:rPr>
              <a:t>Stage two is repair. It runs only when stage one has actually found something. It's a separate call that returns just the fixed code and its language. That output goes through the Babel parser — so if the model returns prose instead of code, it's thrown away before you ever see it. What survives appears as an ordinary one-click Quick Fix. And you are the one who applies it. Nothing is rewritten behind your back.</a:t>
            </a:r>
          </a:p>
          <a:p>
            <a:pPr>
              <a:spcAft>
                <a:spcPts val="400"/>
              </a:spcAft>
            </a:pPr>
            <a:r>
              <a:rPr sz="1100" b="0">
                <a:solidFill>
                  <a:srgbClr val="1A1F36"/>
                </a:solidFill>
                <a:latin typeface="Calibri"/>
              </a:rPr>
              <a:t>Now notice what didn't happen anywhere in that flow: nothing left the machine. Ollama runs on loopback, the embeddings are local, and there's no telemetry."</a:t>
            </a:r>
          </a:p>
          <a:p>
            <a:pPr>
              <a:spcAft>
                <a:spcPts val="400"/>
              </a:spcAft>
            </a:pPr>
            <a:r>
              <a:rPr sz="1100" b="1">
                <a:solidFill>
                  <a:srgbClr val="1A1F36"/>
                </a:solidFill>
                <a:latin typeface="Calibri"/>
              </a:rPr>
              <a:t>PRE-EMPT</a:t>
            </a:r>
            <a:r>
              <a:rPr sz="1100" b="0">
                <a:solidFill>
                  <a:srgbClr val="1A1F36"/>
                </a:solidFill>
                <a:latin typeface="Calibri"/>
              </a:rPr>
              <a:t> (fold into the flow — answers a question before it's asked) — "In the shipping extension those two passes use different seeds — a real consensus step in the product. In the evaluation the seed is pinned for reproducibility, so the repeated runs come out identical — which is why the R2 consistency result is reported as a property of deterministic decoding, not a robustness claim. Measuring the filter's gain under seed rotation is future work."  → defuses "your consensus is just identical runs" (QA_PREP G.2)</a:t>
            </a:r>
          </a:p>
          <a:p>
            <a:pPr>
              <a:spcAft>
                <a:spcPts val="400"/>
              </a:spcAft>
            </a:pPr>
            <a:r>
              <a:rPr sz="1100" b="1">
                <a:solidFill>
                  <a:srgbClr val="1A1F36"/>
                </a:solidFill>
                <a:latin typeface="Calibri"/>
              </a:rPr>
              <a:t>TRANSITION</a:t>
            </a:r>
            <a:r>
              <a:rPr sz="1100" b="0">
                <a:solidFill>
                  <a:srgbClr val="1A1F36"/>
                </a:solidFill>
                <a:latin typeface="Calibri"/>
              </a:rPr>
              <a:t> — "What does this look like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10 — Live in VS Code  ·  [75 s]</a:t>
            </a:r>
          </a:p>
          <a:p>
            <a:pPr>
              <a:spcAft>
                <a:spcPts val="400"/>
              </a:spcAft>
            </a:pPr>
            <a:r>
              <a:rPr sz="1100" b="1">
                <a:solidFill>
                  <a:srgbClr val="1A1F36"/>
                </a:solidFill>
                <a:latin typeface="Calibri"/>
              </a:rPr>
              <a:t>VOICE</a:t>
            </a:r>
            <a:r>
              <a:rPr sz="1100" b="0">
                <a:solidFill>
                  <a:srgbClr val="1A1F36"/>
                </a:solidFill>
                <a:latin typeface="Calibri"/>
              </a:rPr>
              <a:t> (pointing at the screenshot)</a:t>
            </a:r>
          </a:p>
          <a:p>
            <a:pPr>
              <a:spcAft>
                <a:spcPts val="400"/>
              </a:spcAft>
            </a:pPr>
            <a:r>
              <a:rPr sz="1100" b="0">
                <a:solidFill>
                  <a:srgbClr val="1A1F36"/>
                </a:solidFill>
                <a:latin typeface="Calibri"/>
              </a:rPr>
              <a:t>"This is the extension running on a file full of vulnerable endpoints — SQL injection, reflected XSS, code injection, command injection, and path traversal. On the right is the Code Guardian panel, currently examining the reflected-XSS endpoint. It explains why the user input is unsafe, and it proposes a fix.</a:t>
            </a:r>
          </a:p>
          <a:p>
            <a:pPr>
              <a:spcAft>
                <a:spcPts val="400"/>
              </a:spcAft>
            </a:pPr>
            <a:r>
              <a:rPr sz="1100" b="0">
                <a:solidFill>
                  <a:srgbClr val="1A1F36"/>
                </a:solidFill>
                <a:latin typeface="Calibri"/>
              </a:rPr>
              <a:t>Notice that the panel marks this one 'not auto-applicable.' That is the system being deliberately honest: it shows you the fix but asks you to review it first. There are no silent rewrites, and nothing here leaves the laptop.</a:t>
            </a:r>
          </a:p>
          <a:p>
            <a:pPr>
              <a:spcAft>
                <a:spcPts val="400"/>
              </a:spcAft>
            </a:pPr>
            <a:r>
              <a:rPr sz="1100" b="0">
                <a:solidFill>
                  <a:srgbClr val="1A1F36"/>
                </a:solidFill>
                <a:latin typeface="Calibri"/>
              </a:rPr>
              <a:t>The QR code installs the extension from the VS Code Marketplace."</a:t>
            </a:r>
          </a:p>
          <a:p>
            <a:pPr>
              <a:spcAft>
                <a:spcPts val="400"/>
              </a:spcAft>
            </a:pPr>
            <a:r>
              <a:rPr sz="1100" b="1">
                <a:solidFill>
                  <a:srgbClr val="1A1F36"/>
                </a:solidFill>
                <a:latin typeface="Calibri"/>
              </a:rPr>
              <a:t>TRANSITION</a:t>
            </a:r>
            <a:r>
              <a:rPr sz="1100" b="0">
                <a:solidFill>
                  <a:srgbClr val="1A1F36"/>
                </a:solidFill>
                <a:latin typeface="Calibri"/>
              </a:rPr>
              <a:t> — "Behind that UI sits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11 — System Architecture  ·  [75 s]</a:t>
            </a:r>
          </a:p>
          <a:p>
            <a:pPr>
              <a:spcAft>
                <a:spcPts val="400"/>
              </a:spcAft>
            </a:pPr>
            <a:r>
              <a:rPr sz="1100" b="1">
                <a:solidFill>
                  <a:srgbClr val="1A1F36"/>
                </a:solidFill>
                <a:latin typeface="Calibri"/>
              </a:rPr>
              <a:t>VOICE</a:t>
            </a:r>
            <a:r>
              <a:rPr sz="1100" b="0">
                <a:solidFill>
                  <a:srgbClr val="1A1F36"/>
                </a:solidFill>
                <a:latin typeface="Calibri"/>
              </a:rPr>
              <a:t> (walk the diagram)</a:t>
            </a:r>
          </a:p>
          <a:p>
            <a:pPr>
              <a:spcAft>
                <a:spcPts val="400"/>
              </a:spcAft>
            </a:pPr>
            <a:r>
              <a:rPr sz="1100" b="0">
                <a:solidFill>
                  <a:srgbClr val="1A1F36"/>
                </a:solidFill>
                <a:latin typeface="Calibri"/>
              </a:rPr>
              <a:t>"Everything inside the dashed rectangle runs on your laptop. The VS Code extension host drives the four workflows, and it talks to Ollama on loopback only. That line is the privacy boundary. Ollama runs an 8B-class quantised model — qwen3:8b is the one I evaluate and recommend, but any Ollama model works, because the extension isn't tied to one. The RAG store is HNSWlib, on disk, local.</a:t>
            </a:r>
          </a:p>
          <a:p>
            <a:pPr>
              <a:spcAft>
                <a:spcPts val="400"/>
              </a:spcAft>
            </a:pPr>
            <a:r>
              <a:rPr sz="1100" b="0">
                <a:solidFill>
                  <a:srgbClr val="1A1F36"/>
                </a:solidFill>
                <a:latin typeface="Calibri"/>
              </a:rPr>
              <a:t>Now follow a request through. It hits the local cache first. On a hit, the answer comes straight back — no model call at all. On a miss, it runs the two-stage analyzer — detect, then repair — and stores the result, so the next identical check is instant.</a:t>
            </a:r>
          </a:p>
          <a:p>
            <a:pPr>
              <a:spcAft>
                <a:spcPts val="400"/>
              </a:spcAft>
            </a:pPr>
            <a:r>
              <a:rPr sz="1100" b="0">
                <a:solidFill>
                  <a:srgbClr val="1A1F36"/>
                </a:solidFill>
                <a:latin typeface="Calibri"/>
              </a:rPr>
              <a:t>When RAG is on, the RAG Manager pulls the top three snippets from that local, signed knowledge base — and it picks them by meaning, not by keyword. A small model, also on the laptop, turns the code and the prompt into a string of numbers that captures what they're about. That fingerprint pulls the three closest entries out of the store. So it still finds the right CWE or OWASP guidance even when the code never says the word 'injection' or a CWE number. Those public feeds are what sync into the corpus in the first place.</a:t>
            </a:r>
          </a:p>
          <a:p>
            <a:pPr>
              <a:spcAft>
                <a:spcPts val="400"/>
              </a:spcAft>
            </a:pPr>
            <a:r>
              <a:rPr sz="1100" b="0">
                <a:solidFill>
                  <a:srgbClr val="1A1F36"/>
                </a:solidFill>
                <a:latin typeface="Calibri"/>
              </a:rPr>
              <a:t>Now look at the boundary itself. By default, nothing crosses it. The vulnerability data ships pre-bundled, so the tool runs fully offline out of the box. There's exactly one outbound call you can opt into — a refresh of public NVD, OWASP, and CWE metadata, on a 24-hour cache — and it's off by default. Even switched on, it carries look-ups, never your code.</a:t>
            </a:r>
          </a:p>
          <a:p>
            <a:pPr>
              <a:spcAft>
                <a:spcPts val="400"/>
              </a:spcAft>
            </a:pPr>
            <a:r>
              <a:rPr sz="1100" b="0">
                <a:solidFill>
                  <a:srgbClr val="1A1F36"/>
                </a:solidFill>
                <a:latin typeface="Calibri"/>
              </a:rPr>
              <a:t>So privacy here isn't a feature you switch on. It's decided by where the boundary sits."</a:t>
            </a:r>
          </a:p>
          <a:p>
            <a:pPr>
              <a:spcAft>
                <a:spcPts val="400"/>
              </a:spcAft>
            </a:pPr>
            <a:r>
              <a:rPr sz="1100" b="1">
                <a:solidFill>
                  <a:srgbClr val="1A1F36"/>
                </a:solidFill>
                <a:latin typeface="Calibri"/>
              </a:rPr>
              <a:t>PRE-EMPT</a:t>
            </a:r>
            <a:r>
              <a:rPr sz="1100" b="0">
                <a:solidFill>
                  <a:srgbClr val="1A1F36"/>
                </a:solidFill>
                <a:latin typeface="Calibri"/>
              </a:rPr>
              <a:t> (fold into the flow — answers a question before it's asked) — "The 8B model is a deliberate ceiling, not a compromise: it's the largest that fits a 16 GB laptop alongside VS Code. A 70B model needs 40-plus gigabytes — that turns 'developer laptop' into 'workstation' and shrinks who can run it."  → defuses "why not a bigger model?" (QA_PREP B.4)</a:t>
            </a:r>
          </a:p>
          <a:p>
            <a:pPr>
              <a:spcAft>
                <a:spcPts val="400"/>
              </a:spcAft>
            </a:pPr>
            <a:r>
              <a:rPr sz="1100" b="1">
                <a:solidFill>
                  <a:srgbClr val="1A1F36"/>
                </a:solidFill>
                <a:latin typeface="Calibri"/>
              </a:rPr>
              <a:t>TRANSITION</a:t>
            </a:r>
            <a:r>
              <a:rPr sz="1100" b="0">
                <a:solidFill>
                  <a:srgbClr val="1A1F36"/>
                </a:solidFill>
                <a:latin typeface="Calibri"/>
              </a:rPr>
              <a:t> — "Four ways the privacy claim is enforced."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12 — Privacy by Construction  ·  [75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"Privacy here is not a single feature; it is four separate arms. Three of them shut down a specific attack, and the fourth lets you verify the other three — and each one can be checked on its own.</a:t>
            </a:r>
          </a:p>
          <a:p>
            <a:pPr>
              <a:spcAft>
                <a:spcPts val="400"/>
              </a:spcAft>
            </a:pPr>
            <a:r>
              <a:rPr sz="1100" b="0">
                <a:solidFill>
                  <a:srgbClr val="1A1F36"/>
                </a:solidFill>
                <a:latin typeface="Calibri"/>
              </a:rPr>
              <a:t>The network arm stops your code leaving the machine. Ollama is bound to loopback — 127.0.0.1 and nothing else — so nothing it sends can leave your laptop.</a:t>
            </a:r>
          </a:p>
          <a:p>
            <a:pPr>
              <a:spcAft>
                <a:spcPts val="400"/>
              </a:spcAft>
            </a:pPr>
            <a:r>
              <a:rPr sz="1100" b="0">
                <a:solidFill>
                  <a:srgbClr val="1A1F36"/>
                </a:solidFill>
                <a:latin typeface="Calibri"/>
              </a:rPr>
              <a:t>The provenance arm stops a poisoned knowledge base, where someone swaps in malicious guidance that the model would then trust. The RAG corpus is Ed25519-signed and checked on every load, and if it has been tampered with, the extension refuses to load it.</a:t>
            </a:r>
          </a:p>
          <a:p>
            <a:pPr>
              <a:spcAft>
                <a:spcPts val="400"/>
              </a:spcAft>
            </a:pPr>
            <a:r>
              <a:rPr sz="1100" b="0">
                <a:solidFill>
                  <a:srgbClr val="1A1F36"/>
                </a:solidFill>
                <a:latin typeface="Calibri"/>
              </a:rPr>
              <a:t>The injection arm stops prompt injection — instructions hidden in the code that try to hijack the model. Twelve crafted attacks were run, and all twelve came back clean.</a:t>
            </a:r>
          </a:p>
          <a:p>
            <a:pPr>
              <a:spcAft>
                <a:spcPts val="400"/>
              </a:spcAft>
            </a:pPr>
            <a:r>
              <a:rPr sz="1100" b="0">
                <a:solidFill>
                  <a:srgbClr val="1A1F36"/>
                </a:solidFill>
                <a:latin typeface="Calibri"/>
              </a:rPr>
              <a:t>The reproducibility arm is not about an attacker but about trust. The whole pipeline rebuilds from a pinned container at seed 42, so anyone can re-run it and obtain the exact same result, rather than taking my word for the other three.</a:t>
            </a:r>
          </a:p>
          <a:p>
            <a:pPr>
              <a:spcAft>
                <a:spcPts val="400"/>
              </a:spcAft>
            </a:pPr>
            <a:r>
              <a:rPr sz="1100" b="0">
                <a:solidFill>
                  <a:srgbClr val="1A1F36"/>
                </a:solidFill>
                <a:latin typeface="Calibri"/>
              </a:rPr>
              <a:t>Because each arm stands on its own, no single failure can quietly break the whole promise."</a:t>
            </a:r>
          </a:p>
          <a:p>
            <a:pPr>
              <a:spcAft>
                <a:spcPts val="400"/>
              </a:spcAft>
            </a:pPr>
            <a:r>
              <a:rPr sz="1100" b="1">
                <a:solidFill>
                  <a:srgbClr val="1A1F36"/>
                </a:solidFill>
                <a:latin typeface="Calibri"/>
              </a:rPr>
              <a:t>LIT-ANCHOR</a:t>
            </a:r>
            <a:r>
              <a:rPr sz="1100" b="0">
                <a:solidFill>
                  <a:srgbClr val="1A1F36"/>
                </a:solidFill>
                <a:latin typeface="Calibri"/>
              </a:rPr>
              <a:t> (reserve — network arm, if "why local" is pushed in Q&amp;A) — "An industry study on ChatGPT for secure coding lands on the same rule this arm enforces: run local LLMs, kept off the network, so proprietary code never leaves the building." (Espinha Gasiba et al., 2024)  → backs the network arm; QA_PREP F.5</a:t>
            </a:r>
          </a:p>
          <a:p>
            <a:pPr>
              <a:spcAft>
                <a:spcPts val="400"/>
              </a:spcAft>
            </a:pPr>
            <a:r>
              <a:rPr sz="1100" b="1">
                <a:solidFill>
                  <a:srgbClr val="1A1F36"/>
                </a:solidFill>
                <a:latin typeface="Calibri"/>
              </a:rPr>
              <a:t>LIT-ANCHOR</a:t>
            </a:r>
            <a:r>
              <a:rPr sz="1100" b="0">
                <a:solidFill>
                  <a:srgbClr val="1A1F36"/>
                </a:solidFill>
                <a:latin typeface="Calibri"/>
              </a:rPr>
              <a:t> (reserve — provenance/injection arms, if corpus-signing is questioned) — "Why sign the corpus? A 2024 RAG-security survey shows poisoning just 0.04 percent of a corpus can hijack retrieval 98 percent of the time. The signature is the lock on that door." (Zhou et al., RAG-Trust survey 2024)  → backs the provenance + injection arms; QA_PREP F.4</a:t>
            </a:r>
          </a:p>
          <a:p>
            <a:pPr>
              <a:spcAft>
                <a:spcPts val="400"/>
              </a:spcAft>
            </a:pPr>
            <a:r>
              <a:rPr sz="1100" b="1">
                <a:solidFill>
                  <a:srgbClr val="1A1F36"/>
                </a:solidFill>
                <a:latin typeface="Calibri"/>
              </a:rPr>
              <a:t>TRANSITION</a:t>
            </a:r>
            <a:r>
              <a:rPr sz="1100" b="0">
                <a:solidFill>
                  <a:srgbClr val="1A1F36"/>
                </a:solidFill>
                <a:latin typeface="Calibri"/>
              </a:rPr>
              <a:t> — "Now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13 — Evaluation Setup  ·  [85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"Three things were locked down before any number went on screen.</a:t>
            </a:r>
          </a:p>
          <a:p>
            <a:pPr>
              <a:spcAft>
                <a:spcPts val="400"/>
              </a:spcAft>
            </a:pPr>
            <a:r>
              <a:rPr sz="1100" b="0">
                <a:solidFill>
                  <a:srgbClr val="1A1F36"/>
                </a:solidFill>
                <a:latin typeface="Calibri"/>
              </a:rPr>
              <a:t>First, the </a:t>
            </a:r>
            <a:r>
              <a:rPr sz="1100" b="1">
                <a:solidFill>
                  <a:srgbClr val="1A1F36"/>
                </a:solidFill>
                <a:latin typeface="Calibri"/>
              </a:rPr>
              <a:t>corpus</a:t>
            </a:r>
            <a:r>
              <a:rPr sz="1100" b="0">
                <a:solidFill>
                  <a:srgbClr val="1A1F36"/>
                </a:solidFill>
                <a:latin typeface="Calibri"/>
              </a:rPr>
              <a:t>. A curated JavaScript and TypeScript set — 101 cases, 71 vulnerable, 30 secure, across 20 CWE categories, every label verified by hand. And every case is traceable to a source. Some are real bugs from popular npm packages and named CVEs. The rest are written in JavaScript to match standard weakness patterns from suites like Juliet and the OWASP Benchmark — which only ship in C and Java. Alongside it sits an external set of 15 cases — OWASP NodeGoat, Juice Shop, three named CVEs — plus a whole-project NodeGoat scan, run end to end. Why verify the labels by hand, and not with a scanner? Because CWEval found that fewer than a third of one popular benchmark's flagged samples could even be reproduced by its own analyzer. A scanner's labels are not ground truth.</a:t>
            </a:r>
          </a:p>
          <a:p>
            <a:pPr>
              <a:spcAft>
                <a:spcPts val="400"/>
              </a:spcAft>
            </a:pPr>
            <a:r>
              <a:rPr sz="1100" b="0">
                <a:solidFill>
                  <a:srgbClr val="1A1F36"/>
                </a:solidFill>
                <a:latin typeface="Calibri"/>
              </a:rPr>
              <a:t>Second, the </a:t>
            </a:r>
            <a:r>
              <a:rPr sz="1100" b="1">
                <a:solidFill>
                  <a:srgbClr val="1A1F36"/>
                </a:solidFill>
                <a:latin typeface="Calibri"/>
              </a:rPr>
              <a:t>configurations</a:t>
            </a:r>
            <a:r>
              <a:rPr sz="1100" b="0">
                <a:solidFill>
                  <a:srgbClr val="1A1F36"/>
                </a:solidFill>
                <a:latin typeface="Calibri"/>
              </a:rPr>
              <a:t>. Five Ollama models, each run two ways — with RAG and without. That's ten. Plus three SAST baselines: Semgrep, CodeQL, and ESLint. Each sample runs three times, deterministically — 303 invocations per configuration.</a:t>
            </a:r>
          </a:p>
          <a:p>
            <a:pPr>
              <a:spcAft>
                <a:spcPts val="400"/>
              </a:spcAft>
            </a:pPr>
            <a:r>
              <a:rPr sz="1100" b="0">
                <a:solidFill>
                  <a:srgbClr val="1A1F36"/>
                </a:solidFill>
                <a:latin typeface="Calibri"/>
              </a:rPr>
              <a:t>Third, the </a:t>
            </a:r>
            <a:r>
              <a:rPr sz="1100" b="1">
                <a:solidFill>
                  <a:srgbClr val="1A1F36"/>
                </a:solidFill>
                <a:latin typeface="Calibri"/>
              </a:rPr>
              <a:t>statistical discipline</a:t>
            </a:r>
            <a:r>
              <a:rPr sz="1100" b="0">
                <a:solidFill>
                  <a:srgbClr val="1A1F36"/>
                </a:solidFill>
                <a:latin typeface="Calibri"/>
              </a:rPr>
              <a:t>. The cases are split in two — I tune on one half and freeze the other, so tuning never touches the headline numbers. McNemar with Bonferroni across the paired comparisons. And exact-binomial intervals for the small-sample rates.</a:t>
            </a:r>
          </a:p>
          <a:p>
            <a:pPr>
              <a:spcAft>
                <a:spcPts val="400"/>
              </a:spcAft>
            </a:pPr>
            <a:r>
              <a:rPr sz="1100" b="0">
                <a:solidFill>
                  <a:srgbClr val="1A1F36"/>
                </a:solidFill>
                <a:latin typeface="Calibri"/>
              </a:rPr>
              <a:t>Rules set first, measurements taken second. That discipline stands behind every number that follows."</a:t>
            </a:r>
          </a:p>
          <a:p>
            <a:pPr>
              <a:spcAft>
                <a:spcPts val="400"/>
              </a:spcAft>
            </a:pPr>
            <a:r>
              <a:rPr sz="1100" b="1">
                <a:solidFill>
                  <a:srgbClr val="1A1F36"/>
                </a:solidFill>
                <a:latin typeface="Calibri"/>
              </a:rPr>
              <a:t>PRE-EMPT</a:t>
            </a:r>
            <a:r>
              <a:rPr sz="1100" b="0">
                <a:solidFill>
                  <a:srgbClr val="1A1F36"/>
                </a:solidFill>
                <a:latin typeface="Calibri"/>
              </a:rPr>
              <a:t> (two short ones — fold into the flow, answer before asked) — First: "101 curated cases is a deliberate choice, not a shortcut — the peer benchmark CWEval uses 119, the big auto-mined sets are mostly broken, and there's no existing JS/TS corpus that fits, since Juliet and OWASP Benchmark are C, C++, and Java." Second: "There's no cloud-LLM baseline by design — a cloud model would break the privacy threat model the thesis is built on, so the three SAST tools set the local floor instead."  → defuses "101 is too small / why not Juliet?" (QA_PREP A.1, A.3) and "why no GPT-4 baseline?" (QA_PREP B.2)</a:t>
            </a:r>
          </a:p>
          <a:p>
            <a:pPr>
              <a:spcAft>
                <a:spcPts val="400"/>
              </a:spcAft>
            </a:pPr>
            <a:r>
              <a:rPr sz="1100" b="1">
                <a:solidFill>
                  <a:srgbClr val="1A1F36"/>
                </a:solidFill>
                <a:latin typeface="Calibri"/>
              </a:rPr>
              <a:t>TRANSITION</a:t>
            </a:r>
            <a:r>
              <a:rPr sz="1100" b="0">
                <a:solidFill>
                  <a:srgbClr val="1A1F36"/>
                </a:solidFill>
                <a:latin typeface="Calibri"/>
              </a:rPr>
              <a:t> — "Four headline numbers, one per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14 — Results  ·  [70 s]</a:t>
            </a:r>
          </a:p>
          <a:p>
            <a:pPr>
              <a:spcAft>
                <a:spcPts val="400"/>
              </a:spcAft>
            </a:pPr>
            <a:r>
              <a:rPr sz="1100" b="1">
                <a:solidFill>
                  <a:srgbClr val="1A1F36"/>
                </a:solidFill>
                <a:latin typeface="Calibri"/>
              </a:rPr>
              <a:t>VOICE</a:t>
            </a:r>
            <a:r>
              <a:rPr sz="1100" b="0">
                <a:solidFill>
                  <a:srgbClr val="1A1F36"/>
                </a:solidFill>
                <a:latin typeface="Calibri"/>
              </a:rPr>
              <a:t> (land each number briefly; save the detail for the next four slides)</a:t>
            </a:r>
          </a:p>
          <a:p>
            <a:pPr>
              <a:spcAft>
                <a:spcPts val="400"/>
              </a:spcAft>
            </a:pPr>
            <a:r>
              <a:rPr sz="1100" b="0">
                <a:solidFill>
                  <a:srgbClr val="1A1F36"/>
                </a:solidFill>
                <a:latin typeface="Calibri"/>
              </a:rPr>
              <a:t>"Four numbers. One per requirement.</a:t>
            </a:r>
          </a:p>
          <a:p>
            <a:pPr>
              <a:spcAft>
                <a:spcPts val="400"/>
              </a:spcAft>
            </a:pPr>
            <a:r>
              <a:rPr sz="1100" b="0">
                <a:solidFill>
                  <a:srgbClr val="1A1F36"/>
                </a:solidFill>
                <a:latin typeface="Calibri"/>
              </a:rPr>
              <a:t>Detection: an F1 of </a:t>
            </a:r>
            <a:r>
              <a:rPr sz="1100" b="1">
                <a:solidFill>
                  <a:srgbClr val="1A1F36"/>
                </a:solidFill>
                <a:latin typeface="Calibri"/>
              </a:rPr>
              <a:t>71.43 percent</a:t>
            </a:r>
            <a:r>
              <a:rPr sz="1100" b="0">
                <a:solidFill>
                  <a:srgbClr val="1A1F36"/>
                </a:solidFill>
                <a:latin typeface="Calibri"/>
              </a:rPr>
              <a:t> — the balance between precision and recall — from qwen3:8b with RAG. And it travels — 61.11 on code I held back during tuning, 63.64 on outside projects I had no hand in.</a:t>
            </a:r>
          </a:p>
          <a:p>
            <a:pPr>
              <a:spcAft>
                <a:spcPts val="400"/>
              </a:spcAft>
            </a:pPr>
            <a:r>
              <a:rPr sz="1100" b="0">
                <a:solidFill>
                  <a:srgbClr val="1A1F36"/>
                </a:solidFill>
                <a:latin typeface="Calibri"/>
              </a:rPr>
              <a:t>Repair: </a:t>
            </a:r>
            <a:r>
              <a:rPr sz="1100" b="1">
                <a:solidFill>
                  <a:srgbClr val="1A1F36"/>
                </a:solidFill>
                <a:latin typeface="Calibri"/>
              </a:rPr>
              <a:t>90.32 percent</a:t>
            </a:r>
            <a:r>
              <a:rPr sz="1100" b="0">
                <a:solidFill>
                  <a:srgbClr val="1A1F36"/>
                </a:solidFill>
                <a:latin typeface="Calibri"/>
              </a:rPr>
              <a:t> auto-applicable — the fix parses and applies cleanly — with combined semantic correctness around 68 percent.</a:t>
            </a:r>
          </a:p>
          <a:p>
            <a:pPr>
              <a:spcAft>
                <a:spcPts val="400"/>
              </a:spcAft>
            </a:pPr>
            <a:r>
              <a:rPr sz="1100" b="0">
                <a:solidFill>
                  <a:srgbClr val="1A1F36"/>
                </a:solidFill>
                <a:latin typeface="Calibri"/>
              </a:rPr>
              <a:t>Latency: a median of </a:t>
            </a:r>
            <a:r>
              <a:rPr sz="1100" b="1">
                <a:solidFill>
                  <a:srgbClr val="1A1F36"/>
                </a:solidFill>
                <a:latin typeface="Calibri"/>
              </a:rPr>
              <a:t>2.2 seconds</a:t>
            </a:r>
            <a:r>
              <a:rPr sz="1100" b="0">
                <a:solidFill>
                  <a:srgbClr val="1A1F36"/>
                </a:solidFill>
                <a:latin typeface="Calibri"/>
              </a:rPr>
              <a:t>, well inside the on-demand band.</a:t>
            </a:r>
          </a:p>
          <a:p>
            <a:pPr>
              <a:spcAft>
                <a:spcPts val="400"/>
              </a:spcAft>
            </a:pPr>
            <a:r>
              <a:rPr sz="1100" b="0">
                <a:solidFill>
                  <a:srgbClr val="1A1F36"/>
                </a:solidFill>
                <a:latin typeface="Calibri"/>
              </a:rPr>
              <a:t>Privacy: </a:t>
            </a:r>
            <a:r>
              <a:rPr sz="1100" b="1">
                <a:solidFill>
                  <a:srgbClr val="1A1F36"/>
                </a:solidFill>
                <a:latin typeface="Calibri"/>
              </a:rPr>
              <a:t>leak-free</a:t>
            </a:r>
            <a:r>
              <a:rPr sz="1100" b="0">
                <a:solidFill>
                  <a:srgbClr val="1A1F36"/>
                </a:solidFill>
                <a:latin typeface="Calibri"/>
              </a:rPr>
              <a:t> across all 12 injection attempts.</a:t>
            </a:r>
          </a:p>
          <a:p>
            <a:pPr>
              <a:spcAft>
                <a:spcPts val="400"/>
              </a:spcAft>
            </a:pPr>
            <a:r>
              <a:rPr sz="1100" b="0">
                <a:solidFill>
                  <a:srgbClr val="1A1F36"/>
                </a:solidFill>
                <a:latin typeface="Calibri"/>
              </a:rPr>
              <a:t>And along the bottom, R2 — consistency. 100 percent valid JSON across all 3,030 invocations. But the runs share a seed, so that agreement reflects determinism, not robustness. I say so plainly rather than dress it up.</a:t>
            </a:r>
          </a:p>
          <a:p>
            <a:pPr>
              <a:spcAft>
                <a:spcPts val="400"/>
              </a:spcAft>
            </a:pPr>
            <a:r>
              <a:rPr sz="1100" b="0">
                <a:solidFill>
                  <a:srgbClr val="1A1F36"/>
                </a:solidFill>
                <a:latin typeface="Calibri"/>
              </a:rPr>
              <a:t>Each of these four gets its own slide next. R2 stays in the appendix."</a:t>
            </a:r>
          </a:p>
          <a:p>
            <a:pPr>
              <a:spcAft>
                <a:spcPts val="400"/>
              </a:spcAft>
            </a:pPr>
            <a:r>
              <a:rPr sz="1100" b="1">
                <a:solidFill>
                  <a:srgbClr val="1A1F36"/>
                </a:solidFill>
                <a:latin typeface="Calibri"/>
              </a:rPr>
              <a:t>COLOUR NOTE</a:t>
            </a:r>
            <a:r>
              <a:rPr sz="1100" b="0">
                <a:solidFill>
                  <a:srgbClr val="1A1F36"/>
                </a:solidFill>
                <a:latin typeface="Calibri"/>
              </a:rPr>
              <a:t> (optional — only if you want to point at the card colours) — each card is tinted by its requirement band from the A8 scale: repair, latency, and privacy land </a:t>
            </a:r>
            <a:r>
              <a:rPr sz="1100" b="1">
                <a:solidFill>
                  <a:srgbClr val="1A1F36"/>
                </a:solidFill>
                <a:latin typeface="Calibri"/>
              </a:rPr>
              <a:t>green (High / met)</a:t>
            </a:r>
            <a:r>
              <a:rPr sz="1100" b="0">
                <a:solidFill>
                  <a:srgbClr val="1A1F36"/>
                </a:solidFill>
                <a:latin typeface="Calibri"/>
              </a:rPr>
              <a:t>, and detection is </a:t>
            </a:r>
            <a:r>
              <a:rPr sz="1100" b="1">
                <a:solidFill>
                  <a:srgbClr val="1A1F36"/>
                </a:solidFill>
                <a:latin typeface="Calibri"/>
              </a:rPr>
              <a:t>amber (Medium)</a:t>
            </a:r>
            <a:r>
              <a:rPr sz="1100" b="0">
                <a:solidFill>
                  <a:srgbClr val="1A1F36"/>
                </a:solidFill>
                <a:latin typeface="Calibri"/>
              </a:rPr>
              <a:t>. Don't over-explain it — but the single amber card quietly pre-figures the slide-21 admission that accuracy is the one area marked partial, not class-leading. The confidence-gate number (74.07) is no longer on this card; it lives on appendix A9.</a:t>
            </a:r>
          </a:p>
          <a:p>
            <a:pPr>
              <a:spcAft>
                <a:spcPts val="400"/>
              </a:spcAft>
            </a:pPr>
            <a:r>
              <a:rPr sz="1100" b="1">
                <a:solidFill>
                  <a:srgbClr val="1A1F36"/>
                </a:solidFill>
                <a:latin typeface="Calibri"/>
              </a:rPr>
              <a:t>TRANSITION</a:t>
            </a:r>
            <a:r>
              <a:rPr sz="1100" b="0">
                <a:solidFill>
                  <a:srgbClr val="1A1F36"/>
                </a:solidFill>
                <a:latin typeface="Calibri"/>
              </a:rPr>
              <a:t> — "Start with R1, detection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15 — R1 Detection Accuracy  ·  [95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"This is the main result. qwen3:8b with retrieval — the setup I recommend — run across all 101 cases.</a:t>
            </a:r>
          </a:p>
          <a:p>
            <a:pPr>
              <a:spcAft>
                <a:spcPts val="400"/>
              </a:spcAft>
            </a:pPr>
            <a:r>
              <a:rPr sz="1100" b="0">
                <a:solidFill>
                  <a:srgbClr val="1A1F36"/>
                </a:solidFill>
                <a:latin typeface="Calibri"/>
              </a:rPr>
              <a:t>The headline is an F1 of 71.43. In plain terms, that's two things at once. When it flags code, it's right about seven times in ten. And of all the real vulnerabilities in the set, it catches about seven in ten. The false-positive rate is ten percent — so roughly one safe snippet in ten gets a warning it doesn't need. In short: it finds most of the real bugs, and most of what it shows you is real.</a:t>
            </a:r>
          </a:p>
          <a:p>
            <a:pPr>
              <a:spcAft>
                <a:spcPts val="400"/>
              </a:spcAft>
            </a:pPr>
            <a:r>
              <a:rPr sz="1100" b="0">
                <a:solidFill>
                  <a:srgbClr val="1A1F36"/>
                </a:solidFill>
                <a:latin typeface="Calibri"/>
              </a:rPr>
              <a:t>Does that hold on code it hasn't seen? I checked two ways. On the cases I held back while tuning, it drops to 61. On a separate external set — real projects I had no hand in — it's about 64. So on unfamiliar code it sits in the low sixties, where recall gives ground but precision holds. That dip isn't a weakness. It's the reason you hold cases back in the first place — and the gap between curated and real-world code is a well-known pattern.</a:t>
            </a:r>
          </a:p>
          <a:p>
            <a:pPr>
              <a:spcAft>
                <a:spcPts val="400"/>
              </a:spcAft>
            </a:pPr>
            <a:r>
              <a:rPr sz="1100" b="0">
                <a:solidFill>
                  <a:srgbClr val="1A1F36"/>
                </a:solidFill>
                <a:latin typeface="Calibri"/>
              </a:rPr>
              <a:t>Now set that against what's already on a developer's machine. On the chart it scores 71. Semgrep, about 20. CodeQL, 11. ESLint, essentially zero. Even Semgrep, the strongest of the three, catches only about one in eight of these bugs. One point on fairness: I ran those tools one function at a time — the same narrow window the model gets — which understates their full-project recall. The details are in appendix A7."</a:t>
            </a:r>
          </a:p>
          <a:p>
            <a:pPr>
              <a:spcAft>
                <a:spcPts val="400"/>
              </a:spcAft>
            </a:pPr>
            <a:r>
              <a:rPr sz="1100" b="1">
                <a:solidFill>
                  <a:srgbClr val="1A1F36"/>
                </a:solidFill>
                <a:latin typeface="Calibri"/>
              </a:rPr>
              <a:t>RESERVE — confidence gate</a:t>
            </a:r>
            <a:r>
              <a:rPr sz="1100" b="0">
                <a:solidFill>
                  <a:srgbClr val="1A1F36"/>
                </a:solidFill>
                <a:latin typeface="Calibri"/>
              </a:rPr>
              <a:t> (eval-only; raise only if pressed on precision — it now lives on appendix A9, not the main slide) — "There's an optional rescore filter at 0.67: precision rises from 72 to 78 and F1 to 74, with recall unchanged. It drops the findings the model couldn't map to a category — six false positives here. It's eval-only, off in the shipped extension, and because the runs are seed-pinned it's a category filter, not run consensus. The full before-and-after is appendix A9."  → backs QA_PREP D.3 / G.1</a:t>
            </a:r>
          </a:p>
          <a:p>
            <a:pPr>
              <a:spcAft>
                <a:spcPts val="400"/>
              </a:spcAft>
            </a:pPr>
            <a:r>
              <a:rPr sz="1100" b="1">
                <a:solidFill>
                  <a:srgbClr val="1A1F36"/>
                </a:solidFill>
                <a:latin typeface="Calibri"/>
              </a:rPr>
              <a:t>PRE-EMPT</a:t>
            </a:r>
            <a:r>
              <a:rPr sz="1100" b="0">
                <a:solidFill>
                  <a:srgbClr val="1A1F36"/>
                </a:solidFill>
                <a:latin typeface="Calibri"/>
              </a:rPr>
              <a:t> (the fairness note in the VOICE is the pre-empt — don't skip it) — saying the SAST tools ran at the model's function-level scope, which understates their full-project recall, disarms the "your baselines are strawmen" attack before it's raised.  → defuses "ESLint scores 0 %, strawman" (QA_PREP B.5)</a:t>
            </a:r>
          </a:p>
          <a:p>
            <a:pPr>
              <a:spcAft>
                <a:spcPts val="400"/>
              </a:spcAft>
            </a:pPr>
            <a:r>
              <a:rPr sz="1100" b="1">
                <a:solidFill>
                  <a:srgbClr val="1A1F36"/>
                </a:solidFill>
                <a:latin typeface="Calibri"/>
              </a:rPr>
              <a:t>LIT-ANCHOR</a:t>
            </a:r>
            <a:r>
              <a:rPr sz="1100" b="0">
                <a:solidFill>
                  <a:srgbClr val="1A1F36"/>
                </a:solidFill>
                <a:latin typeface="Calibri"/>
              </a:rPr>
              <a:t> (reserve — drop only if the held-out drop is called a weakness) — "A review of over 300 works reports the same shape: detection looks strong on curated data and drops on real-world code. So 71 down to the low sixties isn't a crack — it's the field's normal." (Zhang et al., SLR 2024)  → frames the generalization gap; QA_PREP B.7</a:t>
            </a:r>
          </a:p>
          <a:p>
            <a:pPr>
              <a:spcAft>
                <a:spcPts val="400"/>
              </a:spcAft>
            </a:pPr>
            <a:r>
              <a:rPr sz="1100" b="1">
                <a:solidFill>
                  <a:srgbClr val="1A1F36"/>
                </a:solidFill>
                <a:latin typeface="Calibri"/>
              </a:rPr>
              <a:t>TRANSITION</a:t>
            </a:r>
            <a:r>
              <a:rPr sz="1100" b="0">
                <a:solidFill>
                  <a:srgbClr val="1A1F36"/>
                </a:solidFill>
                <a:latin typeface="Calibri"/>
              </a:rPr>
              <a:t> — "The second research question — does retrieval actually help — turned out more interesting than I expected."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16 — RAG Is Not a Uniform Win  ·  [90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"This is the second research question — whether retrieval actually helps — and the answer was more interesting than I expected.</a:t>
            </a:r>
          </a:p>
          <a:p>
            <a:pPr>
              <a:spcAft>
                <a:spcPts val="400"/>
              </a:spcAft>
            </a:pPr>
            <a:r>
              <a:rPr sz="1100" b="0">
                <a:solidFill>
                  <a:srgbClr val="1A1F36"/>
                </a:solidFill>
                <a:latin typeface="Calibri"/>
              </a:rPr>
              <a:t>The plan was simple: switch RAG on and get better detection across the board. Five models, two modes each, in a paired comparison measuring the change in F1 when RAG is enabled.</a:t>
            </a:r>
          </a:p>
          <a:p>
            <a:pPr>
              <a:spcAft>
                <a:spcPts val="400"/>
              </a:spcAft>
            </a:pPr>
            <a:r>
              <a:rPr sz="1100" b="0">
                <a:solidFill>
                  <a:srgbClr val="1A1F36"/>
                </a:solidFill>
                <a:latin typeface="Calibri"/>
              </a:rPr>
              <a:t>The results did not cooperate. qwen3:8b improved by </a:t>
            </a:r>
            <a:r>
              <a:rPr sz="1100" b="1">
                <a:solidFill>
                  <a:srgbClr val="1A1F36"/>
                </a:solidFill>
                <a:latin typeface="Calibri"/>
              </a:rPr>
              <a:t>3.91</a:t>
            </a:r>
            <a:r>
              <a:rPr sz="1100" b="0">
                <a:solidFill>
                  <a:srgbClr val="1A1F36"/>
                </a:solidFill>
                <a:latin typeface="Calibri"/>
              </a:rPr>
              <a:t>. The gemma models were essentially flat. qwen3:4b fell by </a:t>
            </a:r>
            <a:r>
              <a:rPr sz="1100" b="1">
                <a:solidFill>
                  <a:srgbClr val="1A1F36"/>
                </a:solidFill>
                <a:latin typeface="Calibri"/>
              </a:rPr>
              <a:t>5.22</a:t>
            </a:r>
            <a:r>
              <a:rPr sz="1100" b="0">
                <a:solidFill>
                  <a:srgbClr val="1A1F36"/>
                </a:solidFill>
                <a:latin typeface="Calibri"/>
              </a:rPr>
              <a:t>. And codellama fell by </a:t>
            </a:r>
            <a:r>
              <a:rPr sz="1100" b="1">
                <a:solidFill>
                  <a:srgbClr val="1A1F36"/>
                </a:solidFill>
                <a:latin typeface="Calibri"/>
              </a:rPr>
              <a:t>29.89</a:t>
            </a:r>
            <a:r>
              <a:rPr sz="1100" b="0">
                <a:solidFill>
                  <a:srgbClr val="1A1F36"/>
                </a:solidFill>
                <a:latin typeface="Calibri"/>
              </a:rPr>
              <a:t> — the single largest effect in the whole study, and it pointed the wrong way.</a:t>
            </a:r>
          </a:p>
          <a:p>
            <a:pPr>
              <a:spcAft>
                <a:spcPts val="400"/>
              </a:spcAft>
            </a:pPr>
            <a:r>
              <a:rPr sz="1100" b="0">
                <a:solidFill>
                  <a:srgbClr val="1A1F36"/>
                </a:solidFill>
                <a:latin typeface="Calibri"/>
              </a:rPr>
              <a:t>So the question is whether that is real. Only codellama's drop survives Bonferroni at alpha 0.01, with McNemar p equal to 0.0013. It is a genuine effect, not noise.</a:t>
            </a:r>
          </a:p>
          <a:p>
            <a:pPr>
              <a:spcAft>
                <a:spcPts val="400"/>
              </a:spcAft>
            </a:pPr>
            <a:r>
              <a:rPr sz="1100" b="0">
                <a:solidFill>
                  <a:srgbClr val="1A1F36"/>
                </a:solidFill>
                <a:latin typeface="Calibri"/>
              </a:rPr>
              <a:t>The error profile explains why it broke that way. With retrieval on, qwen3 treats the retrieved examples as a reference page, and its false alarms fall from one in two down to one in ten. The very same text does the opposite to codellama: handed a prompt full of vulnerability descriptions, the weaker model starts to see vulnerabilities everywhere — it flags almost everything and catches fewer real bugs than before. The same corpus produces opposite results, and the difference is whether the model can treat that extra context as a reference or simply drowns in it. A stronger model checks against it; a weaker one loses the actual code in the noise.</a:t>
            </a:r>
          </a:p>
          <a:p>
            <a:pPr>
              <a:spcAft>
                <a:spcPts val="400"/>
              </a:spcAft>
            </a:pPr>
            <a:r>
              <a:rPr sz="1100" b="0">
                <a:solidFill>
                  <a:srgbClr val="1A1F36"/>
                </a:solidFill>
                <a:latin typeface="Calibri"/>
              </a:rPr>
              <a:t>That changes the lesson. Retrieval is not a free upgrade; it is a per-model choice. And the field agrees. RESCUE, in 2025, found that naive RAG did not significantly help secure generation, blaming noise in the raw retrieved text that drowned the signal, and two 2025 systematic reviews report the same pattern — retrieved context helps some setups and hurts others, depending on the model."</a:t>
            </a:r>
          </a:p>
          <a:p>
            <a:pPr>
              <a:spcAft>
                <a:spcPts val="400"/>
              </a:spcAft>
            </a:pPr>
            <a:r>
              <a:rPr sz="1100" b="1">
                <a:solidFill>
                  <a:srgbClr val="1A1F36"/>
                </a:solidFill>
                <a:latin typeface="Calibri"/>
              </a:rPr>
              <a:t>PRE-EMPT</a:t>
            </a:r>
            <a:r>
              <a:rPr sz="1100" b="0">
                <a:solidFill>
                  <a:srgbClr val="1A1F36"/>
                </a:solidFill>
                <a:latin typeface="Calibri"/>
              </a:rPr>
              <a:t> (this whole slide is a pre-empt — lean into it) — volunteering that retrieval can hurt, and that only the codellama drop survives a strict Bonferroni correction, shows the finding is disciplined rather than cherry-picked. Stating it yourself is far stronger than conceding it under questioning.  → defuses "your RAG hurts / is this significant?" (QA_PREP C.1, G.1)</a:t>
            </a:r>
          </a:p>
          <a:p>
            <a:pPr>
              <a:spcAft>
                <a:spcPts val="400"/>
              </a:spcAft>
            </a:pPr>
            <a:r>
              <a:rPr sz="1100" b="1">
                <a:solidFill>
                  <a:srgbClr val="1A1F36"/>
                </a:solidFill>
                <a:latin typeface="Calibri"/>
              </a:rPr>
              <a:t>TRANSITION</a:t>
            </a:r>
            <a:r>
              <a:rPr sz="1100" b="0">
                <a:solidFill>
                  <a:srgbClr val="1A1F36"/>
                </a:solidFill>
                <a:latin typeface="Calibri"/>
              </a:rPr>
              <a:t> — "Next, R3, repair quality."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17 — R3 Repair Quality  ·  [95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"Repair quality is measured two ways — one automatic, one by hand. The slide is split to match.</a:t>
            </a:r>
          </a:p>
          <a:p>
            <a:pPr>
              <a:spcAft>
                <a:spcPts val="400"/>
              </a:spcAft>
            </a:pPr>
            <a:r>
              <a:rPr sz="1100" b="0">
                <a:solidFill>
                  <a:srgbClr val="1A1F36"/>
                </a:solidFill>
                <a:latin typeface="Calibri"/>
              </a:rPr>
              <a:t>The left half is the automatic measure, and it's the main number. Every fix the model writes goes through the Babel parser before you see it. The parser confirms the fix is valid code the editor can insert as a one-click Quick Fix. Out of 279 fixes, 252 passed — 90.32 percent. There were 18 more calls where the model returned no fix at all; count those against the total of 297 and the rate is 84.85 percent.</a:t>
            </a:r>
          </a:p>
          <a:p>
            <a:pPr>
              <a:spcAft>
                <a:spcPts val="400"/>
              </a:spcAft>
            </a:pPr>
            <a:r>
              <a:rPr sz="1100" b="0">
                <a:solidFill>
                  <a:srgbClr val="1A1F36"/>
                </a:solidFill>
                <a:latin typeface="Calibri"/>
              </a:rPr>
              <a:t>Why is this the main number? Two reasons. It's objective — the parser decides, not a person. And it covers every fix, not a sample.</a:t>
            </a:r>
          </a:p>
          <a:p>
            <a:pPr>
              <a:spcAft>
                <a:spcPts val="400"/>
              </a:spcAft>
            </a:pPr>
            <a:r>
              <a:rPr sz="1100" b="0">
                <a:solidFill>
                  <a:srgbClr val="1A1F36"/>
                </a:solidFill>
                <a:latin typeface="Calibri"/>
              </a:rPr>
              <a:t>The right half is a manual review. I read 25 repairs by hand and scored them against a rubric. A fix was offered in 76 percent of cases. Of the fixes offered, 89.5 percent correctly address the vulnerability, and 94.7 percent use the right approach. Taken together, about 68 percent of cases got a fix that was both offered and correct.</a:t>
            </a:r>
          </a:p>
          <a:p>
            <a:pPr>
              <a:spcAft>
                <a:spcPts val="400"/>
              </a:spcAft>
            </a:pPr>
            <a:r>
              <a:rPr sz="1100" b="0">
                <a:solidFill>
                  <a:srgbClr val="1A1F36"/>
                </a:solidFill>
                <a:latin typeface="Calibri"/>
              </a:rPr>
              <a:t>One score on the right looks low — only 42 percent run exactly as they are. That doesn't contradict the 90 percent, because the two measure different things. 'Applies' means the fix is valid code the editor can insert. 'Runs as is' means the fix is a complete program on its own. Most fixes are a small patch meant to sit inside your function, not a whole file — so they apply cleanly even though they wouldn't run by themselves. Take a SQL-injection fix: the model swaps a string-built query for a parameterized one — two lines that slot straight into your function. The editor inserts them cleanly, so they count toward the 90. But lift those same two lines out and run them on their own, and they fail — they reference a database handle and an id that only exist in the surrounding function. A correct fix, just not a standalone program.</a:t>
            </a:r>
          </a:p>
          <a:p>
            <a:pPr>
              <a:spcAft>
                <a:spcPts val="400"/>
              </a:spcAft>
            </a:pPr>
            <a:r>
              <a:rPr sz="1100" b="0">
                <a:solidFill>
                  <a:srgbClr val="1A1F36"/>
                </a:solidFill>
                <a:latin typeface="Calibri"/>
              </a:rPr>
              <a:t>So there are two levels, and the thesis reports both. The automatic number shows whether a fix can be applied. The manual review shows whether a developer can rely on it. That review is one reviewer on 25 cases — so it supports the result rather than leading it."</a:t>
            </a:r>
          </a:p>
          <a:p>
            <a:pPr>
              <a:spcAft>
                <a:spcPts val="400"/>
              </a:spcAft>
            </a:pPr>
            <a:r>
              <a:rPr sz="1100" b="1">
                <a:solidFill>
                  <a:srgbClr val="1A1F36"/>
                </a:solidFill>
                <a:latin typeface="Calibri"/>
              </a:rPr>
              <a:t>PRE-EMPT</a:t>
            </a:r>
            <a:r>
              <a:rPr sz="1100" b="0">
                <a:solidFill>
                  <a:srgbClr val="1A1F36"/>
                </a:solidFill>
                <a:latin typeface="Calibri"/>
              </a:rPr>
              <a:t> (fold into the flow) — "One thing to state plainly: auto-applicable means the fix parses and applies, not that it is proven secure. That is why both bars are on the slide — the automatic one for whether a fix applies, the manual one for whether it is correct."  → defuses "single reviewer n = 25 / repair rate too high" (QA_PREP D.1, D.3)</a:t>
            </a:r>
          </a:p>
          <a:p>
            <a:pPr>
              <a:spcAft>
                <a:spcPts val="400"/>
              </a:spcAft>
            </a:pPr>
            <a:r>
              <a:rPr sz="1100" b="1">
                <a:solidFill>
                  <a:srgbClr val="1A1F36"/>
                </a:solidFill>
                <a:latin typeface="Calibri"/>
              </a:rPr>
              <a:t>TRANSITION</a:t>
            </a:r>
            <a:r>
              <a:rPr sz="1100" b="0">
                <a:solidFill>
                  <a:srgbClr val="1A1F36"/>
                </a:solidFill>
                <a:latin typeface="Calibri"/>
              </a:rPr>
              <a:t> — "R4, usability — which latency band does this actually fall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18 — R4 Usability: Latency Bands  ·  [80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"Three latency bands, fixed before evaluation. Real-time — under 500 milliseconds — is the SAST band, not the model's. Interactive — under 1.5 seconds — is met by gemma3:1b with RAG at 1,019 milliseconds, and qwen3:4b with RAG at 1,328. And on-demand — under 5 seconds — is where the headline qwen3:8b with RAG lands: 2,216 milliseconds, with the 95th percentile at 4,327. Comfortably inside.</a:t>
            </a:r>
          </a:p>
          <a:p>
            <a:pPr>
              <a:spcAft>
                <a:spcPts val="400"/>
              </a:spcAft>
            </a:pPr>
            <a:r>
              <a:rPr sz="1100" b="0">
                <a:solidFill>
                  <a:srgbClr val="1A1F36"/>
                </a:solidFill>
                <a:latin typeface="Calibri"/>
              </a:rPr>
              <a:t>A real product picks the band per workflow. Inline-diagnostic mode runs a 4B model. On-demand and audit modes run the 8B."</a:t>
            </a:r>
          </a:p>
          <a:p>
            <a:pPr>
              <a:spcAft>
                <a:spcPts val="400"/>
              </a:spcAft>
            </a:pPr>
            <a:r>
              <a:rPr sz="1100" b="1">
                <a:solidFill>
                  <a:srgbClr val="1A1F36"/>
                </a:solidFill>
                <a:latin typeface="Calibri"/>
              </a:rPr>
              <a:t>PRE-EMPT</a:t>
            </a:r>
            <a:r>
              <a:rPr sz="1100" b="0">
                <a:solidFill>
                  <a:srgbClr val="1A1F36"/>
                </a:solidFill>
                <a:latin typeface="Calibri"/>
              </a:rPr>
              <a:t> (fold into the flow — answers a question before it's asked) — "Real-time under 500 milliseconds is deliberately out of scope for the LLM — that band belongs to SAST. Framing it that way up front makes 2.2 seconds read as on-target, not slow."  → defuses "2.2 s is too slow" (QA_PREP E.1)</a:t>
            </a:r>
          </a:p>
          <a:p>
            <a:pPr>
              <a:spcAft>
                <a:spcPts val="400"/>
              </a:spcAft>
            </a:pPr>
            <a:r>
              <a:rPr sz="1100" b="1">
                <a:solidFill>
                  <a:srgbClr val="1A1F36"/>
                </a:solidFill>
                <a:latin typeface="Calibri"/>
              </a:rPr>
              <a:t>TRANSITION</a:t>
            </a:r>
            <a:r>
              <a:rPr sz="1100" b="0">
                <a:solidFill>
                  <a:srgbClr val="1A1F36"/>
                </a:solidFill>
                <a:latin typeface="Calibri"/>
              </a:rPr>
              <a:t> — "R5, privacy."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19 — R5 Privacy: Empirically Verified  ·  [70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"Same four arms from the architecture — but now each one carries a measurement, not just a claim.</a:t>
            </a:r>
          </a:p>
          <a:p>
            <a:pPr>
              <a:spcAft>
                <a:spcPts val="400"/>
              </a:spcAft>
            </a:pPr>
            <a:r>
              <a:rPr sz="1100" b="0">
                <a:solidFill>
                  <a:srgbClr val="1A1F36"/>
                </a:solidFill>
                <a:latin typeface="Calibri"/>
              </a:rPr>
              <a:t>The network arm. The policy allows loopback only, so a non-loopback connection can't even open. A source-leak scan corroborates it: it breaks the corpus into more than nine thousand small text fingerprints, then watches for any of those byte-sequences trying to leave the machine. It found none.</a:t>
            </a:r>
          </a:p>
          <a:p>
            <a:pPr>
              <a:spcAft>
                <a:spcPts val="400"/>
              </a:spcAft>
            </a:pPr>
            <a:r>
              <a:rPr sz="1100" b="0">
                <a:solidFill>
                  <a:srgbClr val="1A1F36"/>
                </a:solidFill>
                <a:latin typeface="Calibri"/>
              </a:rPr>
              <a:t>The injection arm. Twelve crafted attempts to make the model leak. All twelve, leak-free. The slide also carries a stricter number, answering a different question — did the model return a clean, well-formed reply? There the result is 83 percent, ten of twelve. The other two didn't leak; they just went silent, returning an empty response instead of a proper refusal. So the worst case was the model saying nothing — not the model leaking.</a:t>
            </a:r>
          </a:p>
          <a:p>
            <a:pPr>
              <a:spcAft>
                <a:spcPts val="400"/>
              </a:spcAft>
            </a:pPr>
            <a:r>
              <a:rPr sz="1100" b="0">
                <a:solidFill>
                  <a:srgbClr val="1A1F36"/>
                </a:solidFill>
                <a:latin typeface="Calibri"/>
              </a:rPr>
              <a:t>The provenance arm. The corpus's Ed25519 signature is verified on every load. Tampering makes it fail closed.</a:t>
            </a:r>
          </a:p>
          <a:p>
            <a:pPr>
              <a:spcAft>
                <a:spcPts val="400"/>
              </a:spcAft>
            </a:pPr>
            <a:r>
              <a:rPr sz="1100" b="0">
                <a:solidFill>
                  <a:srgbClr val="1A1F36"/>
                </a:solidFill>
                <a:latin typeface="Calibri"/>
              </a:rPr>
              <a:t>The reproducibility arm. The pinned container gives byte-identical runs — Node 20.19-alpine, npm ci, seed 42.</a:t>
            </a:r>
          </a:p>
          <a:p>
            <a:pPr>
              <a:spcAft>
                <a:spcPts val="400"/>
              </a:spcAft>
            </a:pPr>
            <a:r>
              <a:rPr sz="1100" b="0">
                <a:solidFill>
                  <a:srgbClr val="1A1F36"/>
                </a:solidFill>
                <a:latin typeface="Calibri"/>
              </a:rPr>
              <a:t>And the cost is modest. The harness stays under a hundred megabytes of RAM. Ollama is the heavy part — 6 to 8 gigabytes for an 8B model."</a:t>
            </a:r>
          </a:p>
          <a:p>
            <a:pPr>
              <a:spcAft>
                <a:spcPts val="400"/>
              </a:spcAft>
            </a:pPr>
            <a:r>
              <a:rPr sz="1100" b="1">
                <a:solidFill>
                  <a:srgbClr val="1A1F36"/>
                </a:solidFill>
                <a:latin typeface="Calibri"/>
              </a:rPr>
              <a:t>TRANSITION</a:t>
            </a:r>
            <a:r>
              <a:rPr sz="1100" b="0">
                <a:solidFill>
                  <a:srgbClr val="1A1F36"/>
                </a:solidFill>
                <a:latin typeface="Calibri"/>
              </a:rPr>
              <a:t> — "What does all of this add up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20 — What the Evaluation Showed  ·  [90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"So what did all that measurement actually show? Four things.</a:t>
            </a:r>
          </a:p>
          <a:p>
            <a:pPr>
              <a:spcAft>
                <a:spcPts val="400"/>
              </a:spcAft>
            </a:pPr>
            <a:r>
              <a:rPr sz="1100" b="0">
                <a:solidFill>
                  <a:srgbClr val="1A1F36"/>
                </a:solidFill>
                <a:latin typeface="Calibri"/>
              </a:rPr>
              <a:t>First — </a:t>
            </a:r>
            <a:r>
              <a:rPr sz="1100" b="1">
                <a:solidFill>
                  <a:srgbClr val="1A1F36"/>
                </a:solidFill>
                <a:latin typeface="Calibri"/>
              </a:rPr>
              <a:t>a local 8B model is enough</a:t>
            </a:r>
            <a:r>
              <a:rPr sz="1100" b="0">
                <a:solidFill>
                  <a:srgbClr val="1A1F36"/>
                </a:solidFill>
                <a:latin typeface="Calibri"/>
              </a:rPr>
              <a:t>. qwen3:8b with RAG reaches about 71 percent F1 on JavaScript and TypeScript, inside the on-demand band, on a laptop. You don't pay for privacy with quality.</a:t>
            </a:r>
          </a:p>
          <a:p>
            <a:pPr>
              <a:spcAft>
                <a:spcPts val="400"/>
              </a:spcAft>
            </a:pPr>
            <a:r>
              <a:rPr sz="1100" b="0">
                <a:solidFill>
                  <a:srgbClr val="1A1F36"/>
                </a:solidFill>
                <a:latin typeface="Calibri"/>
              </a:rPr>
              <a:t>Second — </a:t>
            </a:r>
            <a:r>
              <a:rPr sz="1100" b="1">
                <a:solidFill>
                  <a:srgbClr val="1A1F36"/>
                </a:solidFill>
                <a:latin typeface="Calibri"/>
              </a:rPr>
              <a:t>retrieval depends on the model</a:t>
            </a:r>
            <a:r>
              <a:rPr sz="1100" b="0">
                <a:solidFill>
                  <a:srgbClr val="1A1F36"/>
                </a:solidFill>
                <a:latin typeface="Calibri"/>
              </a:rPr>
              <a:t>. It's not a universal win. The largest single effect in the whole study is RAG making things worse — codellama, at minus 29.89. That one result is enough to rewrite the rule.</a:t>
            </a:r>
          </a:p>
          <a:p>
            <a:pPr>
              <a:spcAft>
                <a:spcPts val="400"/>
              </a:spcAft>
            </a:pPr>
            <a:r>
              <a:rPr sz="1100" b="0">
                <a:solidFill>
                  <a:srgbClr val="1A1F36"/>
                </a:solidFill>
                <a:latin typeface="Calibri"/>
              </a:rPr>
              <a:t>Third — </a:t>
            </a:r>
            <a:r>
              <a:rPr sz="1100" b="1">
                <a:solidFill>
                  <a:srgbClr val="1A1F36"/>
                </a:solidFill>
                <a:latin typeface="Calibri"/>
              </a:rPr>
              <a:t>repair is the real gap</a:t>
            </a:r>
            <a:r>
              <a:rPr sz="1100" b="0">
                <a:solidFill>
                  <a:srgbClr val="1A1F36"/>
                </a:solidFill>
                <a:latin typeface="Calibri"/>
              </a:rPr>
              <a:t>. Ninety percent auto-applicable means you can act, not just be warned. That's the one thing the local scanners cannot do.</a:t>
            </a:r>
          </a:p>
          <a:p>
            <a:pPr>
              <a:spcAft>
                <a:spcPts val="400"/>
              </a:spcAft>
            </a:pPr>
            <a:r>
              <a:rPr sz="1100" b="0">
                <a:solidFill>
                  <a:srgbClr val="1A1F36"/>
                </a:solidFill>
                <a:latin typeface="Calibri"/>
              </a:rPr>
              <a:t>Fourth — </a:t>
            </a:r>
            <a:r>
              <a:rPr sz="1100" b="1">
                <a:solidFill>
                  <a:srgbClr val="1A1F36"/>
                </a:solidFill>
                <a:latin typeface="Calibri"/>
              </a:rPr>
              <a:t>privacy is something you can test</a:t>
            </a:r>
            <a:r>
              <a:rPr sz="1100" b="0">
                <a:solidFill>
                  <a:srgbClr val="1A1F36"/>
                </a:solidFill>
                <a:latin typeface="Calibri"/>
              </a:rPr>
              <a:t>. Loopback, a signed corpus, a pinned container — they make 'leak-free' a measurement, not a slogan.</a:t>
            </a:r>
          </a:p>
          <a:p>
            <a:pPr>
              <a:spcAft>
                <a:spcPts val="400"/>
              </a:spcAft>
            </a:pPr>
            <a:r>
              <a:rPr sz="1100" b="0">
                <a:solidFill>
                  <a:srgbClr val="1A1F36"/>
                </a:solidFill>
                <a:latin typeface="Calibri"/>
              </a:rPr>
              <a:t>And the three questions from the start are answered. RQ1: yes — 71.43 F1 under the privacy envelope. RQ2: yes, but per-model. RQ3: yes — 2.2 seconds, on-demand."</a:t>
            </a:r>
          </a:p>
          <a:p>
            <a:pPr>
              <a:spcAft>
                <a:spcPts val="400"/>
              </a:spcAft>
            </a:pPr>
            <a:r>
              <a:rPr sz="1100" b="1">
                <a:solidFill>
                  <a:srgbClr val="1A1F36"/>
                </a:solidFill>
                <a:latin typeface="Calibri"/>
              </a:rPr>
              <a:t>TRANSITION</a:t>
            </a:r>
            <a:r>
              <a:rPr sz="1100" b="0">
                <a:solidFill>
                  <a:srgbClr val="1A1F36"/>
                </a:solidFill>
                <a:latin typeface="Calibri"/>
              </a:rPr>
              <a:t> — "So where does that leave Code Guardian against the gap I opened with?"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21 — Code Guardian Closes the Gap  ·  [55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"Recall the trade I opened with — send your code away, or work almost unprotected. This is the same matrix from the start, now with one row added at the bottom.</a:t>
            </a:r>
          </a:p>
          <a:p>
            <a:pPr>
              <a:spcAft>
                <a:spcPts val="400"/>
              </a:spcAft>
            </a:pPr>
            <a:r>
              <a:rPr sz="1100" b="0">
                <a:solidFill>
                  <a:srgbClr val="1A1F36"/>
                </a:solidFill>
                <a:latin typeface="Calibri"/>
              </a:rPr>
              <a:t>Privacy is met. Repair is met — and that's the column every other local tool leaves empty. Usability sits inside the band. Consistency holds.</a:t>
            </a:r>
          </a:p>
          <a:p>
            <a:pPr>
              <a:spcAft>
                <a:spcPts val="400"/>
              </a:spcAft>
            </a:pPr>
            <a:r>
              <a:rPr sz="1100" b="0">
                <a:solidFill>
                  <a:srgbClr val="1A1F36"/>
                </a:solidFill>
                <a:latin typeface="Calibri"/>
              </a:rPr>
              <a:t>Accuracy I've marked partial, not top — and that's deliberate. 71 percent F1 is the Medium band: competitive under these constraints, but not class-leading. So the claim isn't that the tool is best at everything. It's something narrower, and more useful. This is the one approach that brings privacy, repair, and IDE-grade speed together. And in doing so, it refuses the trade no developer should have to make."</a:t>
            </a:r>
          </a:p>
          <a:p>
            <a:pPr>
              <a:spcAft>
                <a:spcPts val="400"/>
              </a:spcAft>
            </a:pPr>
            <a:r>
              <a:rPr sz="1100" b="1">
                <a:solidFill>
                  <a:srgbClr val="1A1F36"/>
                </a:solidFill>
                <a:latin typeface="Calibri"/>
              </a:rPr>
              <a:t>TRANSITION</a:t>
            </a:r>
            <a:r>
              <a:rPr sz="1100" b="0">
                <a:solidFill>
                  <a:srgbClr val="1A1F36"/>
                </a:solidFill>
                <a:latin typeface="Calibri"/>
              </a:rPr>
              <a:t> — "Now the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22 — Limitations &amp; Future Work  ·  [95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"Now the honest part — and it's on one slide, because every limitation points straight at a piece of future work. Limitations on the left. Where each one leads, on the right.</a:t>
            </a:r>
          </a:p>
          <a:p>
            <a:pPr>
              <a:spcAft>
                <a:spcPts val="400"/>
              </a:spcAft>
            </a:pPr>
            <a:r>
              <a:rPr sz="1100" b="0">
                <a:solidFill>
                  <a:srgbClr val="1A1F36"/>
                </a:solidFill>
                <a:latin typeface="Calibri"/>
              </a:rPr>
              <a:t>Five limitations, stated in the open. First — the manual repair review was one reviewer on 25 cases. A single informed judgment, not a consensus. Second — the corpus is 101 curated cases; I guard against that bias four ways: the held-out split, the external 15-case set, the NodeGoat whole-project run, and the signed-manifest provenance. Third — only one real-world project was run end to end, NodeGoat, and one project can't prove the system generalizes. Fourth — the consensus filter does nothing under deterministic decoding, since three runs at seed 42 are byte-identical. And fifth — there's no cloud-LLM baseline, ruled out by the privacy threat model, so the three SAST tools set the floor instead.</a:t>
            </a:r>
          </a:p>
          <a:p>
            <a:pPr>
              <a:spcAft>
                <a:spcPts val="400"/>
              </a:spcAft>
            </a:pPr>
            <a:r>
              <a:rPr sz="1100" b="0">
                <a:solidFill>
                  <a:srgbClr val="1A1F36"/>
                </a:solidFill>
                <a:latin typeface="Calibri"/>
              </a:rPr>
              <a:t>And each one has a next step. Rotating the seeds would let the consensus filter do real work. A second rater would strengthen the manual review. Validation across more projects would test generalization. Streaming partial results would reach the real-time band. And gating retrieval per model follows directly from slide 16. None of these are loose ends — they're the roadmap the evaluation wrote for itself."</a:t>
            </a:r>
          </a:p>
          <a:p>
            <a:pPr>
              <a:spcAft>
                <a:spcPts val="400"/>
              </a:spcAft>
            </a:pPr>
            <a:r>
              <a:rPr sz="1100" b="1">
                <a:solidFill>
                  <a:srgbClr val="1A1F36"/>
                </a:solidFill>
                <a:latin typeface="Calibri"/>
              </a:rPr>
              <a:t>TRANSITION</a:t>
            </a:r>
            <a:r>
              <a:rPr sz="1100" b="0">
                <a:solidFill>
                  <a:srgbClr val="1A1F36"/>
                </a:solidFill>
                <a:latin typeface="Calibri"/>
              </a:rPr>
              <a:t> — "Now the contributions."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23 — Contributions of This Thesis  ·  [70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"Five contributions. The first is a working VS Code extension — local model, RAG, signed corpus, pinned container — published to the Marketplace, so any developer can install it today. The second is a two-stage pipeline with a structured JSON contract at every boundary, covering detection and repair. The third is an empirical study: five models, two modes, and three SAST baselines, at 303 invocations per configuration, on a CWE-mapped JavaScript and TypeScript corpus. The fourth is reproducibility infrastructure — byte-identical runs, a signed manifest, and a pinned Node container — so anyone can re-run the study and get the same numbers. And the fifth is statistical discipline: Bonferroni-corrected McNemar, exact-binomial intervals, and a held-out test split."</a:t>
            </a:r>
          </a:p>
          <a:p>
            <a:pPr>
              <a:spcAft>
                <a:spcPts val="400"/>
              </a:spcAft>
            </a:pPr>
            <a:r>
              <a:rPr sz="1100" b="1">
                <a:solidFill>
                  <a:srgbClr val="1A1F36"/>
                </a:solidFill>
                <a:latin typeface="Calibri"/>
              </a:rPr>
              <a:t>TRANSITION</a:t>
            </a:r>
            <a:r>
              <a:rPr sz="1100" b="0">
                <a:solidFill>
                  <a:srgbClr val="1A1F36"/>
                </a:solidFill>
                <a:latin typeface="Calibri"/>
              </a:rPr>
              <a:t> — "Those are the contributions; the key references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24 — References  ·  [10 s]</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"These are the main sources — the foundation models and RAG, the academic LLM-for-security comparators, and the standards the corpus maps against. I'll leave this up for a moment."</a:t>
            </a:r>
          </a:p>
          <a:p>
            <a:pPr>
              <a:spcAft>
                <a:spcPts val="400"/>
              </a:spcAft>
            </a:pPr>
            <a:r>
              <a:rPr sz="1100" b="0">
                <a:solidFill>
                  <a:srgbClr val="1A1F36"/>
                </a:solidFill>
                <a:latin typeface="Calibri"/>
              </a:rPr>
              <a:t>(Don't read the list. Advance once the panel has had a moment.)</a:t>
            </a:r>
          </a:p>
          <a:p>
            <a:pPr>
              <a:spcAft>
                <a:spcPts val="400"/>
              </a:spcAft>
            </a:pPr>
            <a:r>
              <a:rPr sz="1100" b="1">
                <a:solidFill>
                  <a:srgbClr val="1A1F36"/>
                </a:solidFill>
                <a:latin typeface="Calibri"/>
              </a:rPr>
              <a:t>TRANSITION</a:t>
            </a:r>
            <a:r>
              <a:rPr sz="1100" b="0">
                <a:solidFill>
                  <a:srgbClr val="1A1F36"/>
                </a:solidFill>
                <a:latin typeface="Calibri"/>
              </a:rPr>
              <a:t> — "Thank you. I'd be glad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200">
                <a:latin typeface="Calibri"/>
              </a:rPr>
              <a:t>Slide 25 — Thank You  ·  [Q&amp;A — 20 min]</a:t>
            </a:r>
          </a:p>
          <a:p>
            <a:pPr>
              <a:spcAft>
                <a:spcPts val="400"/>
              </a:spcAft>
            </a:pPr>
            <a:r>
              <a:rPr sz="1100" b="1">
                <a:solidFill>
                  <a:srgbClr val="1A1F36"/>
                </a:solidFill>
                <a:latin typeface="Calibri"/>
              </a:rPr>
              <a:t>VOICE</a:t>
            </a:r>
          </a:p>
          <a:p>
            <a:pPr>
              <a:spcAft>
                <a:spcPts val="400"/>
              </a:spcAft>
            </a:pPr>
            <a:r>
              <a:rPr sz="1100" b="0">
                <a:solidFill>
                  <a:srgbClr val="1A1F36"/>
                </a:solidFill>
                <a:latin typeface="Calibri"/>
              </a:rPr>
              <a:t>"Recall the opening: you, the bank's code, and today's trade — send your code away, or work almost unprotected. Code Guardian refuses that trade. The code stays on your machine, you get the finding, and you get the fix.</a:t>
            </a:r>
          </a:p>
          <a:p>
            <a:pPr>
              <a:spcAft>
                <a:spcPts val="400"/>
              </a:spcAft>
            </a:pPr>
            <a:r>
              <a:rPr sz="1100" b="0">
                <a:solidFill>
                  <a:srgbClr val="1A1F36"/>
                </a:solidFill>
                <a:latin typeface="Calibri"/>
              </a:rPr>
              <a:t>Four numbers hold it together: F1 71.43, repair 90.32, latency 2.2 seconds, and leak-free on the harness. Thank you. I would be glad to take your questions."</a:t>
            </a:r>
          </a:p>
          <a:p>
            <a:pPr>
              <a:spcAft>
                <a:spcPts val="400"/>
              </a:spcAft>
            </a:pPr>
            <a:r>
              <a:rPr sz="1100" b="0">
                <a:solidFill>
                  <a:srgbClr val="1A1F36"/>
                </a:solidFill>
                <a:latin typeface="Calibri"/>
              </a:rPr>
              <a:t>(Stop talking. Look at the panel. Wait.)</a:t>
            </a:r>
          </a:p>
          <a:p>
            <a:pPr>
              <a:spcAft>
                <a:spcPts val="400"/>
              </a:spcAft>
            </a:pPr>
            <a:r>
              <a:rPr sz="1100" b="1">
                <a:solidFill>
                  <a:srgbClr val="1A1F36"/>
                </a:solidFill>
                <a:latin typeface="Calibri"/>
              </a:rPr>
              <a:t>During Q&amp;A (you have a full 20 minutes — slow down, answer properly):</a:t>
            </a:r>
          </a:p>
          <a:p>
            <a:pPr>
              <a:spcAft>
                <a:spcPts val="400"/>
              </a:spcAft>
            </a:pPr>
            <a:r>
              <a:rPr sz="1100" b="0">
                <a:solidFill>
                  <a:srgbClr val="1A1F36"/>
                </a:solidFill>
                <a:latin typeface="Calibri"/>
              </a:rPr>
              <a:t>- Briefly restate the question in your reframe. It confirms you understood and buys thinking time.</a:t>
            </a:r>
          </a:p>
          <a:p>
            <a:pPr>
              <a:spcAft>
                <a:spcPts val="400"/>
              </a:spcAft>
            </a:pPr>
            <a:r>
              <a:rPr sz="1100" b="0">
                <a:solidFill>
                  <a:srgbClr val="1A1F36"/>
                </a:solidFill>
                <a:latin typeface="Calibri"/>
              </a:rPr>
              <a:t>- With 20 minutes you can give a full answer and then open the matching appendix slide — put A1–A7 on the projector when it helps.</a:t>
            </a:r>
          </a:p>
          <a:p>
            <a:pPr>
              <a:spcAft>
                <a:spcPts val="400"/>
              </a:spcAft>
            </a:pPr>
            <a:r>
              <a:rPr sz="1100" b="0">
                <a:solidFill>
                  <a:srgbClr val="1A1F36"/>
                </a:solidFill>
                <a:latin typeface="Calibri"/>
              </a:rPr>
              <a:t>- Use the QA_PREP structure: Frame → Anchor (one number) → Concede (the smallest honest limit). Aim for ~60–90 s per answer; you're not racing the clock.</a:t>
            </a:r>
          </a:p>
          <a:p>
            <a:pPr>
              <a:spcAft>
                <a:spcPts val="400"/>
              </a:spcAft>
            </a:pPr>
            <a:r>
              <a:rPr sz="1100" b="0">
                <a:solidFill>
                  <a:srgbClr val="1A1F36"/>
                </a:solidFill>
                <a:latin typeface="Calibri"/>
              </a:rPr>
              <a:t>- It's fine to pause and think. Silence reads as care, not weakness.</a:t>
            </a:r>
          </a:p>
          <a:p>
            <a:pPr>
              <a:spcAft>
                <a:spcPts val="400"/>
              </a:spcAft>
            </a:pPr>
            <a:r>
              <a:rPr sz="1100" b="0">
                <a:solidFill>
                  <a:srgbClr val="1A1F36"/>
                </a:solidFill>
                <a:latin typeface="Calibri"/>
              </a:rPr>
              <a:t>- Don't apologise. Don't say "good question." Just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1.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1.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2.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640080"/>
            <a:ext cx="36576" cy="457200"/>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94360"/>
            <a:ext cx="7315200" cy="457200"/>
          </a:xfrm>
          <a:prstGeom prst="rect">
            <a:avLst/>
          </a:prstGeom>
          <a:noFill/>
        </p:spPr>
        <p:txBody>
          <a:bodyPr wrap="square" lIns="73152" rIns="73152" tIns="36576" bIns="36576" anchor="t">
            <a:spAutoFit/>
          </a:bodyPr>
          <a:lstStyle/>
          <a:p>
            <a:pPr algn="l"/>
            <a:r>
              <a:rPr sz="1200" b="1" i="0">
                <a:solidFill>
                  <a:srgbClr val="FFFFFF"/>
                </a:solidFill>
                <a:latin typeface="Calibri"/>
              </a:rPr>
              <a:t>TECHNICAL UNIVERSITY OF CHEMNITZ</a:t>
            </a:r>
          </a:p>
        </p:txBody>
      </p:sp>
      <p:sp>
        <p:nvSpPr>
          <p:cNvPr id="5" name="TextBox 4"/>
          <p:cNvSpPr txBox="1"/>
          <p:nvPr/>
        </p:nvSpPr>
        <p:spPr>
          <a:xfrm>
            <a:off x="8716975" y="502920"/>
            <a:ext cx="2926080" cy="640080"/>
          </a:xfrm>
          <a:prstGeom prst="rect">
            <a:avLst/>
          </a:prstGeom>
          <a:noFill/>
        </p:spPr>
        <p:txBody>
          <a:bodyPr wrap="square" lIns="73152" rIns="73152" tIns="36576" bIns="36576" anchor="t">
            <a:spAutoFit/>
          </a:bodyPr>
          <a:lstStyle/>
          <a:p>
            <a:pPr algn="r"/>
            <a:r>
              <a:rPr sz="2000" b="1" i="0">
                <a:solidFill>
                  <a:srgbClr val="FFFFFF"/>
                </a:solidFill>
                <a:latin typeface="Calibri"/>
              </a:rPr>
              <a:t>CODE GUARDIAN</a:t>
            </a:r>
          </a:p>
        </p:txBody>
      </p:sp>
      <p:sp>
        <p:nvSpPr>
          <p:cNvPr id="6" name="TextBox 5"/>
          <p:cNvSpPr txBox="1"/>
          <p:nvPr/>
        </p:nvSpPr>
        <p:spPr>
          <a:xfrm>
            <a:off x="777240" y="1828800"/>
            <a:ext cx="10637215" cy="1828800"/>
          </a:xfrm>
          <a:prstGeom prst="rect">
            <a:avLst/>
          </a:prstGeom>
          <a:noFill/>
        </p:spPr>
        <p:txBody>
          <a:bodyPr wrap="square" lIns="73152" rIns="73152" tIns="36576" bIns="36576" anchor="t">
            <a:spAutoFit/>
          </a:bodyPr>
          <a:lstStyle/>
          <a:p>
            <a:pPr algn="l"/>
            <a:r>
              <a:rPr sz="4400" b="1" i="0">
                <a:solidFill>
                  <a:srgbClr val="FFFFFF"/>
                </a:solidFill>
                <a:latin typeface="Calibri"/>
              </a:rPr>
              <a:t>Privacy-Preserving Source Code</a:t>
            </a:r>
          </a:p>
          <a:p>
            <a:pPr algn="l"/>
            <a:r>
              <a:rPr sz="4400" b="1" i="0">
                <a:solidFill>
                  <a:srgbClr val="FFFFFF"/>
                </a:solidFill>
                <a:latin typeface="Calibri"/>
              </a:rPr>
              <a:t>Vulnerability Detection &amp; Repair</a:t>
            </a:r>
          </a:p>
        </p:txBody>
      </p:sp>
      <p:sp>
        <p:nvSpPr>
          <p:cNvPr id="7" name="TextBox 6"/>
          <p:cNvSpPr txBox="1"/>
          <p:nvPr/>
        </p:nvSpPr>
        <p:spPr>
          <a:xfrm>
            <a:off x="777240" y="3657600"/>
            <a:ext cx="10637215" cy="731520"/>
          </a:xfrm>
          <a:prstGeom prst="rect">
            <a:avLst/>
          </a:prstGeom>
          <a:noFill/>
        </p:spPr>
        <p:txBody>
          <a:bodyPr wrap="square" lIns="73152" rIns="73152" tIns="36576" bIns="36576" anchor="t">
            <a:spAutoFit/>
          </a:bodyPr>
          <a:lstStyle/>
          <a:p>
            <a:pPr algn="l"/>
            <a:r>
              <a:rPr sz="2000" b="0" i="0">
                <a:solidFill>
                  <a:srgbClr val="C8D0E0"/>
                </a:solidFill>
                <a:latin typeface="Calibri"/>
              </a:rPr>
              <a:t>Retrieval-Augmented LLMs for Visual Studio Code</a:t>
            </a:r>
          </a:p>
        </p:txBody>
      </p:sp>
      <p:sp>
        <p:nvSpPr>
          <p:cNvPr id="8" name="TextBox 7"/>
          <p:cNvSpPr txBox="1"/>
          <p:nvPr/>
        </p:nvSpPr>
        <p:spPr>
          <a:xfrm>
            <a:off x="777240" y="5029200"/>
            <a:ext cx="3566160" cy="256032"/>
          </a:xfrm>
          <a:prstGeom prst="rect">
            <a:avLst/>
          </a:prstGeom>
          <a:noFill/>
        </p:spPr>
        <p:txBody>
          <a:bodyPr wrap="square" lIns="73152" rIns="73152" tIns="36576" bIns="36576" anchor="t">
            <a:spAutoFit/>
          </a:bodyPr>
          <a:lstStyle/>
          <a:p>
            <a:pPr algn="l"/>
            <a:r>
              <a:rPr sz="900" b="1" i="0">
                <a:solidFill>
                  <a:srgbClr val="FCA311"/>
                </a:solidFill>
                <a:latin typeface="Calibri"/>
              </a:rPr>
              <a:t>PRESENTED BY</a:t>
            </a:r>
          </a:p>
        </p:txBody>
      </p:sp>
      <p:sp>
        <p:nvSpPr>
          <p:cNvPr id="9" name="TextBox 8"/>
          <p:cNvSpPr txBox="1"/>
          <p:nvPr/>
        </p:nvSpPr>
        <p:spPr>
          <a:xfrm>
            <a:off x="777240" y="5303520"/>
            <a:ext cx="3566160" cy="292608"/>
          </a:xfrm>
          <a:prstGeom prst="rect">
            <a:avLst/>
          </a:prstGeom>
          <a:noFill/>
        </p:spPr>
        <p:txBody>
          <a:bodyPr wrap="square" lIns="73152" rIns="73152" tIns="36576" bIns="36576" anchor="t">
            <a:spAutoFit/>
          </a:bodyPr>
          <a:lstStyle/>
          <a:p>
            <a:pPr algn="l"/>
            <a:r>
              <a:rPr sz="1200" b="1" i="1">
                <a:solidFill>
                  <a:srgbClr val="FFFFFF"/>
                </a:solidFill>
                <a:latin typeface="Calibri"/>
              </a:rPr>
              <a:t>Md Hafizur Rahman</a:t>
            </a:r>
          </a:p>
        </p:txBody>
      </p:sp>
      <p:sp>
        <p:nvSpPr>
          <p:cNvPr id="10" name="TextBox 9"/>
          <p:cNvSpPr txBox="1"/>
          <p:nvPr/>
        </p:nvSpPr>
        <p:spPr>
          <a:xfrm>
            <a:off x="777240" y="5596128"/>
            <a:ext cx="3566160" cy="292608"/>
          </a:xfrm>
          <a:prstGeom prst="rect">
            <a:avLst/>
          </a:prstGeom>
          <a:noFill/>
        </p:spPr>
        <p:txBody>
          <a:bodyPr wrap="square" lIns="73152" rIns="73152" tIns="36576" bIns="36576" anchor="t">
            <a:spAutoFit/>
          </a:bodyPr>
          <a:lstStyle/>
          <a:p>
            <a:pPr algn="l"/>
            <a:r>
              <a:rPr sz="1000" b="0" i="1">
                <a:solidFill>
                  <a:srgbClr val="C8D0E0"/>
                </a:solidFill>
                <a:latin typeface="Calibri"/>
              </a:rPr>
              <a:t>Mat. No. 810641  ·  M.Sc. Web Engineering</a:t>
            </a:r>
          </a:p>
        </p:txBody>
      </p:sp>
      <p:sp>
        <p:nvSpPr>
          <p:cNvPr id="11" name="TextBox 10"/>
          <p:cNvSpPr txBox="1"/>
          <p:nvPr/>
        </p:nvSpPr>
        <p:spPr>
          <a:xfrm>
            <a:off x="4480560" y="5029200"/>
            <a:ext cx="3566160" cy="256032"/>
          </a:xfrm>
          <a:prstGeom prst="rect">
            <a:avLst/>
          </a:prstGeom>
          <a:noFill/>
        </p:spPr>
        <p:txBody>
          <a:bodyPr wrap="square" lIns="73152" rIns="73152" tIns="36576" bIns="36576" anchor="t">
            <a:spAutoFit/>
          </a:bodyPr>
          <a:lstStyle/>
          <a:p>
            <a:pPr algn="l"/>
            <a:r>
              <a:rPr sz="900" b="1" i="0">
                <a:solidFill>
                  <a:srgbClr val="FCA311"/>
                </a:solidFill>
                <a:latin typeface="Calibri"/>
              </a:rPr>
              <a:t>SUPERVISOR</a:t>
            </a:r>
          </a:p>
        </p:txBody>
      </p:sp>
      <p:sp>
        <p:nvSpPr>
          <p:cNvPr id="12" name="TextBox 11"/>
          <p:cNvSpPr txBox="1"/>
          <p:nvPr/>
        </p:nvSpPr>
        <p:spPr>
          <a:xfrm>
            <a:off x="4480560" y="5303520"/>
            <a:ext cx="3566160" cy="292608"/>
          </a:xfrm>
          <a:prstGeom prst="rect">
            <a:avLst/>
          </a:prstGeom>
          <a:noFill/>
        </p:spPr>
        <p:txBody>
          <a:bodyPr wrap="square" lIns="73152" rIns="73152" tIns="36576" bIns="36576" anchor="t">
            <a:spAutoFit/>
          </a:bodyPr>
          <a:lstStyle/>
          <a:p>
            <a:pPr algn="l"/>
            <a:r>
              <a:rPr sz="1200" b="1" i="1">
                <a:solidFill>
                  <a:srgbClr val="FFFFFF"/>
                </a:solidFill>
                <a:latin typeface="Calibri"/>
              </a:rPr>
              <a:t>Abubaker Gaber  (Internal)</a:t>
            </a:r>
          </a:p>
        </p:txBody>
      </p:sp>
      <p:sp>
        <p:nvSpPr>
          <p:cNvPr id="13" name="TextBox 12"/>
          <p:cNvSpPr txBox="1"/>
          <p:nvPr/>
        </p:nvSpPr>
        <p:spPr>
          <a:xfrm>
            <a:off x="8183880" y="5029200"/>
            <a:ext cx="3566160" cy="256032"/>
          </a:xfrm>
          <a:prstGeom prst="rect">
            <a:avLst/>
          </a:prstGeom>
          <a:noFill/>
        </p:spPr>
        <p:txBody>
          <a:bodyPr wrap="square" lIns="73152" rIns="73152" tIns="36576" bIns="36576" anchor="t">
            <a:spAutoFit/>
          </a:bodyPr>
          <a:lstStyle/>
          <a:p>
            <a:pPr algn="l"/>
            <a:r>
              <a:rPr sz="900" b="1" i="0">
                <a:solidFill>
                  <a:srgbClr val="FCA311"/>
                </a:solidFill>
                <a:latin typeface="Calibri"/>
              </a:rPr>
              <a:t>EXAMINER</a:t>
            </a:r>
          </a:p>
        </p:txBody>
      </p:sp>
      <p:sp>
        <p:nvSpPr>
          <p:cNvPr id="14" name="TextBox 13"/>
          <p:cNvSpPr txBox="1"/>
          <p:nvPr/>
        </p:nvSpPr>
        <p:spPr>
          <a:xfrm>
            <a:off x="8183880" y="5303520"/>
            <a:ext cx="3566160" cy="292608"/>
          </a:xfrm>
          <a:prstGeom prst="rect">
            <a:avLst/>
          </a:prstGeom>
          <a:noFill/>
        </p:spPr>
        <p:txBody>
          <a:bodyPr wrap="square" lIns="73152" rIns="73152" tIns="36576" bIns="36576" anchor="t">
            <a:spAutoFit/>
          </a:bodyPr>
          <a:lstStyle/>
          <a:p>
            <a:pPr algn="l"/>
            <a:r>
              <a:rPr sz="1200" b="1" i="1">
                <a:solidFill>
                  <a:srgbClr val="FFFFFF"/>
                </a:solidFill>
                <a:latin typeface="Calibri"/>
              </a:rPr>
              <a:t>Dr.-Ing. Sebastian Heil</a:t>
            </a:r>
          </a:p>
        </p:txBody>
      </p:sp>
      <p:sp>
        <p:nvSpPr>
          <p:cNvPr id="15" name="TextBox 14"/>
          <p:cNvSpPr txBox="1"/>
          <p:nvPr/>
        </p:nvSpPr>
        <p:spPr>
          <a:xfrm>
            <a:off x="8183880" y="5669280"/>
            <a:ext cx="3566160" cy="256032"/>
          </a:xfrm>
          <a:prstGeom prst="rect">
            <a:avLst/>
          </a:prstGeom>
          <a:noFill/>
        </p:spPr>
        <p:txBody>
          <a:bodyPr wrap="square" lIns="73152" rIns="73152" tIns="36576" bIns="36576" anchor="t">
            <a:spAutoFit/>
          </a:bodyPr>
          <a:lstStyle/>
          <a:p>
            <a:pPr algn="l"/>
            <a:r>
              <a:rPr sz="900" b="1" i="0">
                <a:solidFill>
                  <a:srgbClr val="FCA311"/>
                </a:solidFill>
                <a:latin typeface="Calibri"/>
              </a:rPr>
              <a:t>DATE</a:t>
            </a:r>
          </a:p>
        </p:txBody>
      </p:sp>
      <p:sp>
        <p:nvSpPr>
          <p:cNvPr id="16" name="TextBox 15"/>
          <p:cNvSpPr txBox="1"/>
          <p:nvPr/>
        </p:nvSpPr>
        <p:spPr>
          <a:xfrm>
            <a:off x="8183880" y="5943600"/>
            <a:ext cx="3566160" cy="292608"/>
          </a:xfrm>
          <a:prstGeom prst="rect">
            <a:avLst/>
          </a:prstGeom>
          <a:noFill/>
        </p:spPr>
        <p:txBody>
          <a:bodyPr wrap="square" lIns="73152" rIns="73152" tIns="36576" bIns="36576" anchor="t">
            <a:spAutoFit/>
          </a:bodyPr>
          <a:lstStyle/>
          <a:p>
            <a:pPr algn="l"/>
            <a:r>
              <a:rPr sz="1200" b="1" i="1">
                <a:solidFill>
                  <a:srgbClr val="FFFFFF"/>
                </a:solidFill>
                <a:latin typeface="Calibri"/>
              </a:rPr>
              <a:t>June 16,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The Developer's Dilemma</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 / 25</a:t>
            </a:r>
          </a:p>
        </p:txBody>
      </p:sp>
      <p:sp>
        <p:nvSpPr>
          <p:cNvPr id="10" name="Rounded Rectangle 9"/>
          <p:cNvSpPr/>
          <p:nvPr/>
        </p:nvSpPr>
        <p:spPr>
          <a:xfrm>
            <a:off x="457200" y="1783080"/>
            <a:ext cx="5501487" cy="2194560"/>
          </a:xfrm>
          <a:prstGeom prst="roundRect">
            <a:avLst>
              <a:gd name="adj" fmla="val 6000"/>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856232"/>
            <a:ext cx="5501487" cy="21214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ud-red.png"/>
          <p:cNvPicPr>
            <a:picLocks noChangeAspect="1"/>
          </p:cNvPicPr>
          <p:nvPr/>
        </p:nvPicPr>
        <p:blipFill>
          <a:blip r:embed="rId2"/>
          <a:stretch>
            <a:fillRect/>
          </a:stretch>
        </p:blipFill>
        <p:spPr>
          <a:xfrm>
            <a:off x="658368" y="2002536"/>
            <a:ext cx="384048" cy="384048"/>
          </a:xfrm>
          <a:prstGeom prst="rect">
            <a:avLst/>
          </a:prstGeom>
        </p:spPr>
      </p:pic>
      <p:sp>
        <p:nvSpPr>
          <p:cNvPr id="13" name="TextBox 12"/>
          <p:cNvSpPr txBox="1"/>
          <p:nvPr/>
        </p:nvSpPr>
        <p:spPr>
          <a:xfrm>
            <a:off x="1188720" y="1965960"/>
            <a:ext cx="4568799" cy="457200"/>
          </a:xfrm>
          <a:prstGeom prst="rect">
            <a:avLst/>
          </a:prstGeom>
          <a:noFill/>
        </p:spPr>
        <p:txBody>
          <a:bodyPr wrap="square" lIns="73152" rIns="73152" tIns="36576" bIns="36576" anchor="ctr">
            <a:spAutoFit/>
          </a:bodyPr>
          <a:lstStyle/>
          <a:p>
            <a:pPr algn="l"/>
            <a:r>
              <a:rPr sz="1600" b="1" i="0">
                <a:solidFill>
                  <a:srgbClr val="0B1428"/>
                </a:solidFill>
                <a:latin typeface="Calibri"/>
              </a:rPr>
              <a:t>Can't use the cloud</a:t>
            </a:r>
          </a:p>
        </p:txBody>
      </p:sp>
      <p:sp>
        <p:nvSpPr>
          <p:cNvPr id="14" name="TextBox 13"/>
          <p:cNvSpPr txBox="1"/>
          <p:nvPr/>
        </p:nvSpPr>
        <p:spPr>
          <a:xfrm>
            <a:off x="658368" y="2532888"/>
            <a:ext cx="5099151" cy="1261872"/>
          </a:xfrm>
          <a:prstGeom prst="rect">
            <a:avLst/>
          </a:prstGeom>
          <a:noFill/>
        </p:spPr>
        <p:txBody>
          <a:bodyPr wrap="square" lIns="73152" rIns="73152" tIns="36576" bIns="36576" anchor="ctr">
            <a:spAutoFit/>
          </a:bodyPr>
          <a:lstStyle/>
          <a:p>
            <a:pPr algn="l"/>
            <a:r>
              <a:rPr sz="1300" b="0" i="0">
                <a:solidFill>
                  <a:srgbClr val="1A1F36"/>
                </a:solidFill>
                <a:latin typeface="Calibri"/>
              </a:rPr>
              <a:t>Sensitive code can't be pasted into a cloud model without breaking compliance.</a:t>
            </a:r>
          </a:p>
        </p:txBody>
      </p:sp>
      <p:sp>
        <p:nvSpPr>
          <p:cNvPr id="15" name="Rounded Rectangle 14"/>
          <p:cNvSpPr/>
          <p:nvPr/>
        </p:nvSpPr>
        <p:spPr>
          <a:xfrm>
            <a:off x="6233007" y="1783080"/>
            <a:ext cx="5501487" cy="2194560"/>
          </a:xfrm>
          <a:prstGeom prst="roundRect">
            <a:avLst>
              <a:gd name="adj" fmla="val 6000"/>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33007" y="1856232"/>
            <a:ext cx="5501487" cy="21214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earch-red.png"/>
          <p:cNvPicPr>
            <a:picLocks noChangeAspect="1"/>
          </p:cNvPicPr>
          <p:nvPr/>
        </p:nvPicPr>
        <p:blipFill>
          <a:blip r:embed="rId3"/>
          <a:stretch>
            <a:fillRect/>
          </a:stretch>
        </p:blipFill>
        <p:spPr>
          <a:xfrm>
            <a:off x="6434175" y="2002536"/>
            <a:ext cx="384048" cy="384048"/>
          </a:xfrm>
          <a:prstGeom prst="rect">
            <a:avLst/>
          </a:prstGeom>
        </p:spPr>
      </p:pic>
      <p:sp>
        <p:nvSpPr>
          <p:cNvPr id="18" name="TextBox 17"/>
          <p:cNvSpPr txBox="1"/>
          <p:nvPr/>
        </p:nvSpPr>
        <p:spPr>
          <a:xfrm>
            <a:off x="6964527" y="1965960"/>
            <a:ext cx="4568799" cy="457200"/>
          </a:xfrm>
          <a:prstGeom prst="rect">
            <a:avLst/>
          </a:prstGeom>
          <a:noFill/>
        </p:spPr>
        <p:txBody>
          <a:bodyPr wrap="square" lIns="73152" rIns="73152" tIns="36576" bIns="36576" anchor="ctr">
            <a:spAutoFit/>
          </a:bodyPr>
          <a:lstStyle/>
          <a:p>
            <a:pPr algn="l"/>
            <a:r>
              <a:rPr sz="1600" b="1" i="0">
                <a:solidFill>
                  <a:srgbClr val="0B1428"/>
                </a:solidFill>
                <a:latin typeface="Calibri"/>
              </a:rPr>
              <a:t>Scanners miss bugs</a:t>
            </a:r>
          </a:p>
        </p:txBody>
      </p:sp>
      <p:sp>
        <p:nvSpPr>
          <p:cNvPr id="19" name="TextBox 18"/>
          <p:cNvSpPr txBox="1"/>
          <p:nvPr/>
        </p:nvSpPr>
        <p:spPr>
          <a:xfrm>
            <a:off x="6434175" y="2532888"/>
            <a:ext cx="5099151" cy="1261872"/>
          </a:xfrm>
          <a:prstGeom prst="rect">
            <a:avLst/>
          </a:prstGeom>
          <a:noFill/>
        </p:spPr>
        <p:txBody>
          <a:bodyPr wrap="square" lIns="73152" rIns="73152" tIns="36576" bIns="36576" anchor="ctr">
            <a:spAutoFit/>
          </a:bodyPr>
          <a:lstStyle/>
          <a:p>
            <a:pPr algn="l"/>
            <a:r>
              <a:rPr sz="1300" b="0" i="0">
                <a:solidFill>
                  <a:srgbClr val="1A1F36"/>
                </a:solidFill>
                <a:latin typeface="Calibri"/>
              </a:rPr>
              <a:t>The local scanner keeps missing real vulnerabilities, so the bug reaches production.</a:t>
            </a:r>
          </a:p>
        </p:txBody>
      </p:sp>
      <p:sp>
        <p:nvSpPr>
          <p:cNvPr id="20" name="Rounded Rectangle 19"/>
          <p:cNvSpPr/>
          <p:nvPr/>
        </p:nvSpPr>
        <p:spPr>
          <a:xfrm>
            <a:off x="457200" y="4251960"/>
            <a:ext cx="5501487" cy="2194560"/>
          </a:xfrm>
          <a:prstGeom prst="roundRect">
            <a:avLst>
              <a:gd name="adj" fmla="val 6000"/>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 y="4325112"/>
            <a:ext cx="5501487" cy="21214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rench-red.png"/>
          <p:cNvPicPr>
            <a:picLocks noChangeAspect="1"/>
          </p:cNvPicPr>
          <p:nvPr/>
        </p:nvPicPr>
        <p:blipFill>
          <a:blip r:embed="rId4"/>
          <a:stretch>
            <a:fillRect/>
          </a:stretch>
        </p:blipFill>
        <p:spPr>
          <a:xfrm>
            <a:off x="658368" y="4471416"/>
            <a:ext cx="384048" cy="384048"/>
          </a:xfrm>
          <a:prstGeom prst="rect">
            <a:avLst/>
          </a:prstGeom>
        </p:spPr>
      </p:pic>
      <p:sp>
        <p:nvSpPr>
          <p:cNvPr id="23" name="TextBox 22"/>
          <p:cNvSpPr txBox="1"/>
          <p:nvPr/>
        </p:nvSpPr>
        <p:spPr>
          <a:xfrm>
            <a:off x="1188720" y="4434840"/>
            <a:ext cx="4568799" cy="457200"/>
          </a:xfrm>
          <a:prstGeom prst="rect">
            <a:avLst/>
          </a:prstGeom>
          <a:noFill/>
        </p:spPr>
        <p:txBody>
          <a:bodyPr wrap="square" lIns="73152" rIns="73152" tIns="36576" bIns="36576" anchor="ctr">
            <a:spAutoFit/>
          </a:bodyPr>
          <a:lstStyle/>
          <a:p>
            <a:pPr algn="l"/>
            <a:r>
              <a:rPr sz="1600" b="1" i="0">
                <a:solidFill>
                  <a:srgbClr val="0B1428"/>
                </a:solidFill>
                <a:latin typeface="Calibri"/>
              </a:rPr>
              <a:t>Warnings, no fixes</a:t>
            </a:r>
          </a:p>
        </p:txBody>
      </p:sp>
      <p:sp>
        <p:nvSpPr>
          <p:cNvPr id="24" name="TextBox 23"/>
          <p:cNvSpPr txBox="1"/>
          <p:nvPr/>
        </p:nvSpPr>
        <p:spPr>
          <a:xfrm>
            <a:off x="658368" y="5001768"/>
            <a:ext cx="5099151" cy="1261872"/>
          </a:xfrm>
          <a:prstGeom prst="rect">
            <a:avLst/>
          </a:prstGeom>
          <a:noFill/>
        </p:spPr>
        <p:txBody>
          <a:bodyPr wrap="square" lIns="73152" rIns="73152" tIns="36576" bIns="36576" anchor="ctr">
            <a:spAutoFit/>
          </a:bodyPr>
          <a:lstStyle/>
          <a:p>
            <a:pPr algn="l"/>
            <a:r>
              <a:rPr sz="1300" b="0" i="0">
                <a:solidFill>
                  <a:srgbClr val="1A1F36"/>
                </a:solidFill>
                <a:latin typeface="Calibri"/>
              </a:rPr>
              <a:t>When a scanner flags an issue it only warns. Writing the repair is still your job.</a:t>
            </a:r>
          </a:p>
        </p:txBody>
      </p:sp>
      <p:sp>
        <p:nvSpPr>
          <p:cNvPr id="25" name="Rounded Rectangle 24"/>
          <p:cNvSpPr/>
          <p:nvPr/>
        </p:nvSpPr>
        <p:spPr>
          <a:xfrm>
            <a:off x="6233007" y="4251960"/>
            <a:ext cx="5501487" cy="2194560"/>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mpass-light.png"/>
          <p:cNvPicPr>
            <a:picLocks noChangeAspect="1"/>
          </p:cNvPicPr>
          <p:nvPr/>
        </p:nvPicPr>
        <p:blipFill>
          <a:blip r:embed="rId5"/>
          <a:stretch>
            <a:fillRect/>
          </a:stretch>
        </p:blipFill>
        <p:spPr>
          <a:xfrm>
            <a:off x="6461607" y="4471416"/>
            <a:ext cx="402336" cy="402336"/>
          </a:xfrm>
          <a:prstGeom prst="rect">
            <a:avLst/>
          </a:prstGeom>
        </p:spPr>
      </p:pic>
      <p:sp>
        <p:nvSpPr>
          <p:cNvPr id="27" name="TextBox 26"/>
          <p:cNvSpPr txBox="1"/>
          <p:nvPr/>
        </p:nvSpPr>
        <p:spPr>
          <a:xfrm>
            <a:off x="7010247" y="4453128"/>
            <a:ext cx="4495647" cy="457200"/>
          </a:xfrm>
          <a:prstGeom prst="rect">
            <a:avLst/>
          </a:prstGeom>
          <a:noFill/>
        </p:spPr>
        <p:txBody>
          <a:bodyPr wrap="square" lIns="73152" rIns="73152" tIns="36576" bIns="36576" anchor="ctr">
            <a:spAutoFit/>
          </a:bodyPr>
          <a:lstStyle/>
          <a:p>
            <a:pPr algn="l"/>
            <a:r>
              <a:rPr sz="2000" b="1" i="0">
                <a:solidFill>
                  <a:srgbClr val="FFFFFF"/>
                </a:solidFill>
                <a:latin typeface="Calibri"/>
              </a:rPr>
              <a:t>What's the alternative?</a:t>
            </a:r>
          </a:p>
        </p:txBody>
      </p:sp>
      <p:sp>
        <p:nvSpPr>
          <p:cNvPr id="28" name="TextBox 27"/>
          <p:cNvSpPr txBox="1"/>
          <p:nvPr/>
        </p:nvSpPr>
        <p:spPr>
          <a:xfrm>
            <a:off x="6461607" y="5074920"/>
            <a:ext cx="5044287" cy="1143000"/>
          </a:xfrm>
          <a:prstGeom prst="rect">
            <a:avLst/>
          </a:prstGeom>
          <a:noFill/>
        </p:spPr>
        <p:txBody>
          <a:bodyPr wrap="square" lIns="73152" rIns="73152" tIns="36576" bIns="36576" anchor="ctr">
            <a:spAutoFit/>
          </a:bodyPr>
          <a:lstStyle/>
          <a:p>
            <a:pPr algn="l"/>
            <a:r>
              <a:rPr sz="1400" b="1" i="0">
                <a:solidFill>
                  <a:srgbClr val="FFFFFF"/>
                </a:solidFill>
                <a:latin typeface="Calibri"/>
              </a:rPr>
              <a:t>No tool today combines privacy, full coverage, and one-click repair. Closing that gap is what this thesis sets out to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Today You Pick: Send Code Away, or Get No Help</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3 / 25</a:t>
            </a:r>
          </a:p>
        </p:txBody>
      </p:sp>
      <p:sp>
        <p:nvSpPr>
          <p:cNvPr id="10" name="Rounded Rectangle 9"/>
          <p:cNvSpPr/>
          <p:nvPr/>
        </p:nvSpPr>
        <p:spPr>
          <a:xfrm>
            <a:off x="457200" y="2194560"/>
            <a:ext cx="5455767" cy="2743200"/>
          </a:xfrm>
          <a:prstGeom prst="roundRect">
            <a:avLst>
              <a:gd name="adj" fmla="val 6000"/>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2267712"/>
            <a:ext cx="5455767" cy="26700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ud-red.png"/>
          <p:cNvPicPr>
            <a:picLocks noChangeAspect="1"/>
          </p:cNvPicPr>
          <p:nvPr/>
        </p:nvPicPr>
        <p:blipFill>
          <a:blip r:embed="rId2"/>
          <a:stretch>
            <a:fillRect/>
          </a:stretch>
        </p:blipFill>
        <p:spPr>
          <a:xfrm>
            <a:off x="658368" y="2391156"/>
            <a:ext cx="384048" cy="384048"/>
          </a:xfrm>
          <a:prstGeom prst="rect">
            <a:avLst/>
          </a:prstGeom>
        </p:spPr>
      </p:pic>
      <p:sp>
        <p:nvSpPr>
          <p:cNvPr id="13" name="TextBox 12"/>
          <p:cNvSpPr txBox="1"/>
          <p:nvPr/>
        </p:nvSpPr>
        <p:spPr>
          <a:xfrm>
            <a:off x="1188720" y="2377440"/>
            <a:ext cx="4523079" cy="411480"/>
          </a:xfrm>
          <a:prstGeom prst="rect">
            <a:avLst/>
          </a:prstGeom>
          <a:noFill/>
        </p:spPr>
        <p:txBody>
          <a:bodyPr wrap="square" lIns="73152" rIns="73152" tIns="36576" bIns="36576" anchor="ctr">
            <a:spAutoFit/>
          </a:bodyPr>
          <a:lstStyle/>
          <a:p>
            <a:pPr algn="l"/>
            <a:r>
              <a:rPr sz="1600" b="1" i="0">
                <a:solidFill>
                  <a:srgbClr val="0B1428"/>
                </a:solidFill>
                <a:latin typeface="Calibri"/>
              </a:rPr>
              <a:t>Cloud LLM (Copilot, ChatGPT, Cursor)</a:t>
            </a:r>
          </a:p>
        </p:txBody>
      </p:sp>
      <p:sp>
        <p:nvSpPr>
          <p:cNvPr id="14" name="TextBox 13"/>
          <p:cNvSpPr txBox="1"/>
          <p:nvPr/>
        </p:nvSpPr>
        <p:spPr>
          <a:xfrm>
            <a:off x="658368" y="2898648"/>
            <a:ext cx="5053431" cy="1856232"/>
          </a:xfrm>
          <a:prstGeom prst="rect">
            <a:avLst/>
          </a:prstGeom>
          <a:noFill/>
        </p:spPr>
        <p:txBody>
          <a:bodyPr wrap="square" lIns="73152" rIns="73152" tIns="36576" bIns="36576" anchor="ctr">
            <a:spAutoFit/>
          </a:bodyPr>
          <a:lstStyle/>
          <a:p>
            <a:pPr algn="l"/>
            <a:r>
              <a:rPr sz="1400" b="0" i="0">
                <a:solidFill>
                  <a:srgbClr val="1A1F36"/>
                </a:solidFill>
                <a:latin typeface="Calibri"/>
              </a:rPr>
              <a:t>Source code crosses the network on every request.</a:t>
            </a:r>
          </a:p>
          <a:p>
            <a:pPr algn="l"/>
            <a:r>
              <a:rPr sz="1400" b="0" i="0">
                <a:solidFill>
                  <a:srgbClr val="1A1F36"/>
                </a:solidFill>
                <a:latin typeface="Calibri"/>
              </a:rPr>
              <a:t/>
            </a:r>
          </a:p>
          <a:p>
            <a:pPr algn="l"/>
            <a:r>
              <a:rPr sz="1400" b="0" i="0">
                <a:solidFill>
                  <a:srgbClr val="1A1F36"/>
                </a:solidFill>
                <a:latin typeface="Calibri"/>
              </a:rPr>
              <a:t>Blocked outright in finance, healthcare, defence,</a:t>
            </a:r>
          </a:p>
          <a:p>
            <a:pPr algn="l"/>
            <a:r>
              <a:rPr sz="1400" b="0" i="0">
                <a:solidFill>
                  <a:srgbClr val="1A1F36"/>
                </a:solidFill>
                <a:latin typeface="Calibri"/>
              </a:rPr>
              <a:t>and air-gapped environments.</a:t>
            </a:r>
          </a:p>
          <a:p>
            <a:pPr algn="l"/>
            <a:r>
              <a:rPr sz="1400" b="0" i="0">
                <a:solidFill>
                  <a:srgbClr val="1A1F36"/>
                </a:solidFill>
                <a:latin typeface="Calibri"/>
              </a:rPr>
              <a:t/>
            </a:r>
          </a:p>
          <a:p>
            <a:pPr algn="l"/>
            <a:r>
              <a:rPr sz="1400" b="0" i="0">
                <a:solidFill>
                  <a:srgbClr val="1A1F36"/>
                </a:solidFill>
                <a:latin typeface="Calibri"/>
              </a:rPr>
              <a:t>Strong reasoning · zero privacy guarantees.</a:t>
            </a:r>
          </a:p>
        </p:txBody>
      </p:sp>
      <p:sp>
        <p:nvSpPr>
          <p:cNvPr id="15" name="Rounded Rectangle 14"/>
          <p:cNvSpPr/>
          <p:nvPr/>
        </p:nvSpPr>
        <p:spPr>
          <a:xfrm>
            <a:off x="6278727" y="2194560"/>
            <a:ext cx="5455767" cy="2743200"/>
          </a:xfrm>
          <a:prstGeom prst="roundRect">
            <a:avLst>
              <a:gd name="adj" fmla="val 6000"/>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78727" y="2267712"/>
            <a:ext cx="5455767" cy="26700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earch-red.png"/>
          <p:cNvPicPr>
            <a:picLocks noChangeAspect="1"/>
          </p:cNvPicPr>
          <p:nvPr/>
        </p:nvPicPr>
        <p:blipFill>
          <a:blip r:embed="rId3"/>
          <a:stretch>
            <a:fillRect/>
          </a:stretch>
        </p:blipFill>
        <p:spPr>
          <a:xfrm>
            <a:off x="6479895" y="2391156"/>
            <a:ext cx="384048" cy="384048"/>
          </a:xfrm>
          <a:prstGeom prst="rect">
            <a:avLst/>
          </a:prstGeom>
        </p:spPr>
      </p:pic>
      <p:sp>
        <p:nvSpPr>
          <p:cNvPr id="18" name="TextBox 17"/>
          <p:cNvSpPr txBox="1"/>
          <p:nvPr/>
        </p:nvSpPr>
        <p:spPr>
          <a:xfrm>
            <a:off x="7010247" y="2377440"/>
            <a:ext cx="4523079" cy="411480"/>
          </a:xfrm>
          <a:prstGeom prst="rect">
            <a:avLst/>
          </a:prstGeom>
          <a:noFill/>
        </p:spPr>
        <p:txBody>
          <a:bodyPr wrap="square" lIns="73152" rIns="73152" tIns="36576" bIns="36576" anchor="ctr">
            <a:spAutoFit/>
          </a:bodyPr>
          <a:lstStyle/>
          <a:p>
            <a:pPr algn="l"/>
            <a:r>
              <a:rPr sz="1600" b="1" i="0">
                <a:solidFill>
                  <a:srgbClr val="0B1428"/>
                </a:solidFill>
                <a:latin typeface="Calibri"/>
              </a:rPr>
              <a:t>Local SAST (Semgrep, CodeQL, ESLint)</a:t>
            </a:r>
          </a:p>
        </p:txBody>
      </p:sp>
      <p:sp>
        <p:nvSpPr>
          <p:cNvPr id="19" name="TextBox 18"/>
          <p:cNvSpPr txBox="1"/>
          <p:nvPr/>
        </p:nvSpPr>
        <p:spPr>
          <a:xfrm>
            <a:off x="6479895" y="2898648"/>
            <a:ext cx="5053431" cy="1856232"/>
          </a:xfrm>
          <a:prstGeom prst="rect">
            <a:avLst/>
          </a:prstGeom>
          <a:noFill/>
        </p:spPr>
        <p:txBody>
          <a:bodyPr wrap="square" lIns="73152" rIns="73152" tIns="36576" bIns="36576" anchor="ctr">
            <a:spAutoFit/>
          </a:bodyPr>
          <a:lstStyle/>
          <a:p>
            <a:pPr algn="l"/>
            <a:r>
              <a:rPr sz="1400" b="0" i="0">
                <a:solidFill>
                  <a:srgbClr val="1A1F36"/>
                </a:solidFill>
                <a:latin typeface="Calibri"/>
              </a:rPr>
              <a:t>Stays local. Cannot reason across files or generate fixes.</a:t>
            </a:r>
          </a:p>
          <a:p>
            <a:pPr algn="l"/>
            <a:r>
              <a:rPr sz="1400" b="0" i="0">
                <a:solidFill>
                  <a:srgbClr val="1A1F36"/>
                </a:solidFill>
                <a:latin typeface="Calibri"/>
              </a:rPr>
              <a:t/>
            </a:r>
          </a:p>
          <a:p>
            <a:pPr algn="l"/>
            <a:r>
              <a:rPr sz="1400" b="0" i="0">
                <a:solidFill>
                  <a:srgbClr val="1A1F36"/>
                </a:solidFill>
                <a:latin typeface="Calibri"/>
              </a:rPr>
              <a:t>Semgrep canonical recall on our JS/TS corpus:  12.68 %</a:t>
            </a:r>
          </a:p>
          <a:p>
            <a:pPr algn="l"/>
            <a:r>
              <a:rPr sz="1400" b="0" i="0">
                <a:solidFill>
                  <a:srgbClr val="1A1F36"/>
                </a:solidFill>
                <a:latin typeface="Calibri"/>
              </a:rPr>
              <a:t/>
            </a:r>
          </a:p>
          <a:p>
            <a:pPr algn="l"/>
            <a:r>
              <a:rPr sz="1400" b="0" i="0">
                <a:solidFill>
                  <a:srgbClr val="1A1F36"/>
                </a:solidFill>
                <a:latin typeface="Calibri"/>
              </a:rPr>
              <a:t>Strong privacy · poor coverage · no repair.</a:t>
            </a:r>
          </a:p>
        </p:txBody>
      </p:sp>
      <p:sp>
        <p:nvSpPr>
          <p:cNvPr id="20" name="Rounded Rectangle 19"/>
          <p:cNvSpPr/>
          <p:nvPr/>
        </p:nvSpPr>
        <p:spPr>
          <a:xfrm>
            <a:off x="457200" y="5349240"/>
            <a:ext cx="11277295" cy="9144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349240"/>
            <a:ext cx="10728655" cy="914400"/>
          </a:xfrm>
          <a:prstGeom prst="rect">
            <a:avLst/>
          </a:prstGeom>
          <a:noFill/>
        </p:spPr>
        <p:txBody>
          <a:bodyPr wrap="square" lIns="73152" rIns="73152" tIns="36576" bIns="36576" anchor="ctr">
            <a:spAutoFit/>
          </a:bodyPr>
          <a:lstStyle/>
          <a:p>
            <a:pPr algn="ctr"/>
            <a:r>
              <a:rPr sz="1800" b="1" i="0">
                <a:solidFill>
                  <a:srgbClr val="FFFFFF"/>
                </a:solidFill>
                <a:latin typeface="Calibri"/>
              </a:rPr>
              <a:t>Either choice forces a trade-off: privacy or capability, never both.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No Tool Combines All Three</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4 / 25</a:t>
            </a:r>
          </a:p>
        </p:txBody>
      </p:sp>
      <p:sp>
        <p:nvSpPr>
          <p:cNvPr id="10" name="Rounded Rectangle 9"/>
          <p:cNvSpPr/>
          <p:nvPr/>
        </p:nvSpPr>
        <p:spPr>
          <a:xfrm>
            <a:off x="457200" y="2423160"/>
            <a:ext cx="3576218" cy="22860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2496312"/>
            <a:ext cx="3576218" cy="22128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navy.png"/>
          <p:cNvPicPr>
            <a:picLocks noChangeAspect="1"/>
          </p:cNvPicPr>
          <p:nvPr/>
        </p:nvPicPr>
        <p:blipFill>
          <a:blip r:embed="rId2"/>
          <a:stretch>
            <a:fillRect/>
          </a:stretch>
        </p:blipFill>
        <p:spPr>
          <a:xfrm>
            <a:off x="658368" y="2802636"/>
            <a:ext cx="384048" cy="384048"/>
          </a:xfrm>
          <a:prstGeom prst="rect">
            <a:avLst/>
          </a:prstGeom>
        </p:spPr>
      </p:pic>
      <p:sp>
        <p:nvSpPr>
          <p:cNvPr id="13" name="TextBox 12"/>
          <p:cNvSpPr txBox="1"/>
          <p:nvPr/>
        </p:nvSpPr>
        <p:spPr>
          <a:xfrm>
            <a:off x="1188720" y="2606040"/>
            <a:ext cx="2643530" cy="777240"/>
          </a:xfrm>
          <a:prstGeom prst="rect">
            <a:avLst/>
          </a:prstGeom>
          <a:noFill/>
        </p:spPr>
        <p:txBody>
          <a:bodyPr wrap="square" lIns="73152" rIns="73152" tIns="36576" bIns="36576" anchor="ctr">
            <a:spAutoFit/>
          </a:bodyPr>
          <a:lstStyle/>
          <a:p>
            <a:pPr algn="l"/>
            <a:r>
              <a:rPr sz="1700" b="1" i="0">
                <a:solidFill>
                  <a:srgbClr val="0B1428"/>
                </a:solidFill>
                <a:latin typeface="Calibri"/>
              </a:rPr>
              <a:t>Local Inference</a:t>
            </a:r>
          </a:p>
        </p:txBody>
      </p:sp>
      <p:sp>
        <p:nvSpPr>
          <p:cNvPr id="14" name="TextBox 13"/>
          <p:cNvSpPr txBox="1"/>
          <p:nvPr/>
        </p:nvSpPr>
        <p:spPr>
          <a:xfrm>
            <a:off x="658368" y="3493008"/>
            <a:ext cx="3173882" cy="1033272"/>
          </a:xfrm>
          <a:prstGeom prst="rect">
            <a:avLst/>
          </a:prstGeom>
          <a:noFill/>
        </p:spPr>
        <p:txBody>
          <a:bodyPr wrap="square" lIns="73152" rIns="73152" tIns="36576" bIns="36576" anchor="ctr">
            <a:spAutoFit/>
          </a:bodyPr>
          <a:lstStyle/>
          <a:p>
            <a:pPr algn="l"/>
            <a:r>
              <a:rPr sz="1400" b="0" i="0">
                <a:solidFill>
                  <a:srgbClr val="1A1F36"/>
                </a:solidFill>
                <a:latin typeface="Calibri"/>
              </a:rPr>
              <a:t>Code never leaves the</a:t>
            </a:r>
          </a:p>
          <a:p>
            <a:pPr algn="l"/>
            <a:r>
              <a:rPr sz="1400" b="0" i="0">
                <a:solidFill>
                  <a:srgbClr val="1A1F36"/>
                </a:solidFill>
                <a:latin typeface="Calibri"/>
              </a:rPr>
              <a:t>developer's machine.</a:t>
            </a:r>
          </a:p>
          <a:p>
            <a:pPr algn="l"/>
            <a:r>
              <a:rPr sz="1400" b="0" i="0">
                <a:solidFill>
                  <a:srgbClr val="1A1F36"/>
                </a:solidFill>
                <a:latin typeface="Calibri"/>
              </a:rPr>
              <a:t>Verifiable network boundary.</a:t>
            </a:r>
          </a:p>
        </p:txBody>
      </p:sp>
      <p:sp>
        <p:nvSpPr>
          <p:cNvPr id="15" name="Rounded Rectangle 14"/>
          <p:cNvSpPr/>
          <p:nvPr/>
        </p:nvSpPr>
        <p:spPr>
          <a:xfrm>
            <a:off x="4307738" y="2423160"/>
            <a:ext cx="3576218" cy="22860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07738" y="2496312"/>
            <a:ext cx="3576218" cy="22128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navy.png"/>
          <p:cNvPicPr>
            <a:picLocks noChangeAspect="1"/>
          </p:cNvPicPr>
          <p:nvPr/>
        </p:nvPicPr>
        <p:blipFill>
          <a:blip r:embed="rId3"/>
          <a:stretch>
            <a:fillRect/>
          </a:stretch>
        </p:blipFill>
        <p:spPr>
          <a:xfrm>
            <a:off x="4508906" y="2802636"/>
            <a:ext cx="384048" cy="384048"/>
          </a:xfrm>
          <a:prstGeom prst="rect">
            <a:avLst/>
          </a:prstGeom>
        </p:spPr>
      </p:pic>
      <p:sp>
        <p:nvSpPr>
          <p:cNvPr id="18" name="TextBox 17"/>
          <p:cNvSpPr txBox="1"/>
          <p:nvPr/>
        </p:nvSpPr>
        <p:spPr>
          <a:xfrm>
            <a:off x="5039258" y="2606040"/>
            <a:ext cx="2643530" cy="777240"/>
          </a:xfrm>
          <a:prstGeom prst="rect">
            <a:avLst/>
          </a:prstGeom>
          <a:noFill/>
        </p:spPr>
        <p:txBody>
          <a:bodyPr wrap="square" lIns="73152" rIns="73152" tIns="36576" bIns="36576" anchor="ctr">
            <a:spAutoFit/>
          </a:bodyPr>
          <a:lstStyle/>
          <a:p>
            <a:pPr algn="l"/>
            <a:r>
              <a:rPr sz="1700" b="1" i="0">
                <a:solidFill>
                  <a:srgbClr val="0B1428"/>
                </a:solidFill>
                <a:latin typeface="Calibri"/>
              </a:rPr>
              <a:t>Retrieval-Augmented</a:t>
            </a:r>
          </a:p>
        </p:txBody>
      </p:sp>
      <p:sp>
        <p:nvSpPr>
          <p:cNvPr id="19" name="TextBox 18"/>
          <p:cNvSpPr txBox="1"/>
          <p:nvPr/>
        </p:nvSpPr>
        <p:spPr>
          <a:xfrm>
            <a:off x="4508906" y="3493008"/>
            <a:ext cx="3173882" cy="1033272"/>
          </a:xfrm>
          <a:prstGeom prst="rect">
            <a:avLst/>
          </a:prstGeom>
          <a:noFill/>
        </p:spPr>
        <p:txBody>
          <a:bodyPr wrap="square" lIns="73152" rIns="73152" tIns="36576" bIns="36576" anchor="ctr">
            <a:spAutoFit/>
          </a:bodyPr>
          <a:lstStyle/>
          <a:p>
            <a:pPr algn="l"/>
            <a:r>
              <a:rPr sz="1400" b="0" i="0">
                <a:solidFill>
                  <a:srgbClr val="1A1F36"/>
                </a:solidFill>
                <a:latin typeface="Calibri"/>
              </a:rPr>
              <a:t>Grounded in CWE / OWASP</a:t>
            </a:r>
          </a:p>
          <a:p>
            <a:pPr algn="l"/>
            <a:r>
              <a:rPr sz="1400" b="0" i="0">
                <a:solidFill>
                  <a:srgbClr val="1A1F36"/>
                </a:solidFill>
                <a:latin typeface="Calibri"/>
              </a:rPr>
              <a:t>knowledge.</a:t>
            </a:r>
          </a:p>
          <a:p>
            <a:pPr algn="l"/>
            <a:r>
              <a:rPr sz="1400" b="0" i="0">
                <a:solidFill>
                  <a:srgbClr val="1A1F36"/>
                </a:solidFill>
                <a:latin typeface="Calibri"/>
              </a:rPr>
              <a:t>Not just pattern matching.</a:t>
            </a:r>
          </a:p>
        </p:txBody>
      </p:sp>
      <p:sp>
        <p:nvSpPr>
          <p:cNvPr id="20" name="Rounded Rectangle 19"/>
          <p:cNvSpPr/>
          <p:nvPr/>
        </p:nvSpPr>
        <p:spPr>
          <a:xfrm>
            <a:off x="8158276" y="2423160"/>
            <a:ext cx="3576218" cy="22860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158276" y="2496312"/>
            <a:ext cx="3576218" cy="22128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rench-navy.png"/>
          <p:cNvPicPr>
            <a:picLocks noChangeAspect="1"/>
          </p:cNvPicPr>
          <p:nvPr/>
        </p:nvPicPr>
        <p:blipFill>
          <a:blip r:embed="rId4"/>
          <a:stretch>
            <a:fillRect/>
          </a:stretch>
        </p:blipFill>
        <p:spPr>
          <a:xfrm>
            <a:off x="8359444" y="2802636"/>
            <a:ext cx="384048" cy="384048"/>
          </a:xfrm>
          <a:prstGeom prst="rect">
            <a:avLst/>
          </a:prstGeom>
        </p:spPr>
      </p:pic>
      <p:sp>
        <p:nvSpPr>
          <p:cNvPr id="23" name="TextBox 22"/>
          <p:cNvSpPr txBox="1"/>
          <p:nvPr/>
        </p:nvSpPr>
        <p:spPr>
          <a:xfrm>
            <a:off x="8889796" y="2606040"/>
            <a:ext cx="2643530" cy="777240"/>
          </a:xfrm>
          <a:prstGeom prst="rect">
            <a:avLst/>
          </a:prstGeom>
          <a:noFill/>
        </p:spPr>
        <p:txBody>
          <a:bodyPr wrap="square" lIns="73152" rIns="73152" tIns="36576" bIns="36576" anchor="ctr">
            <a:spAutoFit/>
          </a:bodyPr>
          <a:lstStyle/>
          <a:p>
            <a:pPr algn="l"/>
            <a:r>
              <a:rPr sz="1700" b="1" i="0">
                <a:solidFill>
                  <a:srgbClr val="0B1428"/>
                </a:solidFill>
                <a:latin typeface="Calibri"/>
              </a:rPr>
              <a:t>Developer-Controlled Repair</a:t>
            </a:r>
          </a:p>
        </p:txBody>
      </p:sp>
      <p:sp>
        <p:nvSpPr>
          <p:cNvPr id="24" name="TextBox 23"/>
          <p:cNvSpPr txBox="1"/>
          <p:nvPr/>
        </p:nvSpPr>
        <p:spPr>
          <a:xfrm>
            <a:off x="8359444" y="3493008"/>
            <a:ext cx="3173882" cy="1033272"/>
          </a:xfrm>
          <a:prstGeom prst="rect">
            <a:avLst/>
          </a:prstGeom>
          <a:noFill/>
        </p:spPr>
        <p:txBody>
          <a:bodyPr wrap="square" lIns="73152" rIns="73152" tIns="36576" bIns="36576" anchor="ctr">
            <a:spAutoFit/>
          </a:bodyPr>
          <a:lstStyle/>
          <a:p>
            <a:pPr algn="l"/>
            <a:r>
              <a:rPr sz="1400" b="0" i="0">
                <a:solidFill>
                  <a:srgbClr val="1A1F36"/>
                </a:solidFill>
                <a:latin typeface="Calibri"/>
              </a:rPr>
              <a:t>Structured fix returned.</a:t>
            </a:r>
          </a:p>
          <a:p>
            <a:pPr algn="l"/>
            <a:r>
              <a:rPr sz="1400" b="0" i="0">
                <a:solidFill>
                  <a:srgbClr val="1A1F36"/>
                </a:solidFill>
                <a:latin typeface="Calibri"/>
              </a:rPr>
              <a:t>Developer applies via Quick Fix.</a:t>
            </a:r>
          </a:p>
          <a:p>
            <a:pPr algn="l"/>
            <a:r>
              <a:rPr sz="1400" b="0" i="0">
                <a:solidFill>
                  <a:srgbClr val="1A1F36"/>
                </a:solidFill>
                <a:latin typeface="Calibri"/>
              </a:rPr>
              <a:t>No silent rewrites.</a:t>
            </a:r>
          </a:p>
        </p:txBody>
      </p:sp>
      <p:sp>
        <p:nvSpPr>
          <p:cNvPr id="25" name="Rounded Rectangle 24"/>
          <p:cNvSpPr/>
          <p:nvPr/>
        </p:nvSpPr>
        <p:spPr>
          <a:xfrm>
            <a:off x="457200" y="5120640"/>
            <a:ext cx="11277295" cy="9144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20640"/>
            <a:ext cx="10728655" cy="914400"/>
          </a:xfrm>
          <a:prstGeom prst="rect">
            <a:avLst/>
          </a:prstGeom>
          <a:noFill/>
        </p:spPr>
        <p:txBody>
          <a:bodyPr wrap="square" lIns="73152" rIns="73152" tIns="36576" bIns="36576" anchor="ctr">
            <a:spAutoFit/>
          </a:bodyPr>
          <a:lstStyle/>
          <a:p>
            <a:pPr algn="ctr"/>
            <a:r>
              <a:rPr sz="1800" b="1" i="0">
                <a:solidFill>
                  <a:srgbClr val="FFFFFF"/>
                </a:solidFill>
                <a:latin typeface="Calibri"/>
              </a:rPr>
              <a:t>This thesis builds and evaluates a tool that delivers all three.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Research Questions and Requirements</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5 / 25</a:t>
            </a:r>
          </a:p>
        </p:txBody>
      </p:sp>
      <p:sp>
        <p:nvSpPr>
          <p:cNvPr id="10" name="Rounded Rectangle 9"/>
          <p:cNvSpPr/>
          <p:nvPr/>
        </p:nvSpPr>
        <p:spPr>
          <a:xfrm>
            <a:off x="457200" y="1783080"/>
            <a:ext cx="4373758" cy="301752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920240"/>
            <a:ext cx="3825118" cy="365760"/>
          </a:xfrm>
          <a:prstGeom prst="rect">
            <a:avLst/>
          </a:prstGeom>
          <a:noFill/>
        </p:spPr>
        <p:txBody>
          <a:bodyPr wrap="square" lIns="73152" rIns="73152" tIns="36576" bIns="36576" anchor="t">
            <a:spAutoFit/>
          </a:bodyPr>
          <a:lstStyle/>
          <a:p>
            <a:pPr algn="l"/>
            <a:r>
              <a:rPr sz="1100" b="1" i="0">
                <a:solidFill>
                  <a:srgbClr val="FCA311"/>
                </a:solidFill>
                <a:latin typeface="Calibri"/>
              </a:rPr>
              <a:t>RESEARCH QUESTIONS</a:t>
            </a:r>
          </a:p>
        </p:txBody>
      </p:sp>
      <p:sp>
        <p:nvSpPr>
          <p:cNvPr id="12" name="TextBox 11"/>
          <p:cNvSpPr txBox="1"/>
          <p:nvPr/>
        </p:nvSpPr>
        <p:spPr>
          <a:xfrm>
            <a:off x="731520" y="2377440"/>
            <a:ext cx="640080" cy="365760"/>
          </a:xfrm>
          <a:prstGeom prst="rect">
            <a:avLst/>
          </a:prstGeom>
          <a:noFill/>
        </p:spPr>
        <p:txBody>
          <a:bodyPr wrap="square" lIns="73152" rIns="73152" tIns="36576" bIns="36576" anchor="t">
            <a:spAutoFit/>
          </a:bodyPr>
          <a:lstStyle/>
          <a:p>
            <a:pPr algn="l"/>
            <a:r>
              <a:rPr sz="1400" b="1" i="0">
                <a:solidFill>
                  <a:srgbClr val="14213D"/>
                </a:solidFill>
                <a:latin typeface="Calibri"/>
              </a:rPr>
              <a:t>RQ1</a:t>
            </a:r>
          </a:p>
        </p:txBody>
      </p:sp>
      <p:sp>
        <p:nvSpPr>
          <p:cNvPr id="13" name="TextBox 12"/>
          <p:cNvSpPr txBox="1"/>
          <p:nvPr/>
        </p:nvSpPr>
        <p:spPr>
          <a:xfrm>
            <a:off x="1417320" y="2377440"/>
            <a:ext cx="3139318" cy="914400"/>
          </a:xfrm>
          <a:prstGeom prst="rect">
            <a:avLst/>
          </a:prstGeom>
          <a:noFill/>
        </p:spPr>
        <p:txBody>
          <a:bodyPr wrap="square" lIns="73152" rIns="73152" tIns="36576" bIns="36576" anchor="t">
            <a:spAutoFit/>
          </a:bodyPr>
          <a:lstStyle/>
          <a:p>
            <a:pPr algn="l"/>
            <a:r>
              <a:rPr sz="1100" b="0" i="0">
                <a:solidFill>
                  <a:srgbClr val="1A1F36"/>
                </a:solidFill>
                <a:latin typeface="Calibri"/>
              </a:rPr>
              <a:t>Can a local LLM on consumer hardware reach acceptable detection quality under a strict privacy envelope?</a:t>
            </a:r>
          </a:p>
        </p:txBody>
      </p:sp>
      <p:sp>
        <p:nvSpPr>
          <p:cNvPr id="14" name="TextBox 13"/>
          <p:cNvSpPr txBox="1"/>
          <p:nvPr/>
        </p:nvSpPr>
        <p:spPr>
          <a:xfrm>
            <a:off x="731520" y="3246120"/>
            <a:ext cx="640080" cy="365760"/>
          </a:xfrm>
          <a:prstGeom prst="rect">
            <a:avLst/>
          </a:prstGeom>
          <a:noFill/>
        </p:spPr>
        <p:txBody>
          <a:bodyPr wrap="square" lIns="73152" rIns="73152" tIns="36576" bIns="36576" anchor="t">
            <a:spAutoFit/>
          </a:bodyPr>
          <a:lstStyle/>
          <a:p>
            <a:pPr algn="l"/>
            <a:r>
              <a:rPr sz="1400" b="1" i="0">
                <a:solidFill>
                  <a:srgbClr val="14213D"/>
                </a:solidFill>
                <a:latin typeface="Calibri"/>
              </a:rPr>
              <a:t>RQ2</a:t>
            </a:r>
          </a:p>
        </p:txBody>
      </p:sp>
      <p:sp>
        <p:nvSpPr>
          <p:cNvPr id="15" name="TextBox 14"/>
          <p:cNvSpPr txBox="1"/>
          <p:nvPr/>
        </p:nvSpPr>
        <p:spPr>
          <a:xfrm>
            <a:off x="1417320" y="3246120"/>
            <a:ext cx="3139318" cy="914400"/>
          </a:xfrm>
          <a:prstGeom prst="rect">
            <a:avLst/>
          </a:prstGeom>
          <a:noFill/>
        </p:spPr>
        <p:txBody>
          <a:bodyPr wrap="square" lIns="73152" rIns="73152" tIns="36576" bIns="36576" anchor="t">
            <a:spAutoFit/>
          </a:bodyPr>
          <a:lstStyle/>
          <a:p>
            <a:pPr algn="l"/>
            <a:r>
              <a:rPr sz="1100" b="0" i="0">
                <a:solidFill>
                  <a:srgbClr val="1A1F36"/>
                </a:solidFill>
                <a:latin typeface="Calibri"/>
              </a:rPr>
              <a:t>Does grounding the LLM in retrieved CWE / OWASP knowledge (RAG) improve detection?</a:t>
            </a:r>
          </a:p>
        </p:txBody>
      </p:sp>
      <p:sp>
        <p:nvSpPr>
          <p:cNvPr id="16" name="TextBox 15"/>
          <p:cNvSpPr txBox="1"/>
          <p:nvPr/>
        </p:nvSpPr>
        <p:spPr>
          <a:xfrm>
            <a:off x="731520" y="4114800"/>
            <a:ext cx="640080" cy="365760"/>
          </a:xfrm>
          <a:prstGeom prst="rect">
            <a:avLst/>
          </a:prstGeom>
          <a:noFill/>
        </p:spPr>
        <p:txBody>
          <a:bodyPr wrap="square" lIns="73152" rIns="73152" tIns="36576" bIns="36576" anchor="t">
            <a:spAutoFit/>
          </a:bodyPr>
          <a:lstStyle/>
          <a:p>
            <a:pPr algn="l"/>
            <a:r>
              <a:rPr sz="1400" b="1" i="0">
                <a:solidFill>
                  <a:srgbClr val="14213D"/>
                </a:solidFill>
                <a:latin typeface="Calibri"/>
              </a:rPr>
              <a:t>RQ3</a:t>
            </a:r>
          </a:p>
        </p:txBody>
      </p:sp>
      <p:sp>
        <p:nvSpPr>
          <p:cNvPr id="17" name="TextBox 16"/>
          <p:cNvSpPr txBox="1"/>
          <p:nvPr/>
        </p:nvSpPr>
        <p:spPr>
          <a:xfrm>
            <a:off x="1417320" y="4114800"/>
            <a:ext cx="3139318" cy="914400"/>
          </a:xfrm>
          <a:prstGeom prst="rect">
            <a:avLst/>
          </a:prstGeom>
          <a:noFill/>
        </p:spPr>
        <p:txBody>
          <a:bodyPr wrap="square" lIns="73152" rIns="73152" tIns="36576" bIns="36576" anchor="t">
            <a:spAutoFit/>
          </a:bodyPr>
          <a:lstStyle/>
          <a:p>
            <a:pPr algn="l"/>
            <a:r>
              <a:rPr sz="1100" b="0" i="0">
                <a:solidFill>
                  <a:srgbClr val="1A1F36"/>
                </a:solidFill>
                <a:latin typeface="Calibri"/>
              </a:rPr>
              <a:t>Is in-IDE latency acceptable for developer workflows?</a:t>
            </a:r>
          </a:p>
        </p:txBody>
      </p:sp>
      <p:sp>
        <p:nvSpPr>
          <p:cNvPr id="18" name="Rounded Rectangle 17"/>
          <p:cNvSpPr/>
          <p:nvPr/>
        </p:nvSpPr>
        <p:spPr>
          <a:xfrm>
            <a:off x="5105278" y="1783080"/>
            <a:ext cx="6629217" cy="301752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79598" y="1920240"/>
            <a:ext cx="6080577" cy="365760"/>
          </a:xfrm>
          <a:prstGeom prst="rect">
            <a:avLst/>
          </a:prstGeom>
          <a:noFill/>
        </p:spPr>
        <p:txBody>
          <a:bodyPr wrap="square" lIns="73152" rIns="73152" tIns="36576" bIns="36576" anchor="t">
            <a:spAutoFit/>
          </a:bodyPr>
          <a:lstStyle/>
          <a:p>
            <a:pPr algn="l"/>
            <a:r>
              <a:rPr sz="1100" b="1" i="0">
                <a:solidFill>
                  <a:srgbClr val="FCA311"/>
                </a:solidFill>
                <a:latin typeface="Calibri"/>
              </a:rPr>
              <a:t>FIVE REQUIREMENTS</a:t>
            </a:r>
          </a:p>
        </p:txBody>
      </p:sp>
      <p:sp>
        <p:nvSpPr>
          <p:cNvPr id="20" name="Rounded Rectangle 19"/>
          <p:cNvSpPr/>
          <p:nvPr/>
        </p:nvSpPr>
        <p:spPr>
          <a:xfrm>
            <a:off x="5379598" y="2377440"/>
            <a:ext cx="2903128" cy="68580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16758" y="2432304"/>
            <a:ext cx="457200" cy="320040"/>
          </a:xfrm>
          <a:prstGeom prst="rect">
            <a:avLst/>
          </a:prstGeom>
          <a:noFill/>
        </p:spPr>
        <p:txBody>
          <a:bodyPr wrap="square" lIns="73152" rIns="73152" tIns="36576" bIns="36576" anchor="t">
            <a:spAutoFit/>
          </a:bodyPr>
          <a:lstStyle/>
          <a:p>
            <a:pPr algn="l"/>
            <a:r>
              <a:rPr sz="1200" b="1" i="0">
                <a:solidFill>
                  <a:srgbClr val="FCA311"/>
                </a:solidFill>
                <a:latin typeface="Calibri"/>
              </a:rPr>
              <a:t>R1</a:t>
            </a:r>
          </a:p>
        </p:txBody>
      </p:sp>
      <p:sp>
        <p:nvSpPr>
          <p:cNvPr id="22" name="TextBox 21"/>
          <p:cNvSpPr txBox="1"/>
          <p:nvPr/>
        </p:nvSpPr>
        <p:spPr>
          <a:xfrm>
            <a:off x="6065398" y="2432304"/>
            <a:ext cx="2125888" cy="320040"/>
          </a:xfrm>
          <a:prstGeom prst="rect">
            <a:avLst/>
          </a:prstGeom>
          <a:noFill/>
        </p:spPr>
        <p:txBody>
          <a:bodyPr wrap="square" lIns="73152" rIns="73152" tIns="36576" bIns="36576" anchor="t">
            <a:spAutoFit/>
          </a:bodyPr>
          <a:lstStyle/>
          <a:p>
            <a:pPr algn="l"/>
            <a:r>
              <a:rPr sz="1300" b="1" i="0">
                <a:solidFill>
                  <a:srgbClr val="14213D"/>
                </a:solidFill>
                <a:latin typeface="Calibri"/>
              </a:rPr>
              <a:t>Accuracy</a:t>
            </a:r>
          </a:p>
        </p:txBody>
      </p:sp>
      <p:sp>
        <p:nvSpPr>
          <p:cNvPr id="23" name="TextBox 22"/>
          <p:cNvSpPr txBox="1"/>
          <p:nvPr/>
        </p:nvSpPr>
        <p:spPr>
          <a:xfrm>
            <a:off x="6065398" y="2706624"/>
            <a:ext cx="2125888" cy="320040"/>
          </a:xfrm>
          <a:prstGeom prst="rect">
            <a:avLst/>
          </a:prstGeom>
          <a:noFill/>
        </p:spPr>
        <p:txBody>
          <a:bodyPr wrap="square" lIns="73152" rIns="73152" tIns="36576" bIns="36576" anchor="t">
            <a:spAutoFit/>
          </a:bodyPr>
          <a:lstStyle/>
          <a:p>
            <a:pPr algn="l"/>
            <a:r>
              <a:rPr sz="900" b="0" i="0">
                <a:solidFill>
                  <a:srgbClr val="5B657A"/>
                </a:solidFill>
                <a:latin typeface="Calibri"/>
              </a:rPr>
              <a:t>precision, recall, F1</a:t>
            </a:r>
          </a:p>
        </p:txBody>
      </p:sp>
      <p:sp>
        <p:nvSpPr>
          <p:cNvPr id="24" name="Rounded Rectangle 23"/>
          <p:cNvSpPr/>
          <p:nvPr/>
        </p:nvSpPr>
        <p:spPr>
          <a:xfrm>
            <a:off x="8557046" y="2377440"/>
            <a:ext cx="2903128" cy="68580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94206" y="2432304"/>
            <a:ext cx="457200" cy="320040"/>
          </a:xfrm>
          <a:prstGeom prst="rect">
            <a:avLst/>
          </a:prstGeom>
          <a:noFill/>
        </p:spPr>
        <p:txBody>
          <a:bodyPr wrap="square" lIns="73152" rIns="73152" tIns="36576" bIns="36576" anchor="t">
            <a:spAutoFit/>
          </a:bodyPr>
          <a:lstStyle/>
          <a:p>
            <a:pPr algn="l"/>
            <a:r>
              <a:rPr sz="1200" b="1" i="0">
                <a:solidFill>
                  <a:srgbClr val="FCA311"/>
                </a:solidFill>
                <a:latin typeface="Calibri"/>
              </a:rPr>
              <a:t>R2</a:t>
            </a:r>
          </a:p>
        </p:txBody>
      </p:sp>
      <p:sp>
        <p:nvSpPr>
          <p:cNvPr id="26" name="TextBox 25"/>
          <p:cNvSpPr txBox="1"/>
          <p:nvPr/>
        </p:nvSpPr>
        <p:spPr>
          <a:xfrm>
            <a:off x="9242846" y="2432304"/>
            <a:ext cx="2125888" cy="320040"/>
          </a:xfrm>
          <a:prstGeom prst="rect">
            <a:avLst/>
          </a:prstGeom>
          <a:noFill/>
        </p:spPr>
        <p:txBody>
          <a:bodyPr wrap="square" lIns="73152" rIns="73152" tIns="36576" bIns="36576" anchor="t">
            <a:spAutoFit/>
          </a:bodyPr>
          <a:lstStyle/>
          <a:p>
            <a:pPr algn="l"/>
            <a:r>
              <a:rPr sz="1300" b="1" i="0">
                <a:solidFill>
                  <a:srgbClr val="14213D"/>
                </a:solidFill>
                <a:latin typeface="Calibri"/>
              </a:rPr>
              <a:t>Consistency</a:t>
            </a:r>
          </a:p>
        </p:txBody>
      </p:sp>
      <p:sp>
        <p:nvSpPr>
          <p:cNvPr id="27" name="TextBox 26"/>
          <p:cNvSpPr txBox="1"/>
          <p:nvPr/>
        </p:nvSpPr>
        <p:spPr>
          <a:xfrm>
            <a:off x="9242846" y="2706624"/>
            <a:ext cx="2125888" cy="320040"/>
          </a:xfrm>
          <a:prstGeom prst="rect">
            <a:avLst/>
          </a:prstGeom>
          <a:noFill/>
        </p:spPr>
        <p:txBody>
          <a:bodyPr wrap="square" lIns="73152" rIns="73152" tIns="36576" bIns="36576" anchor="t">
            <a:spAutoFit/>
          </a:bodyPr>
          <a:lstStyle/>
          <a:p>
            <a:pPr algn="l"/>
            <a:r>
              <a:rPr sz="900" b="0" i="0">
                <a:solidFill>
                  <a:srgbClr val="5B657A"/>
                </a:solidFill>
                <a:latin typeface="Calibri"/>
              </a:rPr>
              <a:t>JSON parse, inter-run</a:t>
            </a:r>
          </a:p>
        </p:txBody>
      </p:sp>
      <p:sp>
        <p:nvSpPr>
          <p:cNvPr id="28" name="Rounded Rectangle 27"/>
          <p:cNvSpPr/>
          <p:nvPr/>
        </p:nvSpPr>
        <p:spPr>
          <a:xfrm>
            <a:off x="5379598" y="3154680"/>
            <a:ext cx="2903128" cy="68580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16758" y="3209544"/>
            <a:ext cx="457200" cy="320040"/>
          </a:xfrm>
          <a:prstGeom prst="rect">
            <a:avLst/>
          </a:prstGeom>
          <a:noFill/>
        </p:spPr>
        <p:txBody>
          <a:bodyPr wrap="square" lIns="73152" rIns="73152" tIns="36576" bIns="36576" anchor="t">
            <a:spAutoFit/>
          </a:bodyPr>
          <a:lstStyle/>
          <a:p>
            <a:pPr algn="l"/>
            <a:r>
              <a:rPr sz="1200" b="1" i="0">
                <a:solidFill>
                  <a:srgbClr val="FCA311"/>
                </a:solidFill>
                <a:latin typeface="Calibri"/>
              </a:rPr>
              <a:t>R3</a:t>
            </a:r>
          </a:p>
        </p:txBody>
      </p:sp>
      <p:sp>
        <p:nvSpPr>
          <p:cNvPr id="30" name="TextBox 29"/>
          <p:cNvSpPr txBox="1"/>
          <p:nvPr/>
        </p:nvSpPr>
        <p:spPr>
          <a:xfrm>
            <a:off x="6065398" y="3209544"/>
            <a:ext cx="2125888" cy="320040"/>
          </a:xfrm>
          <a:prstGeom prst="rect">
            <a:avLst/>
          </a:prstGeom>
          <a:noFill/>
        </p:spPr>
        <p:txBody>
          <a:bodyPr wrap="square" lIns="73152" rIns="73152" tIns="36576" bIns="36576" anchor="t">
            <a:spAutoFit/>
          </a:bodyPr>
          <a:lstStyle/>
          <a:p>
            <a:pPr algn="l"/>
            <a:r>
              <a:rPr sz="1300" b="1" i="0">
                <a:solidFill>
                  <a:srgbClr val="14213D"/>
                </a:solidFill>
                <a:latin typeface="Calibri"/>
              </a:rPr>
              <a:t>Repair Quality</a:t>
            </a:r>
          </a:p>
        </p:txBody>
      </p:sp>
      <p:sp>
        <p:nvSpPr>
          <p:cNvPr id="31" name="TextBox 30"/>
          <p:cNvSpPr txBox="1"/>
          <p:nvPr/>
        </p:nvSpPr>
        <p:spPr>
          <a:xfrm>
            <a:off x="6065398" y="3483864"/>
            <a:ext cx="2125888" cy="320040"/>
          </a:xfrm>
          <a:prstGeom prst="rect">
            <a:avLst/>
          </a:prstGeom>
          <a:noFill/>
        </p:spPr>
        <p:txBody>
          <a:bodyPr wrap="square" lIns="73152" rIns="73152" tIns="36576" bIns="36576" anchor="t">
            <a:spAutoFit/>
          </a:bodyPr>
          <a:lstStyle/>
          <a:p>
            <a:pPr algn="l"/>
            <a:r>
              <a:rPr sz="900" b="0" i="0">
                <a:solidFill>
                  <a:srgbClr val="5B657A"/>
                </a:solidFill>
                <a:latin typeface="Calibri"/>
              </a:rPr>
              <a:t>manual + auto-applicable</a:t>
            </a:r>
          </a:p>
        </p:txBody>
      </p:sp>
      <p:sp>
        <p:nvSpPr>
          <p:cNvPr id="32" name="Rounded Rectangle 31"/>
          <p:cNvSpPr/>
          <p:nvPr/>
        </p:nvSpPr>
        <p:spPr>
          <a:xfrm>
            <a:off x="8557046" y="3154680"/>
            <a:ext cx="2903128" cy="68580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4206" y="3209544"/>
            <a:ext cx="457200" cy="320040"/>
          </a:xfrm>
          <a:prstGeom prst="rect">
            <a:avLst/>
          </a:prstGeom>
          <a:noFill/>
        </p:spPr>
        <p:txBody>
          <a:bodyPr wrap="square" lIns="73152" rIns="73152" tIns="36576" bIns="36576" anchor="t">
            <a:spAutoFit/>
          </a:bodyPr>
          <a:lstStyle/>
          <a:p>
            <a:pPr algn="l"/>
            <a:r>
              <a:rPr sz="1200" b="1" i="0">
                <a:solidFill>
                  <a:srgbClr val="FCA311"/>
                </a:solidFill>
                <a:latin typeface="Calibri"/>
              </a:rPr>
              <a:t>R4</a:t>
            </a:r>
          </a:p>
        </p:txBody>
      </p:sp>
      <p:sp>
        <p:nvSpPr>
          <p:cNvPr id="34" name="TextBox 33"/>
          <p:cNvSpPr txBox="1"/>
          <p:nvPr/>
        </p:nvSpPr>
        <p:spPr>
          <a:xfrm>
            <a:off x="9242846" y="3209544"/>
            <a:ext cx="2125888" cy="320040"/>
          </a:xfrm>
          <a:prstGeom prst="rect">
            <a:avLst/>
          </a:prstGeom>
          <a:noFill/>
        </p:spPr>
        <p:txBody>
          <a:bodyPr wrap="square" lIns="73152" rIns="73152" tIns="36576" bIns="36576" anchor="t">
            <a:spAutoFit/>
          </a:bodyPr>
          <a:lstStyle/>
          <a:p>
            <a:pPr algn="l"/>
            <a:r>
              <a:rPr sz="1300" b="1" i="0">
                <a:solidFill>
                  <a:srgbClr val="14213D"/>
                </a:solidFill>
                <a:latin typeface="Calibri"/>
              </a:rPr>
              <a:t>Usability</a:t>
            </a:r>
          </a:p>
        </p:txBody>
      </p:sp>
      <p:sp>
        <p:nvSpPr>
          <p:cNvPr id="35" name="TextBox 34"/>
          <p:cNvSpPr txBox="1"/>
          <p:nvPr/>
        </p:nvSpPr>
        <p:spPr>
          <a:xfrm>
            <a:off x="9242846" y="3483864"/>
            <a:ext cx="2125888" cy="320040"/>
          </a:xfrm>
          <a:prstGeom prst="rect">
            <a:avLst/>
          </a:prstGeom>
          <a:noFill/>
        </p:spPr>
        <p:txBody>
          <a:bodyPr wrap="square" lIns="73152" rIns="73152" tIns="36576" bIns="36576" anchor="t">
            <a:spAutoFit/>
          </a:bodyPr>
          <a:lstStyle/>
          <a:p>
            <a:pPr algn="l"/>
            <a:r>
              <a:rPr sz="900" b="0" i="0">
                <a:solidFill>
                  <a:srgbClr val="5B657A"/>
                </a:solidFill>
                <a:latin typeface="Calibri"/>
              </a:rPr>
              <a:t>latency, IDE integration</a:t>
            </a:r>
          </a:p>
        </p:txBody>
      </p:sp>
      <p:sp>
        <p:nvSpPr>
          <p:cNvPr id="36" name="Rounded Rectangle 35"/>
          <p:cNvSpPr/>
          <p:nvPr/>
        </p:nvSpPr>
        <p:spPr>
          <a:xfrm>
            <a:off x="5379598" y="3931920"/>
            <a:ext cx="2903128" cy="68580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16758" y="3986784"/>
            <a:ext cx="457200" cy="320040"/>
          </a:xfrm>
          <a:prstGeom prst="rect">
            <a:avLst/>
          </a:prstGeom>
          <a:noFill/>
        </p:spPr>
        <p:txBody>
          <a:bodyPr wrap="square" lIns="73152" rIns="73152" tIns="36576" bIns="36576" anchor="t">
            <a:spAutoFit/>
          </a:bodyPr>
          <a:lstStyle/>
          <a:p>
            <a:pPr algn="l"/>
            <a:r>
              <a:rPr sz="1200" b="1" i="0">
                <a:solidFill>
                  <a:srgbClr val="FCA311"/>
                </a:solidFill>
                <a:latin typeface="Calibri"/>
              </a:rPr>
              <a:t>R5</a:t>
            </a:r>
          </a:p>
        </p:txBody>
      </p:sp>
      <p:sp>
        <p:nvSpPr>
          <p:cNvPr id="38" name="TextBox 37"/>
          <p:cNvSpPr txBox="1"/>
          <p:nvPr/>
        </p:nvSpPr>
        <p:spPr>
          <a:xfrm>
            <a:off x="6065398" y="3986784"/>
            <a:ext cx="2125888" cy="320040"/>
          </a:xfrm>
          <a:prstGeom prst="rect">
            <a:avLst/>
          </a:prstGeom>
          <a:noFill/>
        </p:spPr>
        <p:txBody>
          <a:bodyPr wrap="square" lIns="73152" rIns="73152" tIns="36576" bIns="36576" anchor="t">
            <a:spAutoFit/>
          </a:bodyPr>
          <a:lstStyle/>
          <a:p>
            <a:pPr algn="l"/>
            <a:r>
              <a:rPr sz="1300" b="1" i="0">
                <a:solidFill>
                  <a:srgbClr val="14213D"/>
                </a:solidFill>
                <a:latin typeface="Calibri"/>
              </a:rPr>
              <a:t>Privacy</a:t>
            </a:r>
          </a:p>
        </p:txBody>
      </p:sp>
      <p:sp>
        <p:nvSpPr>
          <p:cNvPr id="39" name="TextBox 38"/>
          <p:cNvSpPr txBox="1"/>
          <p:nvPr/>
        </p:nvSpPr>
        <p:spPr>
          <a:xfrm>
            <a:off x="6065398" y="4261104"/>
            <a:ext cx="2125888" cy="320040"/>
          </a:xfrm>
          <a:prstGeom prst="rect">
            <a:avLst/>
          </a:prstGeom>
          <a:noFill/>
        </p:spPr>
        <p:txBody>
          <a:bodyPr wrap="square" lIns="73152" rIns="73152" tIns="36576" bIns="36576" anchor="t">
            <a:spAutoFit/>
          </a:bodyPr>
          <a:lstStyle/>
          <a:p>
            <a:pPr algn="l"/>
            <a:r>
              <a:rPr sz="900" b="0" i="0">
                <a:solidFill>
                  <a:srgbClr val="5B657A"/>
                </a:solidFill>
                <a:latin typeface="Calibri"/>
              </a:rPr>
              <a:t>zero exfiltration, signed corpus</a:t>
            </a:r>
          </a:p>
        </p:txBody>
      </p:sp>
      <p:sp>
        <p:nvSpPr>
          <p:cNvPr id="40" name="Rounded Rectangle 39"/>
          <p:cNvSpPr/>
          <p:nvPr/>
        </p:nvSpPr>
        <p:spPr>
          <a:xfrm>
            <a:off x="457200" y="4937760"/>
            <a:ext cx="11277295"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937760"/>
            <a:ext cx="10728655" cy="502920"/>
          </a:xfrm>
          <a:prstGeom prst="rect">
            <a:avLst/>
          </a:prstGeom>
          <a:noFill/>
        </p:spPr>
        <p:txBody>
          <a:bodyPr wrap="square" lIns="73152" rIns="73152" tIns="36576" bIns="36576" anchor="ctr">
            <a:spAutoFit/>
          </a:bodyPr>
          <a:lstStyle/>
          <a:p>
            <a:pPr algn="ctr"/>
            <a:r>
              <a:rPr sz="1200" b="1" i="0">
                <a:solidFill>
                  <a:srgbClr val="FFFFFF"/>
                </a:solidFill>
                <a:latin typeface="Calibri"/>
              </a:rPr>
              <a:t>R1–R5 map to fixed threshold scales, set before evaluation, with no post-hoc bands.</a:t>
            </a:r>
          </a:p>
        </p:txBody>
      </p:sp>
      <p:sp>
        <p:nvSpPr>
          <p:cNvPr id="42" name="Rounded Rectangle 41"/>
          <p:cNvSpPr/>
          <p:nvPr/>
        </p:nvSpPr>
        <p:spPr>
          <a:xfrm>
            <a:off x="457200" y="5577840"/>
            <a:ext cx="11277295" cy="77724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669280"/>
            <a:ext cx="1828800" cy="640080"/>
          </a:xfrm>
          <a:prstGeom prst="rect">
            <a:avLst/>
          </a:prstGeom>
          <a:noFill/>
        </p:spPr>
        <p:txBody>
          <a:bodyPr wrap="square" lIns="73152" rIns="73152" tIns="36576" bIns="36576" anchor="ctr">
            <a:spAutoFit/>
          </a:bodyPr>
          <a:lstStyle/>
          <a:p>
            <a:pPr algn="l"/>
            <a:r>
              <a:rPr sz="1000" b="1" i="0">
                <a:solidFill>
                  <a:srgbClr val="FCA311"/>
                </a:solidFill>
                <a:latin typeface="Calibri"/>
              </a:rPr>
              <a:t/>
            </a:r>
          </a:p>
        </p:txBody>
      </p:sp>
      <p:sp>
        <p:nvSpPr>
          <p:cNvPr id="44" name="TextBox 43"/>
          <p:cNvSpPr txBox="1"/>
          <p:nvPr/>
        </p:nvSpPr>
        <p:spPr>
          <a:xfrm>
            <a:off x="2194560" y="5650992"/>
            <a:ext cx="9357055" cy="676656"/>
          </a:xfrm>
          <a:prstGeom prst="rect">
            <a:avLst/>
          </a:prstGeom>
          <a:noFill/>
        </p:spPr>
        <p:txBody>
          <a:bodyPr wrap="square" lIns="73152" rIns="73152" tIns="36576" bIns="36576" anchor="ctr">
            <a:spAutoFit/>
          </a:bodyPr>
          <a:lstStyle/>
          <a:p>
            <a:pPr algn="l">
              <a:spcAft>
                <a:spcPts val="300"/>
              </a:spcAft>
            </a:pPr>
            <a:r>
              <a:rPr sz="1050" b="0" i="0">
                <a:solidFill>
                  <a:srgbClr val="1A1F36"/>
                </a:solidFill>
                <a:latin typeface="Calibri"/>
              </a:rPr>
              <a:t>RAG = look up known CWE / OWASP weakness patterns before answering   ·   CWE = standard catalogue of software-weakness types</a:t>
            </a:r>
          </a:p>
          <a:p>
            <a:pPr algn="l">
              <a:spcAft>
                <a:spcPts val="300"/>
              </a:spcAft>
            </a:pPr>
            <a:r>
              <a:rPr sz="1050" b="0" i="0">
                <a:solidFill>
                  <a:srgbClr val="1A1F36"/>
                </a:solidFill>
                <a:latin typeface="Calibri"/>
              </a:rPr>
              <a:t>F1 = balance of catching real bugs vs. false alarms (higher = better)   ·   FPR = share of safe code wrongly flagged (lower = better)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Three Existing Approaches</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6 / 25</a:t>
            </a:r>
          </a:p>
        </p:txBody>
      </p:sp>
      <p:sp>
        <p:nvSpPr>
          <p:cNvPr id="10" name="Rounded Rectangle 9"/>
          <p:cNvSpPr/>
          <p:nvPr/>
        </p:nvSpPr>
        <p:spPr>
          <a:xfrm>
            <a:off x="457200" y="1783080"/>
            <a:ext cx="3606698"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3606698" cy="502920"/>
          </a:xfrm>
          <a:prstGeom prst="rect">
            <a:avLst/>
          </a:prstGeom>
          <a:noFill/>
        </p:spPr>
        <p:txBody>
          <a:bodyPr wrap="square" lIns="73152" rIns="73152" tIns="36576" bIns="36576" anchor="ctr">
            <a:spAutoFit/>
          </a:bodyPr>
          <a:lstStyle/>
          <a:p>
            <a:pPr algn="ctr"/>
            <a:r>
              <a:rPr sz="1100" b="1" i="0">
                <a:solidFill>
                  <a:srgbClr val="FFFFFF"/>
                </a:solidFill>
                <a:latin typeface="Calibri"/>
              </a:rPr>
              <a:t>CLOUD LLM ASSISTANTS</a:t>
            </a:r>
          </a:p>
        </p:txBody>
      </p:sp>
      <p:sp>
        <p:nvSpPr>
          <p:cNvPr id="12" name="Rounded Rectangle 11"/>
          <p:cNvSpPr/>
          <p:nvPr/>
        </p:nvSpPr>
        <p:spPr>
          <a:xfrm>
            <a:off x="457200" y="246888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54203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GitHub Copilot</a:t>
            </a:r>
          </a:p>
        </p:txBody>
      </p:sp>
      <p:sp>
        <p:nvSpPr>
          <p:cNvPr id="14" name="TextBox 13"/>
          <p:cNvSpPr txBox="1"/>
          <p:nvPr/>
        </p:nvSpPr>
        <p:spPr>
          <a:xfrm>
            <a:off x="640080" y="281635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Microsoft · 2021</a:t>
            </a:r>
          </a:p>
        </p:txBody>
      </p:sp>
      <p:sp>
        <p:nvSpPr>
          <p:cNvPr id="15" name="Rounded Rectangle 14"/>
          <p:cNvSpPr/>
          <p:nvPr/>
        </p:nvSpPr>
        <p:spPr>
          <a:xfrm>
            <a:off x="457200" y="320040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7355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ChatGPT / GPT-4</a:t>
            </a:r>
          </a:p>
        </p:txBody>
      </p:sp>
      <p:sp>
        <p:nvSpPr>
          <p:cNvPr id="17" name="TextBox 16"/>
          <p:cNvSpPr txBox="1"/>
          <p:nvPr/>
        </p:nvSpPr>
        <p:spPr>
          <a:xfrm>
            <a:off x="640080" y="354787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OpenAI · 2022</a:t>
            </a:r>
          </a:p>
        </p:txBody>
      </p:sp>
      <p:sp>
        <p:nvSpPr>
          <p:cNvPr id="18" name="Rounded Rectangle 17"/>
          <p:cNvSpPr/>
          <p:nvPr/>
        </p:nvSpPr>
        <p:spPr>
          <a:xfrm>
            <a:off x="457200" y="393192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00507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Cursor</a:t>
            </a:r>
          </a:p>
        </p:txBody>
      </p:sp>
      <p:sp>
        <p:nvSpPr>
          <p:cNvPr id="20" name="TextBox 19"/>
          <p:cNvSpPr txBox="1"/>
          <p:nvPr/>
        </p:nvSpPr>
        <p:spPr>
          <a:xfrm>
            <a:off x="640080" y="427939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Anysphere · 2023</a:t>
            </a:r>
          </a:p>
        </p:txBody>
      </p:sp>
      <p:sp>
        <p:nvSpPr>
          <p:cNvPr id="21" name="Rounded Rectangle 20"/>
          <p:cNvSpPr/>
          <p:nvPr/>
        </p:nvSpPr>
        <p:spPr>
          <a:xfrm>
            <a:off x="457200" y="466344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73659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Claude Code</a:t>
            </a:r>
          </a:p>
        </p:txBody>
      </p:sp>
      <p:sp>
        <p:nvSpPr>
          <p:cNvPr id="23" name="TextBox 22"/>
          <p:cNvSpPr txBox="1"/>
          <p:nvPr/>
        </p:nvSpPr>
        <p:spPr>
          <a:xfrm>
            <a:off x="640080" y="501091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Anthropic · 2024</a:t>
            </a:r>
          </a:p>
        </p:txBody>
      </p:sp>
      <p:sp>
        <p:nvSpPr>
          <p:cNvPr id="24" name="Rounded Rectangle 23"/>
          <p:cNvSpPr/>
          <p:nvPr/>
        </p:nvSpPr>
        <p:spPr>
          <a:xfrm>
            <a:off x="4292498" y="1783080"/>
            <a:ext cx="3606698"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2498" y="1783080"/>
            <a:ext cx="3606698" cy="502920"/>
          </a:xfrm>
          <a:prstGeom prst="rect">
            <a:avLst/>
          </a:prstGeom>
          <a:noFill/>
        </p:spPr>
        <p:txBody>
          <a:bodyPr wrap="square" lIns="73152" rIns="73152" tIns="36576" bIns="36576" anchor="ctr">
            <a:spAutoFit/>
          </a:bodyPr>
          <a:lstStyle/>
          <a:p>
            <a:pPr algn="ctr"/>
            <a:r>
              <a:rPr sz="1100" b="1" i="0">
                <a:solidFill>
                  <a:srgbClr val="FFFFFF"/>
                </a:solidFill>
                <a:latin typeface="Calibri"/>
              </a:rPr>
              <a:t>LOCAL SAST</a:t>
            </a:r>
          </a:p>
        </p:txBody>
      </p:sp>
      <p:sp>
        <p:nvSpPr>
          <p:cNvPr id="26" name="Rounded Rectangle 25"/>
          <p:cNvSpPr/>
          <p:nvPr/>
        </p:nvSpPr>
        <p:spPr>
          <a:xfrm>
            <a:off x="4292498" y="246888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75378" y="254203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Semgrep</a:t>
            </a:r>
          </a:p>
        </p:txBody>
      </p:sp>
      <p:sp>
        <p:nvSpPr>
          <p:cNvPr id="28" name="TextBox 27"/>
          <p:cNvSpPr txBox="1"/>
          <p:nvPr/>
        </p:nvSpPr>
        <p:spPr>
          <a:xfrm>
            <a:off x="4475378" y="281635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Rule-based · OSS</a:t>
            </a:r>
          </a:p>
        </p:txBody>
      </p:sp>
      <p:sp>
        <p:nvSpPr>
          <p:cNvPr id="29" name="Rounded Rectangle 28"/>
          <p:cNvSpPr/>
          <p:nvPr/>
        </p:nvSpPr>
        <p:spPr>
          <a:xfrm>
            <a:off x="4292498" y="320040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5378" y="327355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CodeQL</a:t>
            </a:r>
          </a:p>
        </p:txBody>
      </p:sp>
      <p:sp>
        <p:nvSpPr>
          <p:cNvPr id="31" name="TextBox 30"/>
          <p:cNvSpPr txBox="1"/>
          <p:nvPr/>
        </p:nvSpPr>
        <p:spPr>
          <a:xfrm>
            <a:off x="4475378" y="354787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GitHub · taint analysis</a:t>
            </a:r>
          </a:p>
        </p:txBody>
      </p:sp>
      <p:sp>
        <p:nvSpPr>
          <p:cNvPr id="32" name="Rounded Rectangle 31"/>
          <p:cNvSpPr/>
          <p:nvPr/>
        </p:nvSpPr>
        <p:spPr>
          <a:xfrm>
            <a:off x="4292498" y="393192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75378" y="400507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ESLint security plugins</a:t>
            </a:r>
          </a:p>
        </p:txBody>
      </p:sp>
      <p:sp>
        <p:nvSpPr>
          <p:cNvPr id="34" name="TextBox 33"/>
          <p:cNvSpPr txBox="1"/>
          <p:nvPr/>
        </p:nvSpPr>
        <p:spPr>
          <a:xfrm>
            <a:off x="4475378" y="427939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Lint-level</a:t>
            </a:r>
          </a:p>
        </p:txBody>
      </p:sp>
      <p:sp>
        <p:nvSpPr>
          <p:cNvPr id="35" name="Rounded Rectangle 34"/>
          <p:cNvSpPr/>
          <p:nvPr/>
        </p:nvSpPr>
        <p:spPr>
          <a:xfrm>
            <a:off x="4292498" y="466344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75378" y="473659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Bandit / SpotBugs</a:t>
            </a:r>
          </a:p>
        </p:txBody>
      </p:sp>
      <p:sp>
        <p:nvSpPr>
          <p:cNvPr id="37" name="TextBox 36"/>
          <p:cNvSpPr txBox="1"/>
          <p:nvPr/>
        </p:nvSpPr>
        <p:spPr>
          <a:xfrm>
            <a:off x="4475378" y="501091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Other languages</a:t>
            </a:r>
          </a:p>
        </p:txBody>
      </p:sp>
      <p:sp>
        <p:nvSpPr>
          <p:cNvPr id="38" name="Rounded Rectangle 37"/>
          <p:cNvSpPr/>
          <p:nvPr/>
        </p:nvSpPr>
        <p:spPr>
          <a:xfrm>
            <a:off x="8127796" y="1783080"/>
            <a:ext cx="3606698"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27796" y="1783080"/>
            <a:ext cx="3606698" cy="502920"/>
          </a:xfrm>
          <a:prstGeom prst="rect">
            <a:avLst/>
          </a:prstGeom>
          <a:noFill/>
        </p:spPr>
        <p:txBody>
          <a:bodyPr wrap="square" lIns="73152" rIns="73152" tIns="36576" bIns="36576" anchor="ctr">
            <a:spAutoFit/>
          </a:bodyPr>
          <a:lstStyle/>
          <a:p>
            <a:pPr algn="ctr"/>
            <a:r>
              <a:rPr sz="1100" b="1" i="0">
                <a:solidFill>
                  <a:srgbClr val="FFFFFF"/>
                </a:solidFill>
                <a:latin typeface="Calibri"/>
              </a:rPr>
              <a:t>ACADEMIC LLM-FOR-SEC</a:t>
            </a:r>
          </a:p>
        </p:txBody>
      </p:sp>
      <p:sp>
        <p:nvSpPr>
          <p:cNvPr id="40" name="Rounded Rectangle 39"/>
          <p:cNvSpPr/>
          <p:nvPr/>
        </p:nvSpPr>
        <p:spPr>
          <a:xfrm>
            <a:off x="8127796" y="246888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10676" y="254203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IRIS + GPT-4</a:t>
            </a:r>
          </a:p>
        </p:txBody>
      </p:sp>
      <p:sp>
        <p:nvSpPr>
          <p:cNvPr id="42" name="TextBox 41"/>
          <p:cNvSpPr txBox="1"/>
          <p:nvPr/>
        </p:nvSpPr>
        <p:spPr>
          <a:xfrm>
            <a:off x="8310676" y="281635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Li et al. · ICLR 2025</a:t>
            </a:r>
          </a:p>
        </p:txBody>
      </p:sp>
      <p:sp>
        <p:nvSpPr>
          <p:cNvPr id="43" name="Rounded Rectangle 42"/>
          <p:cNvSpPr/>
          <p:nvPr/>
        </p:nvSpPr>
        <p:spPr>
          <a:xfrm>
            <a:off x="8127796" y="320040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10676" y="327355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SecRepair</a:t>
            </a:r>
          </a:p>
        </p:txBody>
      </p:sp>
      <p:sp>
        <p:nvSpPr>
          <p:cNvPr id="45" name="TextBox 44"/>
          <p:cNvSpPr txBox="1"/>
          <p:nvPr/>
        </p:nvSpPr>
        <p:spPr>
          <a:xfrm>
            <a:off x="8310676" y="354787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Islam et al. · NDSS 2024</a:t>
            </a:r>
          </a:p>
        </p:txBody>
      </p:sp>
      <p:sp>
        <p:nvSpPr>
          <p:cNvPr id="46" name="Rounded Rectangle 45"/>
          <p:cNvSpPr/>
          <p:nvPr/>
        </p:nvSpPr>
        <p:spPr>
          <a:xfrm>
            <a:off x="8127796" y="393192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10676" y="400507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LLMSecGuard</a:t>
            </a:r>
          </a:p>
        </p:txBody>
      </p:sp>
      <p:sp>
        <p:nvSpPr>
          <p:cNvPr id="48" name="TextBox 47"/>
          <p:cNvSpPr txBox="1"/>
          <p:nvPr/>
        </p:nvSpPr>
        <p:spPr>
          <a:xfrm>
            <a:off x="8310676" y="427939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Kavian et al. · EASE 2024</a:t>
            </a:r>
          </a:p>
        </p:txBody>
      </p:sp>
      <p:sp>
        <p:nvSpPr>
          <p:cNvPr id="49" name="Rounded Rectangle 48"/>
          <p:cNvSpPr/>
          <p:nvPr/>
        </p:nvSpPr>
        <p:spPr>
          <a:xfrm>
            <a:off x="8127796" y="4663440"/>
            <a:ext cx="3606698" cy="6400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10676" y="4736592"/>
            <a:ext cx="3240938" cy="274320"/>
          </a:xfrm>
          <a:prstGeom prst="rect">
            <a:avLst/>
          </a:prstGeom>
          <a:noFill/>
        </p:spPr>
        <p:txBody>
          <a:bodyPr wrap="square" lIns="73152" rIns="73152" tIns="36576" bIns="36576" anchor="t">
            <a:spAutoFit/>
          </a:bodyPr>
          <a:lstStyle/>
          <a:p>
            <a:pPr algn="l"/>
            <a:r>
              <a:rPr sz="1200" b="1" i="0">
                <a:solidFill>
                  <a:srgbClr val="0B1428"/>
                </a:solidFill>
                <a:latin typeface="Calibri"/>
              </a:rPr>
              <a:t>RESCUE</a:t>
            </a:r>
          </a:p>
        </p:txBody>
      </p:sp>
      <p:sp>
        <p:nvSpPr>
          <p:cNvPr id="51" name="TextBox 50"/>
          <p:cNvSpPr txBox="1"/>
          <p:nvPr/>
        </p:nvSpPr>
        <p:spPr>
          <a:xfrm>
            <a:off x="8310676" y="5010912"/>
            <a:ext cx="3240938" cy="274320"/>
          </a:xfrm>
          <a:prstGeom prst="rect">
            <a:avLst/>
          </a:prstGeom>
          <a:noFill/>
        </p:spPr>
        <p:txBody>
          <a:bodyPr wrap="square" lIns="73152" rIns="73152" tIns="36576" bIns="36576" anchor="t">
            <a:spAutoFit/>
          </a:bodyPr>
          <a:lstStyle/>
          <a:p>
            <a:pPr algn="l"/>
            <a:r>
              <a:rPr sz="1000" b="0" i="0">
                <a:solidFill>
                  <a:srgbClr val="5B657A"/>
                </a:solidFill>
                <a:latin typeface="Calibri"/>
              </a:rPr>
              <a:t>Shi &amp; Zhang ·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No Tool Satisfies R3 + R4 + R5 Together</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7 / 25</a:t>
            </a:r>
          </a:p>
        </p:txBody>
      </p:sp>
      <p:sp>
        <p:nvSpPr>
          <p:cNvPr id="10" name="Rectangle 9"/>
          <p:cNvSpPr/>
          <p:nvPr/>
        </p:nvSpPr>
        <p:spPr>
          <a:xfrm>
            <a:off x="457200" y="1783080"/>
            <a:ext cx="210312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210312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Solution / Approach</a:t>
            </a:r>
          </a:p>
        </p:txBody>
      </p:sp>
      <p:sp>
        <p:nvSpPr>
          <p:cNvPr id="12" name="Rectangle 11"/>
          <p:cNvSpPr/>
          <p:nvPr/>
        </p:nvSpPr>
        <p:spPr>
          <a:xfrm>
            <a:off x="2560320" y="1783080"/>
            <a:ext cx="127097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1783080"/>
            <a:ext cx="127097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R1</a:t>
            </a:r>
          </a:p>
          <a:p>
            <a:pPr algn="ctr"/>
            <a:r>
              <a:rPr sz="1100" b="1" i="0">
                <a:solidFill>
                  <a:srgbClr val="FFFFFF"/>
                </a:solidFill>
                <a:latin typeface="Calibri"/>
              </a:rPr>
              <a:t>ACCURACY</a:t>
            </a:r>
          </a:p>
        </p:txBody>
      </p:sp>
      <p:sp>
        <p:nvSpPr>
          <p:cNvPr id="14" name="Rectangle 13"/>
          <p:cNvSpPr/>
          <p:nvPr/>
        </p:nvSpPr>
        <p:spPr>
          <a:xfrm>
            <a:off x="3831290" y="1783080"/>
            <a:ext cx="127097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31290" y="1783080"/>
            <a:ext cx="127097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R2</a:t>
            </a:r>
          </a:p>
          <a:p>
            <a:pPr algn="ctr"/>
            <a:r>
              <a:rPr sz="1100" b="1" i="0">
                <a:solidFill>
                  <a:srgbClr val="FFFFFF"/>
                </a:solidFill>
                <a:latin typeface="Calibri"/>
              </a:rPr>
              <a:t>CONSISTENCY</a:t>
            </a:r>
          </a:p>
        </p:txBody>
      </p:sp>
      <p:sp>
        <p:nvSpPr>
          <p:cNvPr id="16" name="Rectangle 15"/>
          <p:cNvSpPr/>
          <p:nvPr/>
        </p:nvSpPr>
        <p:spPr>
          <a:xfrm>
            <a:off x="5102260" y="1783080"/>
            <a:ext cx="127097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02260" y="1783080"/>
            <a:ext cx="127097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R3</a:t>
            </a:r>
          </a:p>
          <a:p>
            <a:pPr algn="ctr"/>
            <a:r>
              <a:rPr sz="1100" b="1" i="0">
                <a:solidFill>
                  <a:srgbClr val="FFFFFF"/>
                </a:solidFill>
                <a:latin typeface="Calibri"/>
              </a:rPr>
              <a:t>REPAIR</a:t>
            </a:r>
          </a:p>
        </p:txBody>
      </p:sp>
      <p:sp>
        <p:nvSpPr>
          <p:cNvPr id="18" name="Rectangle 17"/>
          <p:cNvSpPr/>
          <p:nvPr/>
        </p:nvSpPr>
        <p:spPr>
          <a:xfrm>
            <a:off x="6373230" y="1783080"/>
            <a:ext cx="127097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230" y="1783080"/>
            <a:ext cx="127097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R4</a:t>
            </a:r>
          </a:p>
          <a:p>
            <a:pPr algn="ctr"/>
            <a:r>
              <a:rPr sz="1100" b="1" i="0">
                <a:solidFill>
                  <a:srgbClr val="FFFFFF"/>
                </a:solidFill>
                <a:latin typeface="Calibri"/>
              </a:rPr>
              <a:t>USABILITY</a:t>
            </a:r>
          </a:p>
        </p:txBody>
      </p:sp>
      <p:sp>
        <p:nvSpPr>
          <p:cNvPr id="20" name="Rectangle 19"/>
          <p:cNvSpPr/>
          <p:nvPr/>
        </p:nvSpPr>
        <p:spPr>
          <a:xfrm>
            <a:off x="7644201" y="1783080"/>
            <a:ext cx="1270970" cy="6858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44201" y="1783080"/>
            <a:ext cx="1270970" cy="685800"/>
          </a:xfrm>
          <a:prstGeom prst="rect">
            <a:avLst/>
          </a:prstGeom>
          <a:noFill/>
        </p:spPr>
        <p:txBody>
          <a:bodyPr wrap="square" lIns="73152" rIns="73152" tIns="36576" bIns="36576" anchor="ctr">
            <a:spAutoFit/>
          </a:bodyPr>
          <a:lstStyle/>
          <a:p>
            <a:pPr algn="ctr"/>
            <a:r>
              <a:rPr sz="1100" b="1" i="0">
                <a:solidFill>
                  <a:srgbClr val="FFFFFF"/>
                </a:solidFill>
                <a:latin typeface="Calibri"/>
              </a:rPr>
              <a:t>R5</a:t>
            </a:r>
          </a:p>
          <a:p>
            <a:pPr algn="ctr"/>
            <a:r>
              <a:rPr sz="1100" b="1" i="0">
                <a:solidFill>
                  <a:srgbClr val="FFFFFF"/>
                </a:solidFill>
                <a:latin typeface="Calibri"/>
              </a:rPr>
              <a:t>PRIVACY</a:t>
            </a:r>
          </a:p>
        </p:txBody>
      </p:sp>
      <p:sp>
        <p:nvSpPr>
          <p:cNvPr id="22" name="Rectangle 21"/>
          <p:cNvSpPr/>
          <p:nvPr/>
        </p:nvSpPr>
        <p:spPr>
          <a:xfrm>
            <a:off x="457200" y="2468880"/>
            <a:ext cx="210312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2468880"/>
            <a:ext cx="1920240" cy="694944"/>
          </a:xfrm>
          <a:prstGeom prst="rect">
            <a:avLst/>
          </a:prstGeom>
          <a:noFill/>
        </p:spPr>
        <p:txBody>
          <a:bodyPr wrap="square" lIns="73152" rIns="73152" tIns="36576" bIns="36576" anchor="ctr">
            <a:spAutoFit/>
          </a:bodyPr>
          <a:lstStyle/>
          <a:p>
            <a:pPr algn="l"/>
            <a:r>
              <a:rPr sz="1300" b="0" i="0">
                <a:solidFill>
                  <a:srgbClr val="0B1428"/>
                </a:solidFill>
                <a:latin typeface="Calibri"/>
              </a:rPr>
              <a:t>GitHub Copilot</a:t>
            </a:r>
          </a:p>
        </p:txBody>
      </p:sp>
      <p:sp>
        <p:nvSpPr>
          <p:cNvPr id="24" name="Rectangle 23"/>
          <p:cNvSpPr/>
          <p:nvPr/>
        </p:nvSpPr>
        <p:spPr>
          <a:xfrm>
            <a:off x="2560320" y="2468880"/>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t-check.png"/>
          <p:cNvPicPr>
            <a:picLocks noChangeAspect="1"/>
          </p:cNvPicPr>
          <p:nvPr/>
        </p:nvPicPr>
        <p:blipFill>
          <a:blip r:embed="rId2"/>
          <a:stretch>
            <a:fillRect/>
          </a:stretch>
        </p:blipFill>
        <p:spPr>
          <a:xfrm>
            <a:off x="3058645" y="2679192"/>
            <a:ext cx="274320" cy="274320"/>
          </a:xfrm>
          <a:prstGeom prst="rect">
            <a:avLst/>
          </a:prstGeom>
        </p:spPr>
      </p:pic>
      <p:sp>
        <p:nvSpPr>
          <p:cNvPr id="26" name="Rectangle 25"/>
          <p:cNvSpPr/>
          <p:nvPr/>
        </p:nvSpPr>
        <p:spPr>
          <a:xfrm>
            <a:off x="3831290" y="2468880"/>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t-check.png"/>
          <p:cNvPicPr>
            <a:picLocks noChangeAspect="1"/>
          </p:cNvPicPr>
          <p:nvPr/>
        </p:nvPicPr>
        <p:blipFill>
          <a:blip r:embed="rId2"/>
          <a:stretch>
            <a:fillRect/>
          </a:stretch>
        </p:blipFill>
        <p:spPr>
          <a:xfrm>
            <a:off x="4329615" y="2679192"/>
            <a:ext cx="274320" cy="274320"/>
          </a:xfrm>
          <a:prstGeom prst="rect">
            <a:avLst/>
          </a:prstGeom>
        </p:spPr>
      </p:pic>
      <p:sp>
        <p:nvSpPr>
          <p:cNvPr id="28" name="Rectangle 27"/>
          <p:cNvSpPr/>
          <p:nvPr/>
        </p:nvSpPr>
        <p:spPr>
          <a:xfrm>
            <a:off x="5102260" y="2468880"/>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t-check.png"/>
          <p:cNvPicPr>
            <a:picLocks noChangeAspect="1"/>
          </p:cNvPicPr>
          <p:nvPr/>
        </p:nvPicPr>
        <p:blipFill>
          <a:blip r:embed="rId2"/>
          <a:stretch>
            <a:fillRect/>
          </a:stretch>
        </p:blipFill>
        <p:spPr>
          <a:xfrm>
            <a:off x="5600585" y="2679192"/>
            <a:ext cx="274320" cy="274320"/>
          </a:xfrm>
          <a:prstGeom prst="rect">
            <a:avLst/>
          </a:prstGeom>
        </p:spPr>
      </p:pic>
      <p:sp>
        <p:nvSpPr>
          <p:cNvPr id="30" name="Rectangle 29"/>
          <p:cNvSpPr/>
          <p:nvPr/>
        </p:nvSpPr>
        <p:spPr>
          <a:xfrm>
            <a:off x="6373230" y="2468880"/>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t-partial.png"/>
          <p:cNvPicPr>
            <a:picLocks noChangeAspect="1"/>
          </p:cNvPicPr>
          <p:nvPr/>
        </p:nvPicPr>
        <p:blipFill>
          <a:blip r:embed="rId3"/>
          <a:stretch>
            <a:fillRect/>
          </a:stretch>
        </p:blipFill>
        <p:spPr>
          <a:xfrm>
            <a:off x="6871555" y="2679192"/>
            <a:ext cx="274320" cy="274320"/>
          </a:xfrm>
          <a:prstGeom prst="rect">
            <a:avLst/>
          </a:prstGeom>
        </p:spPr>
      </p:pic>
      <p:sp>
        <p:nvSpPr>
          <p:cNvPr id="32" name="Rectangle 31"/>
          <p:cNvSpPr/>
          <p:nvPr/>
        </p:nvSpPr>
        <p:spPr>
          <a:xfrm>
            <a:off x="7644201" y="2468880"/>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cross.png"/>
          <p:cNvPicPr>
            <a:picLocks noChangeAspect="1"/>
          </p:cNvPicPr>
          <p:nvPr/>
        </p:nvPicPr>
        <p:blipFill>
          <a:blip r:embed="rId4"/>
          <a:stretch>
            <a:fillRect/>
          </a:stretch>
        </p:blipFill>
        <p:spPr>
          <a:xfrm>
            <a:off x="8142526" y="2679192"/>
            <a:ext cx="274320" cy="274320"/>
          </a:xfrm>
          <a:prstGeom prst="rect">
            <a:avLst/>
          </a:prstGeom>
        </p:spPr>
      </p:pic>
      <p:sp>
        <p:nvSpPr>
          <p:cNvPr id="34" name="Rectangle 33"/>
          <p:cNvSpPr/>
          <p:nvPr/>
        </p:nvSpPr>
        <p:spPr>
          <a:xfrm>
            <a:off x="457200" y="3163824"/>
            <a:ext cx="210312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3163824"/>
            <a:ext cx="1920240" cy="694944"/>
          </a:xfrm>
          <a:prstGeom prst="rect">
            <a:avLst/>
          </a:prstGeom>
          <a:noFill/>
        </p:spPr>
        <p:txBody>
          <a:bodyPr wrap="square" lIns="73152" rIns="73152" tIns="36576" bIns="36576" anchor="ctr">
            <a:spAutoFit/>
          </a:bodyPr>
          <a:lstStyle/>
          <a:p>
            <a:pPr algn="l"/>
            <a:r>
              <a:rPr sz="1300" b="0" i="0">
                <a:solidFill>
                  <a:srgbClr val="0B1428"/>
                </a:solidFill>
                <a:latin typeface="Calibri"/>
              </a:rPr>
              <a:t>Semgrep</a:t>
            </a:r>
          </a:p>
        </p:txBody>
      </p:sp>
      <p:sp>
        <p:nvSpPr>
          <p:cNvPr id="36" name="Rectangle 35"/>
          <p:cNvSpPr/>
          <p:nvPr/>
        </p:nvSpPr>
        <p:spPr>
          <a:xfrm>
            <a:off x="2560320" y="3163824"/>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t-partial.png"/>
          <p:cNvPicPr>
            <a:picLocks noChangeAspect="1"/>
          </p:cNvPicPr>
          <p:nvPr/>
        </p:nvPicPr>
        <p:blipFill>
          <a:blip r:embed="rId3"/>
          <a:stretch>
            <a:fillRect/>
          </a:stretch>
        </p:blipFill>
        <p:spPr>
          <a:xfrm>
            <a:off x="3058645" y="3374136"/>
            <a:ext cx="274320" cy="274320"/>
          </a:xfrm>
          <a:prstGeom prst="rect">
            <a:avLst/>
          </a:prstGeom>
        </p:spPr>
      </p:pic>
      <p:sp>
        <p:nvSpPr>
          <p:cNvPr id="38" name="Rectangle 37"/>
          <p:cNvSpPr/>
          <p:nvPr/>
        </p:nvSpPr>
        <p:spPr>
          <a:xfrm>
            <a:off x="3831290" y="3163824"/>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t-check.png"/>
          <p:cNvPicPr>
            <a:picLocks noChangeAspect="1"/>
          </p:cNvPicPr>
          <p:nvPr/>
        </p:nvPicPr>
        <p:blipFill>
          <a:blip r:embed="rId2"/>
          <a:stretch>
            <a:fillRect/>
          </a:stretch>
        </p:blipFill>
        <p:spPr>
          <a:xfrm>
            <a:off x="4329615" y="3374136"/>
            <a:ext cx="274320" cy="274320"/>
          </a:xfrm>
          <a:prstGeom prst="rect">
            <a:avLst/>
          </a:prstGeom>
        </p:spPr>
      </p:pic>
      <p:sp>
        <p:nvSpPr>
          <p:cNvPr id="40" name="Rectangle 39"/>
          <p:cNvSpPr/>
          <p:nvPr/>
        </p:nvSpPr>
        <p:spPr>
          <a:xfrm>
            <a:off x="5102260" y="3163824"/>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st-cross.png"/>
          <p:cNvPicPr>
            <a:picLocks noChangeAspect="1"/>
          </p:cNvPicPr>
          <p:nvPr/>
        </p:nvPicPr>
        <p:blipFill>
          <a:blip r:embed="rId4"/>
          <a:stretch>
            <a:fillRect/>
          </a:stretch>
        </p:blipFill>
        <p:spPr>
          <a:xfrm>
            <a:off x="5600585" y="3374136"/>
            <a:ext cx="274320" cy="274320"/>
          </a:xfrm>
          <a:prstGeom prst="rect">
            <a:avLst/>
          </a:prstGeom>
        </p:spPr>
      </p:pic>
      <p:sp>
        <p:nvSpPr>
          <p:cNvPr id="42" name="Rectangle 41"/>
          <p:cNvSpPr/>
          <p:nvPr/>
        </p:nvSpPr>
        <p:spPr>
          <a:xfrm>
            <a:off x="6373230" y="3163824"/>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t-check.png"/>
          <p:cNvPicPr>
            <a:picLocks noChangeAspect="1"/>
          </p:cNvPicPr>
          <p:nvPr/>
        </p:nvPicPr>
        <p:blipFill>
          <a:blip r:embed="rId2"/>
          <a:stretch>
            <a:fillRect/>
          </a:stretch>
        </p:blipFill>
        <p:spPr>
          <a:xfrm>
            <a:off x="6871555" y="3374136"/>
            <a:ext cx="274320" cy="274320"/>
          </a:xfrm>
          <a:prstGeom prst="rect">
            <a:avLst/>
          </a:prstGeom>
        </p:spPr>
      </p:pic>
      <p:sp>
        <p:nvSpPr>
          <p:cNvPr id="44" name="Rectangle 43"/>
          <p:cNvSpPr/>
          <p:nvPr/>
        </p:nvSpPr>
        <p:spPr>
          <a:xfrm>
            <a:off x="7644201" y="3163824"/>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st-check.png"/>
          <p:cNvPicPr>
            <a:picLocks noChangeAspect="1"/>
          </p:cNvPicPr>
          <p:nvPr/>
        </p:nvPicPr>
        <p:blipFill>
          <a:blip r:embed="rId2"/>
          <a:stretch>
            <a:fillRect/>
          </a:stretch>
        </p:blipFill>
        <p:spPr>
          <a:xfrm>
            <a:off x="8142526" y="3374136"/>
            <a:ext cx="274320" cy="274320"/>
          </a:xfrm>
          <a:prstGeom prst="rect">
            <a:avLst/>
          </a:prstGeom>
        </p:spPr>
      </p:pic>
      <p:sp>
        <p:nvSpPr>
          <p:cNvPr id="46" name="Rectangle 45"/>
          <p:cNvSpPr/>
          <p:nvPr/>
        </p:nvSpPr>
        <p:spPr>
          <a:xfrm>
            <a:off x="457200" y="3858768"/>
            <a:ext cx="210312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858768"/>
            <a:ext cx="1920240" cy="694944"/>
          </a:xfrm>
          <a:prstGeom prst="rect">
            <a:avLst/>
          </a:prstGeom>
          <a:noFill/>
        </p:spPr>
        <p:txBody>
          <a:bodyPr wrap="square" lIns="73152" rIns="73152" tIns="36576" bIns="36576" anchor="ctr">
            <a:spAutoFit/>
          </a:bodyPr>
          <a:lstStyle/>
          <a:p>
            <a:pPr algn="l"/>
            <a:r>
              <a:rPr sz="1300" b="0" i="0">
                <a:solidFill>
                  <a:srgbClr val="0B1428"/>
                </a:solidFill>
                <a:latin typeface="Calibri"/>
              </a:rPr>
              <a:t>CodeQL</a:t>
            </a:r>
          </a:p>
        </p:txBody>
      </p:sp>
      <p:sp>
        <p:nvSpPr>
          <p:cNvPr id="48" name="Rectangle 47"/>
          <p:cNvSpPr/>
          <p:nvPr/>
        </p:nvSpPr>
        <p:spPr>
          <a:xfrm>
            <a:off x="2560320" y="3858768"/>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t-partial.png"/>
          <p:cNvPicPr>
            <a:picLocks noChangeAspect="1"/>
          </p:cNvPicPr>
          <p:nvPr/>
        </p:nvPicPr>
        <p:blipFill>
          <a:blip r:embed="rId3"/>
          <a:stretch>
            <a:fillRect/>
          </a:stretch>
        </p:blipFill>
        <p:spPr>
          <a:xfrm>
            <a:off x="3058645" y="4069080"/>
            <a:ext cx="274320" cy="274320"/>
          </a:xfrm>
          <a:prstGeom prst="rect">
            <a:avLst/>
          </a:prstGeom>
        </p:spPr>
      </p:pic>
      <p:sp>
        <p:nvSpPr>
          <p:cNvPr id="50" name="Rectangle 49"/>
          <p:cNvSpPr/>
          <p:nvPr/>
        </p:nvSpPr>
        <p:spPr>
          <a:xfrm>
            <a:off x="3831290" y="3858768"/>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st-check.png"/>
          <p:cNvPicPr>
            <a:picLocks noChangeAspect="1"/>
          </p:cNvPicPr>
          <p:nvPr/>
        </p:nvPicPr>
        <p:blipFill>
          <a:blip r:embed="rId2"/>
          <a:stretch>
            <a:fillRect/>
          </a:stretch>
        </p:blipFill>
        <p:spPr>
          <a:xfrm>
            <a:off x="4329615" y="4069080"/>
            <a:ext cx="274320" cy="274320"/>
          </a:xfrm>
          <a:prstGeom prst="rect">
            <a:avLst/>
          </a:prstGeom>
        </p:spPr>
      </p:pic>
      <p:sp>
        <p:nvSpPr>
          <p:cNvPr id="52" name="Rectangle 51"/>
          <p:cNvSpPr/>
          <p:nvPr/>
        </p:nvSpPr>
        <p:spPr>
          <a:xfrm>
            <a:off x="5102260" y="3858768"/>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st-cross.png"/>
          <p:cNvPicPr>
            <a:picLocks noChangeAspect="1"/>
          </p:cNvPicPr>
          <p:nvPr/>
        </p:nvPicPr>
        <p:blipFill>
          <a:blip r:embed="rId4"/>
          <a:stretch>
            <a:fillRect/>
          </a:stretch>
        </p:blipFill>
        <p:spPr>
          <a:xfrm>
            <a:off x="5600585" y="4069080"/>
            <a:ext cx="274320" cy="274320"/>
          </a:xfrm>
          <a:prstGeom prst="rect">
            <a:avLst/>
          </a:prstGeom>
        </p:spPr>
      </p:pic>
      <p:sp>
        <p:nvSpPr>
          <p:cNvPr id="54" name="Rectangle 53"/>
          <p:cNvSpPr/>
          <p:nvPr/>
        </p:nvSpPr>
        <p:spPr>
          <a:xfrm>
            <a:off x="6373230" y="3858768"/>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st-partial.png"/>
          <p:cNvPicPr>
            <a:picLocks noChangeAspect="1"/>
          </p:cNvPicPr>
          <p:nvPr/>
        </p:nvPicPr>
        <p:blipFill>
          <a:blip r:embed="rId3"/>
          <a:stretch>
            <a:fillRect/>
          </a:stretch>
        </p:blipFill>
        <p:spPr>
          <a:xfrm>
            <a:off x="6871555" y="4069080"/>
            <a:ext cx="274320" cy="274320"/>
          </a:xfrm>
          <a:prstGeom prst="rect">
            <a:avLst/>
          </a:prstGeom>
        </p:spPr>
      </p:pic>
      <p:sp>
        <p:nvSpPr>
          <p:cNvPr id="56" name="Rectangle 55"/>
          <p:cNvSpPr/>
          <p:nvPr/>
        </p:nvSpPr>
        <p:spPr>
          <a:xfrm>
            <a:off x="7644201" y="3858768"/>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st-check.png"/>
          <p:cNvPicPr>
            <a:picLocks noChangeAspect="1"/>
          </p:cNvPicPr>
          <p:nvPr/>
        </p:nvPicPr>
        <p:blipFill>
          <a:blip r:embed="rId2"/>
          <a:stretch>
            <a:fillRect/>
          </a:stretch>
        </p:blipFill>
        <p:spPr>
          <a:xfrm>
            <a:off x="8142526" y="4069080"/>
            <a:ext cx="274320" cy="274320"/>
          </a:xfrm>
          <a:prstGeom prst="rect">
            <a:avLst/>
          </a:prstGeom>
        </p:spPr>
      </p:pic>
      <p:sp>
        <p:nvSpPr>
          <p:cNvPr id="58" name="Rectangle 57"/>
          <p:cNvSpPr/>
          <p:nvPr/>
        </p:nvSpPr>
        <p:spPr>
          <a:xfrm>
            <a:off x="457200" y="4553712"/>
            <a:ext cx="210312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4553712"/>
            <a:ext cx="1920240" cy="694944"/>
          </a:xfrm>
          <a:prstGeom prst="rect">
            <a:avLst/>
          </a:prstGeom>
          <a:noFill/>
        </p:spPr>
        <p:txBody>
          <a:bodyPr wrap="square" lIns="73152" rIns="73152" tIns="36576" bIns="36576" anchor="ctr">
            <a:spAutoFit/>
          </a:bodyPr>
          <a:lstStyle/>
          <a:p>
            <a:pPr algn="l"/>
            <a:r>
              <a:rPr sz="1300" b="0" i="0">
                <a:solidFill>
                  <a:srgbClr val="0B1428"/>
                </a:solidFill>
                <a:latin typeface="Calibri"/>
              </a:rPr>
              <a:t>IRIS (GPT-4)</a:t>
            </a:r>
          </a:p>
        </p:txBody>
      </p:sp>
      <p:sp>
        <p:nvSpPr>
          <p:cNvPr id="60" name="Rectangle 59"/>
          <p:cNvSpPr/>
          <p:nvPr/>
        </p:nvSpPr>
        <p:spPr>
          <a:xfrm>
            <a:off x="2560320" y="4553712"/>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st-partial.png"/>
          <p:cNvPicPr>
            <a:picLocks noChangeAspect="1"/>
          </p:cNvPicPr>
          <p:nvPr/>
        </p:nvPicPr>
        <p:blipFill>
          <a:blip r:embed="rId3"/>
          <a:stretch>
            <a:fillRect/>
          </a:stretch>
        </p:blipFill>
        <p:spPr>
          <a:xfrm>
            <a:off x="3058645" y="4764024"/>
            <a:ext cx="274320" cy="274320"/>
          </a:xfrm>
          <a:prstGeom prst="rect">
            <a:avLst/>
          </a:prstGeom>
        </p:spPr>
      </p:pic>
      <p:sp>
        <p:nvSpPr>
          <p:cNvPr id="62" name="Rectangle 61"/>
          <p:cNvSpPr/>
          <p:nvPr/>
        </p:nvSpPr>
        <p:spPr>
          <a:xfrm>
            <a:off x="3831290" y="4553712"/>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st-partial.png"/>
          <p:cNvPicPr>
            <a:picLocks noChangeAspect="1"/>
          </p:cNvPicPr>
          <p:nvPr/>
        </p:nvPicPr>
        <p:blipFill>
          <a:blip r:embed="rId3"/>
          <a:stretch>
            <a:fillRect/>
          </a:stretch>
        </p:blipFill>
        <p:spPr>
          <a:xfrm>
            <a:off x="4329615" y="4764024"/>
            <a:ext cx="274320" cy="274320"/>
          </a:xfrm>
          <a:prstGeom prst="rect">
            <a:avLst/>
          </a:prstGeom>
        </p:spPr>
      </p:pic>
      <p:sp>
        <p:nvSpPr>
          <p:cNvPr id="64" name="Rectangle 63"/>
          <p:cNvSpPr/>
          <p:nvPr/>
        </p:nvSpPr>
        <p:spPr>
          <a:xfrm>
            <a:off x="5102260" y="4553712"/>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st-cross.png"/>
          <p:cNvPicPr>
            <a:picLocks noChangeAspect="1"/>
          </p:cNvPicPr>
          <p:nvPr/>
        </p:nvPicPr>
        <p:blipFill>
          <a:blip r:embed="rId4"/>
          <a:stretch>
            <a:fillRect/>
          </a:stretch>
        </p:blipFill>
        <p:spPr>
          <a:xfrm>
            <a:off x="5600585" y="4764024"/>
            <a:ext cx="274320" cy="274320"/>
          </a:xfrm>
          <a:prstGeom prst="rect">
            <a:avLst/>
          </a:prstGeom>
        </p:spPr>
      </p:pic>
      <p:sp>
        <p:nvSpPr>
          <p:cNvPr id="66" name="Rectangle 65"/>
          <p:cNvSpPr/>
          <p:nvPr/>
        </p:nvSpPr>
        <p:spPr>
          <a:xfrm>
            <a:off x="6373230" y="4553712"/>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st-cross.png"/>
          <p:cNvPicPr>
            <a:picLocks noChangeAspect="1"/>
          </p:cNvPicPr>
          <p:nvPr/>
        </p:nvPicPr>
        <p:blipFill>
          <a:blip r:embed="rId4"/>
          <a:stretch>
            <a:fillRect/>
          </a:stretch>
        </p:blipFill>
        <p:spPr>
          <a:xfrm>
            <a:off x="6871555" y="4764024"/>
            <a:ext cx="274320" cy="274320"/>
          </a:xfrm>
          <a:prstGeom prst="rect">
            <a:avLst/>
          </a:prstGeom>
        </p:spPr>
      </p:pic>
      <p:sp>
        <p:nvSpPr>
          <p:cNvPr id="68" name="Rectangle 67"/>
          <p:cNvSpPr/>
          <p:nvPr/>
        </p:nvSpPr>
        <p:spPr>
          <a:xfrm>
            <a:off x="7644201" y="4553712"/>
            <a:ext cx="1270970" cy="69494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t-cross.png"/>
          <p:cNvPicPr>
            <a:picLocks noChangeAspect="1"/>
          </p:cNvPicPr>
          <p:nvPr/>
        </p:nvPicPr>
        <p:blipFill>
          <a:blip r:embed="rId4"/>
          <a:stretch>
            <a:fillRect/>
          </a:stretch>
        </p:blipFill>
        <p:spPr>
          <a:xfrm>
            <a:off x="8142526" y="4764024"/>
            <a:ext cx="274320" cy="274320"/>
          </a:xfrm>
          <a:prstGeom prst="rect">
            <a:avLst/>
          </a:prstGeom>
        </p:spPr>
      </p:pic>
      <p:sp>
        <p:nvSpPr>
          <p:cNvPr id="70" name="Rectangle 69"/>
          <p:cNvSpPr/>
          <p:nvPr/>
        </p:nvSpPr>
        <p:spPr>
          <a:xfrm>
            <a:off x="457200" y="5248656"/>
            <a:ext cx="210312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94360" y="5248656"/>
            <a:ext cx="1920240" cy="694944"/>
          </a:xfrm>
          <a:prstGeom prst="rect">
            <a:avLst/>
          </a:prstGeom>
          <a:noFill/>
        </p:spPr>
        <p:txBody>
          <a:bodyPr wrap="square" lIns="73152" rIns="73152" tIns="36576" bIns="36576" anchor="ctr">
            <a:spAutoFit/>
          </a:bodyPr>
          <a:lstStyle/>
          <a:p>
            <a:pPr algn="l"/>
            <a:r>
              <a:rPr sz="1300" b="0" i="0">
                <a:solidFill>
                  <a:srgbClr val="0B1428"/>
                </a:solidFill>
                <a:latin typeface="Calibri"/>
              </a:rPr>
              <a:t>SecRepair</a:t>
            </a:r>
          </a:p>
        </p:txBody>
      </p:sp>
      <p:sp>
        <p:nvSpPr>
          <p:cNvPr id="72" name="Rectangle 71"/>
          <p:cNvSpPr/>
          <p:nvPr/>
        </p:nvSpPr>
        <p:spPr>
          <a:xfrm>
            <a:off x="2560320" y="5248656"/>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st-partial.png"/>
          <p:cNvPicPr>
            <a:picLocks noChangeAspect="1"/>
          </p:cNvPicPr>
          <p:nvPr/>
        </p:nvPicPr>
        <p:blipFill>
          <a:blip r:embed="rId3"/>
          <a:stretch>
            <a:fillRect/>
          </a:stretch>
        </p:blipFill>
        <p:spPr>
          <a:xfrm>
            <a:off x="3058645" y="5458968"/>
            <a:ext cx="274320" cy="274320"/>
          </a:xfrm>
          <a:prstGeom prst="rect">
            <a:avLst/>
          </a:prstGeom>
        </p:spPr>
      </p:pic>
      <p:sp>
        <p:nvSpPr>
          <p:cNvPr id="74" name="Rectangle 73"/>
          <p:cNvSpPr/>
          <p:nvPr/>
        </p:nvSpPr>
        <p:spPr>
          <a:xfrm>
            <a:off x="3831290" y="5248656"/>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st-partial.png"/>
          <p:cNvPicPr>
            <a:picLocks noChangeAspect="1"/>
          </p:cNvPicPr>
          <p:nvPr/>
        </p:nvPicPr>
        <p:blipFill>
          <a:blip r:embed="rId3"/>
          <a:stretch>
            <a:fillRect/>
          </a:stretch>
        </p:blipFill>
        <p:spPr>
          <a:xfrm>
            <a:off x="4329615" y="5458968"/>
            <a:ext cx="274320" cy="274320"/>
          </a:xfrm>
          <a:prstGeom prst="rect">
            <a:avLst/>
          </a:prstGeom>
        </p:spPr>
      </p:pic>
      <p:sp>
        <p:nvSpPr>
          <p:cNvPr id="76" name="Rectangle 75"/>
          <p:cNvSpPr/>
          <p:nvPr/>
        </p:nvSpPr>
        <p:spPr>
          <a:xfrm>
            <a:off x="5102260" y="5248656"/>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st-partial.png"/>
          <p:cNvPicPr>
            <a:picLocks noChangeAspect="1"/>
          </p:cNvPicPr>
          <p:nvPr/>
        </p:nvPicPr>
        <p:blipFill>
          <a:blip r:embed="rId3"/>
          <a:stretch>
            <a:fillRect/>
          </a:stretch>
        </p:blipFill>
        <p:spPr>
          <a:xfrm>
            <a:off x="5600585" y="5458968"/>
            <a:ext cx="274320" cy="274320"/>
          </a:xfrm>
          <a:prstGeom prst="rect">
            <a:avLst/>
          </a:prstGeom>
        </p:spPr>
      </p:pic>
      <p:sp>
        <p:nvSpPr>
          <p:cNvPr id="78" name="Rectangle 77"/>
          <p:cNvSpPr/>
          <p:nvPr/>
        </p:nvSpPr>
        <p:spPr>
          <a:xfrm>
            <a:off x="6373230" y="5248656"/>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st-cross.png"/>
          <p:cNvPicPr>
            <a:picLocks noChangeAspect="1"/>
          </p:cNvPicPr>
          <p:nvPr/>
        </p:nvPicPr>
        <p:blipFill>
          <a:blip r:embed="rId4"/>
          <a:stretch>
            <a:fillRect/>
          </a:stretch>
        </p:blipFill>
        <p:spPr>
          <a:xfrm>
            <a:off x="6871555" y="5458968"/>
            <a:ext cx="274320" cy="274320"/>
          </a:xfrm>
          <a:prstGeom prst="rect">
            <a:avLst/>
          </a:prstGeom>
        </p:spPr>
      </p:pic>
      <p:sp>
        <p:nvSpPr>
          <p:cNvPr id="80" name="Rectangle 79"/>
          <p:cNvSpPr/>
          <p:nvPr/>
        </p:nvSpPr>
        <p:spPr>
          <a:xfrm>
            <a:off x="7644201" y="5248656"/>
            <a:ext cx="1270970" cy="69494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st-partial.png"/>
          <p:cNvPicPr>
            <a:picLocks noChangeAspect="1"/>
          </p:cNvPicPr>
          <p:nvPr/>
        </p:nvPicPr>
        <p:blipFill>
          <a:blip r:embed="rId3"/>
          <a:stretch>
            <a:fillRect/>
          </a:stretch>
        </p:blipFill>
        <p:spPr>
          <a:xfrm>
            <a:off x="8142526" y="5458968"/>
            <a:ext cx="274320" cy="274320"/>
          </a:xfrm>
          <a:prstGeom prst="rect">
            <a:avLst/>
          </a:prstGeom>
        </p:spPr>
      </p:pic>
      <p:sp>
        <p:nvSpPr>
          <p:cNvPr id="82" name="Rounded Rectangle 81"/>
          <p:cNvSpPr/>
          <p:nvPr/>
        </p:nvSpPr>
        <p:spPr>
          <a:xfrm>
            <a:off x="9189491" y="1783080"/>
            <a:ext cx="2545003" cy="15544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372371" y="1920240"/>
            <a:ext cx="2179243" cy="274320"/>
          </a:xfrm>
          <a:prstGeom prst="rect">
            <a:avLst/>
          </a:prstGeom>
          <a:noFill/>
        </p:spPr>
        <p:txBody>
          <a:bodyPr wrap="square" lIns="73152" rIns="73152" tIns="36576" bIns="36576" anchor="t">
            <a:spAutoFit/>
          </a:bodyPr>
          <a:lstStyle/>
          <a:p>
            <a:pPr algn="l"/>
            <a:r>
              <a:rPr sz="1000" b="1" i="0">
                <a:solidFill>
                  <a:srgbClr val="FCA311"/>
                </a:solidFill>
                <a:latin typeface="Calibri"/>
              </a:rPr>
              <a:t>LEGEND</a:t>
            </a:r>
          </a:p>
        </p:txBody>
      </p:sp>
      <p:pic>
        <p:nvPicPr>
          <p:cNvPr id="84" name="Picture 83" descr="st-check.png"/>
          <p:cNvPicPr>
            <a:picLocks noChangeAspect="1"/>
          </p:cNvPicPr>
          <p:nvPr/>
        </p:nvPicPr>
        <p:blipFill>
          <a:blip r:embed="rId2"/>
          <a:stretch>
            <a:fillRect/>
          </a:stretch>
        </p:blipFill>
        <p:spPr>
          <a:xfrm>
            <a:off x="9372371" y="2286000"/>
            <a:ext cx="237744" cy="237744"/>
          </a:xfrm>
          <a:prstGeom prst="rect">
            <a:avLst/>
          </a:prstGeom>
        </p:spPr>
      </p:pic>
      <p:sp>
        <p:nvSpPr>
          <p:cNvPr id="85" name="TextBox 84"/>
          <p:cNvSpPr txBox="1"/>
          <p:nvPr/>
        </p:nvSpPr>
        <p:spPr>
          <a:xfrm>
            <a:off x="9719843" y="2258568"/>
            <a:ext cx="1813483" cy="292608"/>
          </a:xfrm>
          <a:prstGeom prst="rect">
            <a:avLst/>
          </a:prstGeom>
          <a:noFill/>
        </p:spPr>
        <p:txBody>
          <a:bodyPr wrap="square" lIns="73152" rIns="73152" tIns="36576" bIns="36576" anchor="ctr">
            <a:spAutoFit/>
          </a:bodyPr>
          <a:lstStyle/>
          <a:p>
            <a:pPr algn="l"/>
            <a:r>
              <a:rPr sz="1200" b="0" i="0">
                <a:solidFill>
                  <a:srgbClr val="1A1F36"/>
                </a:solidFill>
                <a:latin typeface="Calibri"/>
              </a:rPr>
              <a:t>High / Satisfied</a:t>
            </a:r>
          </a:p>
        </p:txBody>
      </p:sp>
      <p:pic>
        <p:nvPicPr>
          <p:cNvPr id="86" name="Picture 85" descr="st-partial.png"/>
          <p:cNvPicPr>
            <a:picLocks noChangeAspect="1"/>
          </p:cNvPicPr>
          <p:nvPr/>
        </p:nvPicPr>
        <p:blipFill>
          <a:blip r:embed="rId3"/>
          <a:stretch>
            <a:fillRect/>
          </a:stretch>
        </p:blipFill>
        <p:spPr>
          <a:xfrm>
            <a:off x="9372371" y="2633472"/>
            <a:ext cx="237744" cy="237744"/>
          </a:xfrm>
          <a:prstGeom prst="rect">
            <a:avLst/>
          </a:prstGeom>
        </p:spPr>
      </p:pic>
      <p:sp>
        <p:nvSpPr>
          <p:cNvPr id="87" name="TextBox 86"/>
          <p:cNvSpPr txBox="1"/>
          <p:nvPr/>
        </p:nvSpPr>
        <p:spPr>
          <a:xfrm>
            <a:off x="9719843" y="2606040"/>
            <a:ext cx="1813483" cy="292608"/>
          </a:xfrm>
          <a:prstGeom prst="rect">
            <a:avLst/>
          </a:prstGeom>
          <a:noFill/>
        </p:spPr>
        <p:txBody>
          <a:bodyPr wrap="square" lIns="73152" rIns="73152" tIns="36576" bIns="36576" anchor="ctr">
            <a:spAutoFit/>
          </a:bodyPr>
          <a:lstStyle/>
          <a:p>
            <a:pPr algn="l"/>
            <a:r>
              <a:rPr sz="1200" b="0" i="0">
                <a:solidFill>
                  <a:srgbClr val="1A1F36"/>
                </a:solidFill>
                <a:latin typeface="Calibri"/>
              </a:rPr>
              <a:t>Partial</a:t>
            </a:r>
          </a:p>
        </p:txBody>
      </p:sp>
      <p:pic>
        <p:nvPicPr>
          <p:cNvPr id="88" name="Picture 87" descr="st-cross.png"/>
          <p:cNvPicPr>
            <a:picLocks noChangeAspect="1"/>
          </p:cNvPicPr>
          <p:nvPr/>
        </p:nvPicPr>
        <p:blipFill>
          <a:blip r:embed="rId4"/>
          <a:stretch>
            <a:fillRect/>
          </a:stretch>
        </p:blipFill>
        <p:spPr>
          <a:xfrm>
            <a:off x="9372371" y="2980944"/>
            <a:ext cx="237744" cy="237744"/>
          </a:xfrm>
          <a:prstGeom prst="rect">
            <a:avLst/>
          </a:prstGeom>
        </p:spPr>
      </p:pic>
      <p:sp>
        <p:nvSpPr>
          <p:cNvPr id="89" name="TextBox 88"/>
          <p:cNvSpPr txBox="1"/>
          <p:nvPr/>
        </p:nvSpPr>
        <p:spPr>
          <a:xfrm>
            <a:off x="9719843" y="2953512"/>
            <a:ext cx="1813483" cy="292608"/>
          </a:xfrm>
          <a:prstGeom prst="rect">
            <a:avLst/>
          </a:prstGeom>
          <a:noFill/>
        </p:spPr>
        <p:txBody>
          <a:bodyPr wrap="square" lIns="73152" rIns="73152" tIns="36576" bIns="36576" anchor="ctr">
            <a:spAutoFit/>
          </a:bodyPr>
          <a:lstStyle/>
          <a:p>
            <a:pPr algn="l"/>
            <a:r>
              <a:rPr sz="1200" b="0" i="0">
                <a:solidFill>
                  <a:srgbClr val="1A1F36"/>
                </a:solidFill>
                <a:latin typeface="Calibri"/>
              </a:rPr>
              <a:t>Not satisfied</a:t>
            </a:r>
          </a:p>
        </p:txBody>
      </p:sp>
      <p:sp>
        <p:nvSpPr>
          <p:cNvPr id="90" name="Rounded Rectangle 89"/>
          <p:cNvSpPr/>
          <p:nvPr/>
        </p:nvSpPr>
        <p:spPr>
          <a:xfrm>
            <a:off x="9189491" y="3611880"/>
            <a:ext cx="2545003" cy="23317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418091" y="3840480"/>
            <a:ext cx="2087803" cy="365760"/>
          </a:xfrm>
          <a:prstGeom prst="rect">
            <a:avLst/>
          </a:prstGeom>
          <a:noFill/>
        </p:spPr>
        <p:txBody>
          <a:bodyPr wrap="square" lIns="73152" rIns="73152" tIns="36576" bIns="36576" anchor="t">
            <a:spAutoFit/>
          </a:bodyPr>
          <a:lstStyle/>
          <a:p>
            <a:pPr algn="l"/>
            <a:r>
              <a:rPr sz="1200" b="1" i="0">
                <a:solidFill>
                  <a:srgbClr val="FCA311"/>
                </a:solidFill>
                <a:latin typeface="Calibri"/>
              </a:rPr>
              <a:t>THE GAP</a:t>
            </a:r>
          </a:p>
        </p:txBody>
      </p:sp>
      <p:sp>
        <p:nvSpPr>
          <p:cNvPr id="92" name="TextBox 91"/>
          <p:cNvSpPr txBox="1"/>
          <p:nvPr/>
        </p:nvSpPr>
        <p:spPr>
          <a:xfrm>
            <a:off x="9418091" y="4297680"/>
            <a:ext cx="2087803" cy="1463040"/>
          </a:xfrm>
          <a:prstGeom prst="rect">
            <a:avLst/>
          </a:prstGeom>
          <a:noFill/>
        </p:spPr>
        <p:txBody>
          <a:bodyPr wrap="square" lIns="73152" rIns="73152" tIns="36576" bIns="36576" anchor="ctr">
            <a:spAutoFit/>
          </a:bodyPr>
          <a:lstStyle/>
          <a:p>
            <a:pPr algn="l"/>
            <a:r>
              <a:rPr sz="1500" b="1" i="0">
                <a:solidFill>
                  <a:srgbClr val="FFFFFF"/>
                </a:solidFill>
                <a:latin typeface="Calibri"/>
              </a:rPr>
              <a:t>No existing tool delivers</a:t>
            </a:r>
          </a:p>
          <a:p>
            <a:pPr algn="l"/>
            <a:r>
              <a:rPr sz="1500" b="1" i="0">
                <a:solidFill>
                  <a:srgbClr val="FFFFFF"/>
                </a:solidFill>
                <a:latin typeface="Calibri"/>
              </a:rPr>
              <a:t>repair + IDE-grade latency</a:t>
            </a:r>
          </a:p>
          <a:p>
            <a:pPr algn="l"/>
            <a:r>
              <a:rPr sz="1500" b="1" i="0">
                <a:solidFill>
                  <a:srgbClr val="FFFFFF"/>
                </a:solidFill>
                <a:latin typeface="Calibri"/>
              </a:rPr>
              <a:t>+ privacy together.</a:t>
            </a:r>
          </a:p>
        </p:txBody>
      </p:sp>
      <p:sp>
        <p:nvSpPr>
          <p:cNvPr id="93" name="TextBox 92"/>
          <p:cNvSpPr txBox="1"/>
          <p:nvPr/>
        </p:nvSpPr>
        <p:spPr>
          <a:xfrm>
            <a:off x="457200" y="6016752"/>
            <a:ext cx="11277295" cy="365760"/>
          </a:xfrm>
          <a:prstGeom prst="rect">
            <a:avLst/>
          </a:prstGeom>
          <a:noFill/>
        </p:spPr>
        <p:txBody>
          <a:bodyPr wrap="square" lIns="73152" rIns="73152" tIns="36576" bIns="36576" anchor="t">
            <a:spAutoFit/>
          </a:bodyPr>
          <a:lstStyle/>
          <a:p>
            <a:pPr algn="l"/>
            <a:r>
              <a:rPr sz="900" b="0" i="1">
                <a:solidFill>
                  <a:srgbClr val="5B657A"/>
                </a:solidFill>
                <a:latin typeface="Calibri"/>
              </a:rPr>
              <a:t>Levels apply the fixed R1–R5 scales, set before evaluation:  accuracy / repair thresholds [Johnson 2013; Monperrus 2014],  latency [Card 1983; Nielsen 1994],  privacy = checklist.   Full scale + sources in Appendix A8.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Proposed Workflow</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8 / 25</a:t>
            </a:r>
          </a:p>
        </p:txBody>
      </p:sp>
      <p:sp>
        <p:nvSpPr>
          <p:cNvPr id="10" name="Rounded Rectangle 9"/>
          <p:cNvSpPr/>
          <p:nvPr/>
        </p:nvSpPr>
        <p:spPr>
          <a:xfrm>
            <a:off x="457200" y="2240280"/>
            <a:ext cx="2647873" cy="178308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2313432"/>
            <a:ext cx="2647873" cy="17099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lt-navy.png"/>
          <p:cNvPicPr>
            <a:picLocks noChangeAspect="1"/>
          </p:cNvPicPr>
          <p:nvPr/>
        </p:nvPicPr>
        <p:blipFill>
          <a:blip r:embed="rId2"/>
          <a:stretch>
            <a:fillRect/>
          </a:stretch>
        </p:blipFill>
        <p:spPr>
          <a:xfrm>
            <a:off x="658368" y="2436876"/>
            <a:ext cx="384048" cy="384048"/>
          </a:xfrm>
          <a:prstGeom prst="rect">
            <a:avLst/>
          </a:prstGeom>
        </p:spPr>
      </p:pic>
      <p:sp>
        <p:nvSpPr>
          <p:cNvPr id="13" name="TextBox 12"/>
          <p:cNvSpPr txBox="1"/>
          <p:nvPr/>
        </p:nvSpPr>
        <p:spPr>
          <a:xfrm>
            <a:off x="1188720" y="2423160"/>
            <a:ext cx="1715185" cy="411480"/>
          </a:xfrm>
          <a:prstGeom prst="rect">
            <a:avLst/>
          </a:prstGeom>
          <a:noFill/>
        </p:spPr>
        <p:txBody>
          <a:bodyPr wrap="square" lIns="73152" rIns="73152" tIns="36576" bIns="36576" anchor="ctr">
            <a:spAutoFit/>
          </a:bodyPr>
          <a:lstStyle/>
          <a:p>
            <a:pPr algn="l"/>
            <a:r>
              <a:rPr sz="1400" b="1" i="0">
                <a:solidFill>
                  <a:srgbClr val="0B1428"/>
                </a:solidFill>
                <a:latin typeface="Calibri"/>
              </a:rPr>
              <a:t>Real-time Diagnostics</a:t>
            </a:r>
          </a:p>
        </p:txBody>
      </p:sp>
      <p:sp>
        <p:nvSpPr>
          <p:cNvPr id="14" name="TextBox 13"/>
          <p:cNvSpPr txBox="1"/>
          <p:nvPr/>
        </p:nvSpPr>
        <p:spPr>
          <a:xfrm>
            <a:off x="658368" y="2944368"/>
            <a:ext cx="2245537" cy="896112"/>
          </a:xfrm>
          <a:prstGeom prst="rect">
            <a:avLst/>
          </a:prstGeom>
          <a:noFill/>
        </p:spPr>
        <p:txBody>
          <a:bodyPr wrap="square" lIns="73152" rIns="73152" tIns="36576" bIns="36576" anchor="ctr">
            <a:spAutoFit/>
          </a:bodyPr>
          <a:lstStyle/>
          <a:p>
            <a:pPr algn="l"/>
            <a:r>
              <a:rPr sz="1300" b="0" i="0">
                <a:solidFill>
                  <a:srgbClr val="1A1F36"/>
                </a:solidFill>
                <a:latin typeface="Calibri"/>
              </a:rPr>
              <a:t>Inline squiggles per function as you save.</a:t>
            </a:r>
          </a:p>
        </p:txBody>
      </p:sp>
      <p:sp>
        <p:nvSpPr>
          <p:cNvPr id="15" name="Rounded Rectangle 14"/>
          <p:cNvSpPr/>
          <p:nvPr/>
        </p:nvSpPr>
        <p:spPr>
          <a:xfrm>
            <a:off x="3333673" y="2240280"/>
            <a:ext cx="2647873" cy="178308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33673" y="2313432"/>
            <a:ext cx="2647873" cy="17099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older-navy.png"/>
          <p:cNvPicPr>
            <a:picLocks noChangeAspect="1"/>
          </p:cNvPicPr>
          <p:nvPr/>
        </p:nvPicPr>
        <p:blipFill>
          <a:blip r:embed="rId3"/>
          <a:stretch>
            <a:fillRect/>
          </a:stretch>
        </p:blipFill>
        <p:spPr>
          <a:xfrm>
            <a:off x="3534841" y="2436876"/>
            <a:ext cx="384048" cy="384048"/>
          </a:xfrm>
          <a:prstGeom prst="rect">
            <a:avLst/>
          </a:prstGeom>
        </p:spPr>
      </p:pic>
      <p:sp>
        <p:nvSpPr>
          <p:cNvPr id="18" name="TextBox 17"/>
          <p:cNvSpPr txBox="1"/>
          <p:nvPr/>
        </p:nvSpPr>
        <p:spPr>
          <a:xfrm>
            <a:off x="4065193" y="2423160"/>
            <a:ext cx="1715185" cy="411480"/>
          </a:xfrm>
          <a:prstGeom prst="rect">
            <a:avLst/>
          </a:prstGeom>
          <a:noFill/>
        </p:spPr>
        <p:txBody>
          <a:bodyPr wrap="square" lIns="73152" rIns="73152" tIns="36576" bIns="36576" anchor="ctr">
            <a:spAutoFit/>
          </a:bodyPr>
          <a:lstStyle/>
          <a:p>
            <a:pPr algn="l"/>
            <a:r>
              <a:rPr sz="1400" b="1" i="0">
                <a:solidFill>
                  <a:srgbClr val="0B1428"/>
                </a:solidFill>
                <a:latin typeface="Calibri"/>
              </a:rPr>
              <a:t>On-demand File Scan</a:t>
            </a:r>
          </a:p>
        </p:txBody>
      </p:sp>
      <p:sp>
        <p:nvSpPr>
          <p:cNvPr id="19" name="TextBox 18"/>
          <p:cNvSpPr txBox="1"/>
          <p:nvPr/>
        </p:nvSpPr>
        <p:spPr>
          <a:xfrm>
            <a:off x="3534841" y="2944368"/>
            <a:ext cx="2245537" cy="896112"/>
          </a:xfrm>
          <a:prstGeom prst="rect">
            <a:avLst/>
          </a:prstGeom>
          <a:noFill/>
        </p:spPr>
        <p:txBody>
          <a:bodyPr wrap="square" lIns="73152" rIns="73152" tIns="36576" bIns="36576" anchor="ctr">
            <a:spAutoFit/>
          </a:bodyPr>
          <a:lstStyle/>
          <a:p>
            <a:pPr algn="l"/>
            <a:r>
              <a:rPr sz="1300" b="0" i="0">
                <a:solidFill>
                  <a:srgbClr val="1A1F36"/>
                </a:solidFill>
                <a:latin typeface="Calibri"/>
              </a:rPr>
              <a:t>Right-click → scan the current file.</a:t>
            </a:r>
          </a:p>
        </p:txBody>
      </p:sp>
      <p:sp>
        <p:nvSpPr>
          <p:cNvPr id="20" name="Rounded Rectangle 19"/>
          <p:cNvSpPr/>
          <p:nvPr/>
        </p:nvSpPr>
        <p:spPr>
          <a:xfrm>
            <a:off x="6210147" y="2240280"/>
            <a:ext cx="2647873" cy="178308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0147" y="2313432"/>
            <a:ext cx="2647873" cy="17099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navy.png"/>
          <p:cNvPicPr>
            <a:picLocks noChangeAspect="1"/>
          </p:cNvPicPr>
          <p:nvPr/>
        </p:nvPicPr>
        <p:blipFill>
          <a:blip r:embed="rId4"/>
          <a:stretch>
            <a:fillRect/>
          </a:stretch>
        </p:blipFill>
        <p:spPr>
          <a:xfrm>
            <a:off x="6411315" y="2436876"/>
            <a:ext cx="384048" cy="384048"/>
          </a:xfrm>
          <a:prstGeom prst="rect">
            <a:avLst/>
          </a:prstGeom>
        </p:spPr>
      </p:pic>
      <p:sp>
        <p:nvSpPr>
          <p:cNvPr id="23" name="TextBox 22"/>
          <p:cNvSpPr txBox="1"/>
          <p:nvPr/>
        </p:nvSpPr>
        <p:spPr>
          <a:xfrm>
            <a:off x="6941667" y="2423160"/>
            <a:ext cx="1715185" cy="411480"/>
          </a:xfrm>
          <a:prstGeom prst="rect">
            <a:avLst/>
          </a:prstGeom>
          <a:noFill/>
        </p:spPr>
        <p:txBody>
          <a:bodyPr wrap="square" lIns="73152" rIns="73152" tIns="36576" bIns="36576" anchor="ctr">
            <a:spAutoFit/>
          </a:bodyPr>
          <a:lstStyle/>
          <a:p>
            <a:pPr algn="l"/>
            <a:r>
              <a:rPr sz="1400" b="1" i="0">
                <a:solidFill>
                  <a:srgbClr val="0B1428"/>
                </a:solidFill>
                <a:latin typeface="Calibri"/>
              </a:rPr>
              <a:t>Interactive Q&amp;A</a:t>
            </a:r>
          </a:p>
        </p:txBody>
      </p:sp>
      <p:sp>
        <p:nvSpPr>
          <p:cNvPr id="24" name="TextBox 23"/>
          <p:cNvSpPr txBox="1"/>
          <p:nvPr/>
        </p:nvSpPr>
        <p:spPr>
          <a:xfrm>
            <a:off x="6411315" y="2944368"/>
            <a:ext cx="2245537" cy="896112"/>
          </a:xfrm>
          <a:prstGeom prst="rect">
            <a:avLst/>
          </a:prstGeom>
          <a:noFill/>
        </p:spPr>
        <p:txBody>
          <a:bodyPr wrap="square" lIns="73152" rIns="73152" tIns="36576" bIns="36576" anchor="ctr">
            <a:spAutoFit/>
          </a:bodyPr>
          <a:lstStyle/>
          <a:p>
            <a:pPr algn="l"/>
            <a:r>
              <a:rPr sz="1300" b="0" i="0">
                <a:solidFill>
                  <a:srgbClr val="1A1F36"/>
                </a:solidFill>
                <a:latin typeface="Calibri"/>
              </a:rPr>
              <a:t>Ask about a finding in a side panel.</a:t>
            </a:r>
          </a:p>
        </p:txBody>
      </p:sp>
      <p:sp>
        <p:nvSpPr>
          <p:cNvPr id="25" name="Rounded Rectangle 24"/>
          <p:cNvSpPr/>
          <p:nvPr/>
        </p:nvSpPr>
        <p:spPr>
          <a:xfrm>
            <a:off x="9086621" y="2240280"/>
            <a:ext cx="2647873" cy="178308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086621" y="2313432"/>
            <a:ext cx="2647873" cy="17099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ayers-navy.png"/>
          <p:cNvPicPr>
            <a:picLocks noChangeAspect="1"/>
          </p:cNvPicPr>
          <p:nvPr/>
        </p:nvPicPr>
        <p:blipFill>
          <a:blip r:embed="rId5"/>
          <a:stretch>
            <a:fillRect/>
          </a:stretch>
        </p:blipFill>
        <p:spPr>
          <a:xfrm>
            <a:off x="9287789" y="2436876"/>
            <a:ext cx="384048" cy="384048"/>
          </a:xfrm>
          <a:prstGeom prst="rect">
            <a:avLst/>
          </a:prstGeom>
        </p:spPr>
      </p:pic>
      <p:sp>
        <p:nvSpPr>
          <p:cNvPr id="28" name="TextBox 27"/>
          <p:cNvSpPr txBox="1"/>
          <p:nvPr/>
        </p:nvSpPr>
        <p:spPr>
          <a:xfrm>
            <a:off x="9818141" y="2423160"/>
            <a:ext cx="1715185" cy="411480"/>
          </a:xfrm>
          <a:prstGeom prst="rect">
            <a:avLst/>
          </a:prstGeom>
          <a:noFill/>
        </p:spPr>
        <p:txBody>
          <a:bodyPr wrap="square" lIns="73152" rIns="73152" tIns="36576" bIns="36576" anchor="ctr">
            <a:spAutoFit/>
          </a:bodyPr>
          <a:lstStyle/>
          <a:p>
            <a:pPr algn="l"/>
            <a:r>
              <a:rPr sz="1400" b="1" i="0">
                <a:solidFill>
                  <a:srgbClr val="0B1428"/>
                </a:solidFill>
                <a:latin typeface="Calibri"/>
              </a:rPr>
              <a:t>Workspace Audit</a:t>
            </a:r>
          </a:p>
        </p:txBody>
      </p:sp>
      <p:sp>
        <p:nvSpPr>
          <p:cNvPr id="29" name="TextBox 28"/>
          <p:cNvSpPr txBox="1"/>
          <p:nvPr/>
        </p:nvSpPr>
        <p:spPr>
          <a:xfrm>
            <a:off x="9287789" y="2944368"/>
            <a:ext cx="2245537" cy="896112"/>
          </a:xfrm>
          <a:prstGeom prst="rect">
            <a:avLst/>
          </a:prstGeom>
          <a:noFill/>
        </p:spPr>
        <p:txBody>
          <a:bodyPr wrap="square" lIns="73152" rIns="73152" tIns="36576" bIns="36576" anchor="ctr">
            <a:spAutoFit/>
          </a:bodyPr>
          <a:lstStyle/>
          <a:p>
            <a:pPr algn="l"/>
            <a:r>
              <a:rPr sz="1300" b="0" i="0">
                <a:solidFill>
                  <a:srgbClr val="1A1F36"/>
                </a:solidFill>
                <a:latin typeface="Calibri"/>
              </a:rPr>
              <a:t>Batch scan the whole project.</a:t>
            </a:r>
          </a:p>
        </p:txBody>
      </p:sp>
      <p:sp>
        <p:nvSpPr>
          <p:cNvPr id="30" name="Rounded Rectangle 29"/>
          <p:cNvSpPr/>
          <p:nvPr/>
        </p:nvSpPr>
        <p:spPr>
          <a:xfrm>
            <a:off x="457200" y="4389120"/>
            <a:ext cx="11277295" cy="15544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498848"/>
            <a:ext cx="10728655" cy="274320"/>
          </a:xfrm>
          <a:prstGeom prst="rect">
            <a:avLst/>
          </a:prstGeom>
          <a:noFill/>
        </p:spPr>
        <p:txBody>
          <a:bodyPr wrap="square" lIns="73152" rIns="73152" tIns="36576" bIns="36576" anchor="t">
            <a:spAutoFit/>
          </a:bodyPr>
          <a:lstStyle/>
          <a:p>
            <a:pPr algn="l"/>
            <a:r>
              <a:rPr sz="1000" b="1" i="0">
                <a:solidFill>
                  <a:srgbClr val="FCA311"/>
                </a:solidFill>
                <a:latin typeface="Calibri"/>
              </a:rPr>
              <a:t>ALL FOUR WORKFLOWS HIT THE SAME PIPELINE</a:t>
            </a:r>
          </a:p>
        </p:txBody>
      </p:sp>
      <p:sp>
        <p:nvSpPr>
          <p:cNvPr id="32" name="Rounded Rectangle 31"/>
          <p:cNvSpPr/>
          <p:nvPr/>
        </p:nvSpPr>
        <p:spPr>
          <a:xfrm>
            <a:off x="822960" y="4892040"/>
            <a:ext cx="1926275" cy="777240"/>
          </a:xfrm>
          <a:prstGeom prst="roundRect">
            <a:avLst>
              <a:gd name="adj" fmla="val 6000"/>
            </a:avLst>
          </a:prstGeom>
          <a:solidFill>
            <a:srgbClr val="E6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4892040"/>
            <a:ext cx="1926275" cy="777240"/>
          </a:xfrm>
          <a:prstGeom prst="rect">
            <a:avLst/>
          </a:prstGeom>
          <a:noFill/>
        </p:spPr>
        <p:txBody>
          <a:bodyPr wrap="square" lIns="73152" rIns="73152" tIns="36576" bIns="36576" anchor="ctr">
            <a:spAutoFit/>
          </a:bodyPr>
          <a:lstStyle/>
          <a:p>
            <a:pPr algn="ctr"/>
            <a:r>
              <a:rPr sz="1100" b="1" i="0">
                <a:solidFill>
                  <a:srgbClr val="14213D"/>
                </a:solidFill>
                <a:latin typeface="Calibri"/>
              </a:rPr>
              <a:t>INPUT</a:t>
            </a:r>
          </a:p>
        </p:txBody>
      </p:sp>
      <p:sp>
        <p:nvSpPr>
          <p:cNvPr id="34" name="TextBox 33"/>
          <p:cNvSpPr txBox="1"/>
          <p:nvPr/>
        </p:nvSpPr>
        <p:spPr>
          <a:xfrm>
            <a:off x="2767523" y="4892040"/>
            <a:ext cx="192024" cy="777240"/>
          </a:xfrm>
          <a:prstGeom prst="rect">
            <a:avLst/>
          </a:prstGeom>
          <a:noFill/>
        </p:spPr>
        <p:txBody>
          <a:bodyPr wrap="square" lIns="73152" rIns="73152" tIns="36576" bIns="36576" anchor="ctr">
            <a:spAutoFit/>
          </a:bodyPr>
          <a:lstStyle/>
          <a:p>
            <a:pPr algn="ctr"/>
            <a:r>
              <a:rPr sz="1800" b="1" i="0">
                <a:solidFill>
                  <a:srgbClr val="FCA311"/>
                </a:solidFill>
                <a:latin typeface="Calibri"/>
              </a:rPr>
              <a:t>→</a:t>
            </a:r>
          </a:p>
        </p:txBody>
      </p:sp>
      <p:sp>
        <p:nvSpPr>
          <p:cNvPr id="35" name="Rounded Rectangle 34"/>
          <p:cNvSpPr/>
          <p:nvPr/>
        </p:nvSpPr>
        <p:spPr>
          <a:xfrm>
            <a:off x="2977835" y="4892040"/>
            <a:ext cx="1926275" cy="7772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77835" y="4892040"/>
            <a:ext cx="1926275" cy="777240"/>
          </a:xfrm>
          <a:prstGeom prst="rect">
            <a:avLst/>
          </a:prstGeom>
          <a:noFill/>
        </p:spPr>
        <p:txBody>
          <a:bodyPr wrap="square" lIns="73152" rIns="73152" tIns="36576" bIns="36576" anchor="ctr">
            <a:spAutoFit/>
          </a:bodyPr>
          <a:lstStyle/>
          <a:p>
            <a:pPr algn="ctr"/>
            <a:r>
              <a:rPr sz="1100" b="1" i="0">
                <a:solidFill>
                  <a:srgbClr val="FFFFFF"/>
                </a:solidFill>
                <a:latin typeface="Calibri"/>
              </a:rPr>
              <a:t>STAGE 1</a:t>
            </a:r>
          </a:p>
          <a:p>
            <a:pPr algn="ctr"/>
            <a:r>
              <a:rPr sz="1100" b="1" i="0">
                <a:solidFill>
                  <a:srgbClr val="FFFFFF"/>
                </a:solidFill>
                <a:latin typeface="Calibri"/>
              </a:rPr>
              <a:t>Detection (LLM + RAG)</a:t>
            </a:r>
          </a:p>
        </p:txBody>
      </p:sp>
      <p:sp>
        <p:nvSpPr>
          <p:cNvPr id="37" name="TextBox 36"/>
          <p:cNvSpPr txBox="1"/>
          <p:nvPr/>
        </p:nvSpPr>
        <p:spPr>
          <a:xfrm>
            <a:off x="4922398" y="4892040"/>
            <a:ext cx="192024" cy="777240"/>
          </a:xfrm>
          <a:prstGeom prst="rect">
            <a:avLst/>
          </a:prstGeom>
          <a:noFill/>
        </p:spPr>
        <p:txBody>
          <a:bodyPr wrap="square" lIns="73152" rIns="73152" tIns="36576" bIns="36576" anchor="ctr">
            <a:spAutoFit/>
          </a:bodyPr>
          <a:lstStyle/>
          <a:p>
            <a:pPr algn="ctr"/>
            <a:r>
              <a:rPr sz="1800" b="1" i="0">
                <a:solidFill>
                  <a:srgbClr val="FCA311"/>
                </a:solidFill>
                <a:latin typeface="Calibri"/>
              </a:rPr>
              <a:t>→</a:t>
            </a:r>
          </a:p>
        </p:txBody>
      </p:sp>
      <p:sp>
        <p:nvSpPr>
          <p:cNvPr id="38" name="Rounded Rectangle 37"/>
          <p:cNvSpPr/>
          <p:nvPr/>
        </p:nvSpPr>
        <p:spPr>
          <a:xfrm>
            <a:off x="5132710" y="4892040"/>
            <a:ext cx="1926275" cy="777240"/>
          </a:xfrm>
          <a:prstGeom prst="roundRect">
            <a:avLst>
              <a:gd name="adj" fmla="val 6000"/>
            </a:avLst>
          </a:prstGeom>
          <a:solidFill>
            <a:srgbClr val="E6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32710" y="4892040"/>
            <a:ext cx="1926275" cy="777240"/>
          </a:xfrm>
          <a:prstGeom prst="rect">
            <a:avLst/>
          </a:prstGeom>
          <a:noFill/>
        </p:spPr>
        <p:txBody>
          <a:bodyPr wrap="square" lIns="73152" rIns="73152" tIns="36576" bIns="36576" anchor="ctr">
            <a:spAutoFit/>
          </a:bodyPr>
          <a:lstStyle/>
          <a:p>
            <a:pPr algn="ctr"/>
            <a:r>
              <a:rPr sz="1100" b="1" i="0">
                <a:solidFill>
                  <a:srgbClr val="14213D"/>
                </a:solidFill>
                <a:latin typeface="Calibri"/>
              </a:rPr>
              <a:t>Consensus</a:t>
            </a:r>
          </a:p>
          <a:p>
            <a:pPr algn="ctr"/>
            <a:r>
              <a:rPr sz="1100" b="1" i="0">
                <a:solidFill>
                  <a:srgbClr val="14213D"/>
                </a:solidFill>
                <a:latin typeface="Calibri"/>
              </a:rPr>
              <a:t>filter</a:t>
            </a:r>
          </a:p>
        </p:txBody>
      </p:sp>
      <p:sp>
        <p:nvSpPr>
          <p:cNvPr id="40" name="TextBox 39"/>
          <p:cNvSpPr txBox="1"/>
          <p:nvPr/>
        </p:nvSpPr>
        <p:spPr>
          <a:xfrm>
            <a:off x="7077273" y="4892040"/>
            <a:ext cx="192024" cy="777240"/>
          </a:xfrm>
          <a:prstGeom prst="rect">
            <a:avLst/>
          </a:prstGeom>
          <a:noFill/>
        </p:spPr>
        <p:txBody>
          <a:bodyPr wrap="square" lIns="73152" rIns="73152" tIns="36576" bIns="36576" anchor="ctr">
            <a:spAutoFit/>
          </a:bodyPr>
          <a:lstStyle/>
          <a:p>
            <a:pPr algn="ctr"/>
            <a:r>
              <a:rPr sz="1800" b="1" i="0">
                <a:solidFill>
                  <a:srgbClr val="FCA311"/>
                </a:solidFill>
                <a:latin typeface="Calibri"/>
              </a:rPr>
              <a:t>→</a:t>
            </a:r>
          </a:p>
        </p:txBody>
      </p:sp>
      <p:sp>
        <p:nvSpPr>
          <p:cNvPr id="41" name="Rounded Rectangle 40"/>
          <p:cNvSpPr/>
          <p:nvPr/>
        </p:nvSpPr>
        <p:spPr>
          <a:xfrm>
            <a:off x="7287585" y="4892040"/>
            <a:ext cx="1926275" cy="7772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87585" y="4892040"/>
            <a:ext cx="1926275" cy="777240"/>
          </a:xfrm>
          <a:prstGeom prst="rect">
            <a:avLst/>
          </a:prstGeom>
          <a:noFill/>
        </p:spPr>
        <p:txBody>
          <a:bodyPr wrap="square" lIns="73152" rIns="73152" tIns="36576" bIns="36576" anchor="ctr">
            <a:spAutoFit/>
          </a:bodyPr>
          <a:lstStyle/>
          <a:p>
            <a:pPr algn="ctr"/>
            <a:r>
              <a:rPr sz="1100" b="1" i="0">
                <a:solidFill>
                  <a:srgbClr val="FFFFFF"/>
                </a:solidFill>
                <a:latin typeface="Calibri"/>
              </a:rPr>
              <a:t>STAGE 2</a:t>
            </a:r>
          </a:p>
          <a:p>
            <a:pPr algn="ctr"/>
            <a:r>
              <a:rPr sz="1100" b="1" i="0">
                <a:solidFill>
                  <a:srgbClr val="FFFFFF"/>
                </a:solidFill>
                <a:latin typeface="Calibri"/>
              </a:rPr>
              <a:t>Repair (LLM)</a:t>
            </a:r>
          </a:p>
        </p:txBody>
      </p:sp>
      <p:sp>
        <p:nvSpPr>
          <p:cNvPr id="43" name="TextBox 42"/>
          <p:cNvSpPr txBox="1"/>
          <p:nvPr/>
        </p:nvSpPr>
        <p:spPr>
          <a:xfrm>
            <a:off x="9232148" y="4892040"/>
            <a:ext cx="192024" cy="777240"/>
          </a:xfrm>
          <a:prstGeom prst="rect">
            <a:avLst/>
          </a:prstGeom>
          <a:noFill/>
        </p:spPr>
        <p:txBody>
          <a:bodyPr wrap="square" lIns="73152" rIns="73152" tIns="36576" bIns="36576" anchor="ctr">
            <a:spAutoFit/>
          </a:bodyPr>
          <a:lstStyle/>
          <a:p>
            <a:pPr algn="ctr"/>
            <a:r>
              <a:rPr sz="1800" b="1" i="0">
                <a:solidFill>
                  <a:srgbClr val="FCA311"/>
                </a:solidFill>
                <a:latin typeface="Calibri"/>
              </a:rPr>
              <a:t>→</a:t>
            </a:r>
          </a:p>
        </p:txBody>
      </p:sp>
      <p:sp>
        <p:nvSpPr>
          <p:cNvPr id="44" name="Rounded Rectangle 43"/>
          <p:cNvSpPr/>
          <p:nvPr/>
        </p:nvSpPr>
        <p:spPr>
          <a:xfrm>
            <a:off x="9442460" y="4892040"/>
            <a:ext cx="1926275" cy="777240"/>
          </a:xfrm>
          <a:prstGeom prst="roundRect">
            <a:avLst>
              <a:gd name="adj" fmla="val 6000"/>
            </a:avLst>
          </a:prstGeom>
          <a:solidFill>
            <a:srgbClr val="E6EB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442460" y="4892040"/>
            <a:ext cx="1926275" cy="777240"/>
          </a:xfrm>
          <a:prstGeom prst="rect">
            <a:avLst/>
          </a:prstGeom>
          <a:noFill/>
        </p:spPr>
        <p:txBody>
          <a:bodyPr wrap="square" lIns="73152" rIns="73152" tIns="36576" bIns="36576" anchor="ctr">
            <a:spAutoFit/>
          </a:bodyPr>
          <a:lstStyle/>
          <a:p>
            <a:pPr algn="ctr"/>
            <a:r>
              <a:rPr sz="1100" b="1" i="0">
                <a:solidFill>
                  <a:srgbClr val="14213D"/>
                </a:solidFill>
                <a:latin typeface="Calibri"/>
              </a:rPr>
              <a:t>QUICK</a:t>
            </a:r>
          </a:p>
          <a:p>
            <a:pPr algn="ctr"/>
            <a:r>
              <a:rPr sz="1100" b="1" i="0">
                <a:solidFill>
                  <a:srgbClr val="14213D"/>
                </a:solidFill>
                <a:latin typeface="Calibri"/>
              </a:rPr>
              <a:t>FIX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Two-Stage Local Pipeline</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9 / 25</a:t>
            </a:r>
          </a:p>
        </p:txBody>
      </p:sp>
      <p:sp>
        <p:nvSpPr>
          <p:cNvPr id="10" name="Rounded Rectangle 9"/>
          <p:cNvSpPr/>
          <p:nvPr/>
        </p:nvSpPr>
        <p:spPr>
          <a:xfrm>
            <a:off x="457200" y="2194560"/>
            <a:ext cx="5364327" cy="26974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2267712"/>
            <a:ext cx="5364327" cy="26243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navy.png"/>
          <p:cNvPicPr>
            <a:picLocks noChangeAspect="1"/>
          </p:cNvPicPr>
          <p:nvPr/>
        </p:nvPicPr>
        <p:blipFill>
          <a:blip r:embed="rId2"/>
          <a:stretch>
            <a:fillRect/>
          </a:stretch>
        </p:blipFill>
        <p:spPr>
          <a:xfrm>
            <a:off x="658368" y="2391156"/>
            <a:ext cx="384048" cy="384048"/>
          </a:xfrm>
          <a:prstGeom prst="rect">
            <a:avLst/>
          </a:prstGeom>
        </p:spPr>
      </p:pic>
      <p:sp>
        <p:nvSpPr>
          <p:cNvPr id="13" name="TextBox 12"/>
          <p:cNvSpPr txBox="1"/>
          <p:nvPr/>
        </p:nvSpPr>
        <p:spPr>
          <a:xfrm>
            <a:off x="1188720" y="2377440"/>
            <a:ext cx="4431639" cy="411480"/>
          </a:xfrm>
          <a:prstGeom prst="rect">
            <a:avLst/>
          </a:prstGeom>
          <a:noFill/>
        </p:spPr>
        <p:txBody>
          <a:bodyPr wrap="square" lIns="73152" rIns="73152" tIns="36576" bIns="36576" anchor="ctr">
            <a:spAutoFit/>
          </a:bodyPr>
          <a:lstStyle/>
          <a:p>
            <a:pPr algn="l"/>
            <a:r>
              <a:rPr sz="1600" b="1" i="0">
                <a:solidFill>
                  <a:srgbClr val="0B1428"/>
                </a:solidFill>
                <a:latin typeface="Calibri"/>
              </a:rPr>
              <a:t>Stage 1 · Detection</a:t>
            </a:r>
          </a:p>
        </p:txBody>
      </p:sp>
      <p:sp>
        <p:nvSpPr>
          <p:cNvPr id="14" name="TextBox 13"/>
          <p:cNvSpPr txBox="1"/>
          <p:nvPr/>
        </p:nvSpPr>
        <p:spPr>
          <a:xfrm>
            <a:off x="658368" y="2898648"/>
            <a:ext cx="4961991" cy="1810512"/>
          </a:xfrm>
          <a:prstGeom prst="rect">
            <a:avLst/>
          </a:prstGeom>
          <a:noFill/>
        </p:spPr>
        <p:txBody>
          <a:bodyPr wrap="square" lIns="73152" rIns="73152" tIns="36576" bIns="36576" anchor="ctr">
            <a:spAutoFit/>
          </a:bodyPr>
          <a:lstStyle/>
          <a:p>
            <a:pPr algn="l">
              <a:spcAft>
                <a:spcPts val="1000"/>
              </a:spcAft>
            </a:pPr>
            <a:r>
              <a:rPr sz="1300" b="0" i="0">
                <a:solidFill>
                  <a:srgbClr val="1A1F36"/>
                </a:solidFill>
                <a:latin typeface="Calibri"/>
              </a:rPr>
              <a:t>• JSON-mode LLM call  ·  schema-pinned output</a:t>
            </a:r>
          </a:p>
          <a:p>
            <a:pPr algn="l">
              <a:spcAft>
                <a:spcPts val="1000"/>
              </a:spcAft>
            </a:pPr>
            <a:r>
              <a:rPr sz="1300" b="0" i="0">
                <a:solidFill>
                  <a:srgbClr val="1A1F36"/>
                </a:solidFill>
                <a:latin typeface="Calibri"/>
              </a:rPr>
              <a:t>• Optional RAG context  ·  top-k CWE / OWASP snippets</a:t>
            </a:r>
          </a:p>
          <a:p>
            <a:pPr algn="l">
              <a:spcAft>
                <a:spcPts val="1000"/>
              </a:spcAft>
            </a:pPr>
            <a:r>
              <a:rPr sz="1300" b="0" i="0">
                <a:solidFill>
                  <a:srgbClr val="1A1F36"/>
                </a:solidFill>
                <a:latin typeface="Calibri"/>
              </a:rPr>
              <a:t>• Two consensus passes  ·  distinct seeds (42, 137)</a:t>
            </a:r>
          </a:p>
          <a:p>
            <a:pPr algn="l">
              <a:spcAft>
                <a:spcPts val="1000"/>
              </a:spcAft>
            </a:pPr>
            <a:r>
              <a:rPr sz="1300" b="0" i="0">
                <a:solidFill>
                  <a:srgbClr val="1A1F36"/>
                </a:solidFill>
                <a:latin typeface="Calibri"/>
              </a:rPr>
              <a:t>• Finding kept only when both passes agree</a:t>
            </a:r>
          </a:p>
          <a:p>
            <a:pPr algn="l">
              <a:spcAft>
                <a:spcPts val="1000"/>
              </a:spcAft>
            </a:pPr>
            <a:r>
              <a:rPr sz="1300" b="0" i="0">
                <a:solidFill>
                  <a:srgbClr val="1A1F36"/>
                </a:solidFill>
                <a:latin typeface="Calibri"/>
              </a:rPr>
              <a:t>• Returns:  category, severity, line range, evidence</a:t>
            </a:r>
          </a:p>
        </p:txBody>
      </p:sp>
      <p:sp>
        <p:nvSpPr>
          <p:cNvPr id="15" name="Rounded Rectangle 14"/>
          <p:cNvSpPr/>
          <p:nvPr/>
        </p:nvSpPr>
        <p:spPr>
          <a:xfrm>
            <a:off x="6370167" y="2194560"/>
            <a:ext cx="5364327" cy="269748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70167" y="2267712"/>
            <a:ext cx="5364327" cy="262432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rench-navy.png"/>
          <p:cNvPicPr>
            <a:picLocks noChangeAspect="1"/>
          </p:cNvPicPr>
          <p:nvPr/>
        </p:nvPicPr>
        <p:blipFill>
          <a:blip r:embed="rId3"/>
          <a:stretch>
            <a:fillRect/>
          </a:stretch>
        </p:blipFill>
        <p:spPr>
          <a:xfrm>
            <a:off x="6571335" y="2391156"/>
            <a:ext cx="384048" cy="384048"/>
          </a:xfrm>
          <a:prstGeom prst="rect">
            <a:avLst/>
          </a:prstGeom>
        </p:spPr>
      </p:pic>
      <p:sp>
        <p:nvSpPr>
          <p:cNvPr id="18" name="TextBox 17"/>
          <p:cNvSpPr txBox="1"/>
          <p:nvPr/>
        </p:nvSpPr>
        <p:spPr>
          <a:xfrm>
            <a:off x="7101687" y="2377440"/>
            <a:ext cx="4431639" cy="411480"/>
          </a:xfrm>
          <a:prstGeom prst="rect">
            <a:avLst/>
          </a:prstGeom>
          <a:noFill/>
        </p:spPr>
        <p:txBody>
          <a:bodyPr wrap="square" lIns="73152" rIns="73152" tIns="36576" bIns="36576" anchor="ctr">
            <a:spAutoFit/>
          </a:bodyPr>
          <a:lstStyle/>
          <a:p>
            <a:pPr algn="l"/>
            <a:r>
              <a:rPr sz="1600" b="1" i="0">
                <a:solidFill>
                  <a:srgbClr val="0B1428"/>
                </a:solidFill>
                <a:latin typeface="Calibri"/>
              </a:rPr>
              <a:t>Stage 2 · Repair</a:t>
            </a:r>
          </a:p>
        </p:txBody>
      </p:sp>
      <p:sp>
        <p:nvSpPr>
          <p:cNvPr id="19" name="TextBox 18"/>
          <p:cNvSpPr txBox="1"/>
          <p:nvPr/>
        </p:nvSpPr>
        <p:spPr>
          <a:xfrm>
            <a:off x="6571335" y="2898648"/>
            <a:ext cx="4961991" cy="1810512"/>
          </a:xfrm>
          <a:prstGeom prst="rect">
            <a:avLst/>
          </a:prstGeom>
          <a:noFill/>
        </p:spPr>
        <p:txBody>
          <a:bodyPr wrap="square" lIns="73152" rIns="73152" tIns="36576" bIns="36576" anchor="ctr">
            <a:spAutoFit/>
          </a:bodyPr>
          <a:lstStyle/>
          <a:p>
            <a:pPr algn="l">
              <a:spcAft>
                <a:spcPts val="1000"/>
              </a:spcAft>
            </a:pPr>
            <a:r>
              <a:rPr sz="1300" b="0" i="0">
                <a:solidFill>
                  <a:srgbClr val="1A1F36"/>
                </a:solidFill>
                <a:latin typeface="Calibri"/>
              </a:rPr>
              <a:t>• Separate structured call  ·  invoked only when detected</a:t>
            </a:r>
          </a:p>
          <a:p>
            <a:pPr algn="l">
              <a:spcAft>
                <a:spcPts val="1000"/>
              </a:spcAft>
            </a:pPr>
            <a:r>
              <a:rPr sz="1300" b="0" i="0">
                <a:solidFill>
                  <a:srgbClr val="1A1F36"/>
                </a:solidFill>
                <a:latin typeface="Calibri"/>
              </a:rPr>
              <a:t>• Returns  { code, language }  ·  no-fix return allowed (18 / 297)</a:t>
            </a:r>
          </a:p>
          <a:p>
            <a:pPr algn="l">
              <a:spcAft>
                <a:spcPts val="1000"/>
              </a:spcAft>
            </a:pPr>
            <a:r>
              <a:rPr sz="1300" b="0" i="0">
                <a:solidFill>
                  <a:srgbClr val="1A1F36"/>
                </a:solidFill>
                <a:latin typeface="Calibri"/>
              </a:rPr>
              <a:t>• Validator parses output with @babel/parser  ·  rejects prose</a:t>
            </a:r>
          </a:p>
          <a:p>
            <a:pPr algn="l">
              <a:spcAft>
                <a:spcPts val="1000"/>
              </a:spcAft>
            </a:pPr>
            <a:r>
              <a:rPr sz="1300" b="0" i="0">
                <a:solidFill>
                  <a:srgbClr val="1A1F36"/>
                </a:solidFill>
                <a:latin typeface="Calibri"/>
              </a:rPr>
              <a:t>• Surfaced as a VS Code Quick Fix</a:t>
            </a:r>
          </a:p>
          <a:p>
            <a:pPr algn="l">
              <a:spcAft>
                <a:spcPts val="1000"/>
              </a:spcAft>
            </a:pPr>
            <a:r>
              <a:rPr sz="1300" b="0" i="0">
                <a:solidFill>
                  <a:srgbClr val="1A1F36"/>
                </a:solidFill>
                <a:latin typeface="Calibri"/>
              </a:rPr>
              <a:t>• Developer applies the patch  ·  no silent rewrites</a:t>
            </a:r>
          </a:p>
        </p:txBody>
      </p:sp>
      <p:sp>
        <p:nvSpPr>
          <p:cNvPr id="20" name="TextBox 19"/>
          <p:cNvSpPr txBox="1"/>
          <p:nvPr/>
        </p:nvSpPr>
        <p:spPr>
          <a:xfrm>
            <a:off x="5821527" y="2194560"/>
            <a:ext cx="548640" cy="2697480"/>
          </a:xfrm>
          <a:prstGeom prst="rect">
            <a:avLst/>
          </a:prstGeom>
          <a:noFill/>
        </p:spPr>
        <p:txBody>
          <a:bodyPr wrap="square" lIns="73152" rIns="73152" tIns="36576" bIns="36576" anchor="ctr">
            <a:spAutoFit/>
          </a:bodyPr>
          <a:lstStyle/>
          <a:p>
            <a:pPr algn="ctr"/>
            <a:r>
              <a:rPr sz="2800" b="1" i="0">
                <a:solidFill>
                  <a:srgbClr val="FCA311"/>
                </a:solidFill>
                <a:latin typeface="Calibri"/>
              </a:rPr>
              <a:t>→</a:t>
            </a:r>
          </a:p>
        </p:txBody>
      </p:sp>
      <p:sp>
        <p:nvSpPr>
          <p:cNvPr id="21" name="Rounded Rectangle 20"/>
          <p:cNvSpPr/>
          <p:nvPr/>
        </p:nvSpPr>
        <p:spPr>
          <a:xfrm>
            <a:off x="457200" y="5257800"/>
            <a:ext cx="11277295" cy="7772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257800"/>
            <a:ext cx="10728655" cy="777240"/>
          </a:xfrm>
          <a:prstGeom prst="rect">
            <a:avLst/>
          </a:prstGeom>
          <a:noFill/>
        </p:spPr>
        <p:txBody>
          <a:bodyPr wrap="square" lIns="73152" rIns="73152" tIns="36576" bIns="36576" anchor="ctr">
            <a:spAutoFit/>
          </a:bodyPr>
          <a:lstStyle/>
          <a:p>
            <a:pPr algn="ctr"/>
            <a:r>
              <a:rPr sz="1400" b="1" i="0">
                <a:solidFill>
                  <a:srgbClr val="FFFFFF"/>
                </a:solidFill>
                <a:latin typeface="Calibri"/>
              </a:rPr>
              <a:t>Privacy by construction  ·  Ollama bound to loopback  ·  Embeddings local  ·  No telemetry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Live in VS Code</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10 / 25</a:t>
            </a:r>
          </a:p>
        </p:txBody>
      </p:sp>
      <p:pic>
        <p:nvPicPr>
          <p:cNvPr id="10" name="Picture 9" descr="screenshot_vscode.png"/>
          <p:cNvPicPr>
            <a:picLocks noChangeAspect="1"/>
          </p:cNvPicPr>
          <p:nvPr/>
        </p:nvPicPr>
        <p:blipFill>
          <a:blip r:embed="rId2"/>
          <a:stretch>
            <a:fillRect/>
          </a:stretch>
        </p:blipFill>
        <p:spPr>
          <a:xfrm>
            <a:off x="457200" y="1783080"/>
            <a:ext cx="6261762" cy="4206239"/>
          </a:xfrm>
          <a:prstGeom prst="rect">
            <a:avLst/>
          </a:prstGeom>
        </p:spPr>
      </p:pic>
      <p:pic>
        <p:nvPicPr>
          <p:cNvPr id="11" name="Picture 10" descr="qr_demo.png"/>
          <p:cNvPicPr>
            <a:picLocks noChangeAspect="1"/>
          </p:cNvPicPr>
          <p:nvPr/>
        </p:nvPicPr>
        <p:blipFill>
          <a:blip r:embed="rId3"/>
          <a:stretch>
            <a:fillRect/>
          </a:stretch>
        </p:blipFill>
        <p:spPr>
          <a:xfrm>
            <a:off x="9905695" y="1783080"/>
            <a:ext cx="1828800" cy="1828800"/>
          </a:xfrm>
          <a:prstGeom prst="rect">
            <a:avLst/>
          </a:prstGeom>
        </p:spPr>
      </p:pic>
      <p:sp>
        <p:nvSpPr>
          <p:cNvPr id="12" name="TextBox 11"/>
          <p:cNvSpPr txBox="1"/>
          <p:nvPr/>
        </p:nvSpPr>
        <p:spPr>
          <a:xfrm>
            <a:off x="9905695" y="3703320"/>
            <a:ext cx="1828800" cy="365760"/>
          </a:xfrm>
          <a:prstGeom prst="rect">
            <a:avLst/>
          </a:prstGeom>
          <a:noFill/>
        </p:spPr>
        <p:txBody>
          <a:bodyPr wrap="square" lIns="73152" rIns="73152" tIns="36576" bIns="36576" anchor="t">
            <a:spAutoFit/>
          </a:bodyPr>
          <a:lstStyle/>
          <a:p>
            <a:pPr algn="ctr"/>
            <a:r>
              <a:rPr sz="1000" b="1" i="0">
                <a:solidFill>
                  <a:srgbClr val="14213D"/>
                </a:solidFill>
                <a:latin typeface="Calibri"/>
              </a:rPr>
              <a:t>SCAN  ·  Install from VS Code Marketplace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System Architecture</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11 / 25</a:t>
            </a:r>
          </a:p>
        </p:txBody>
      </p:sp>
      <p:sp>
        <p:nvSpPr>
          <p:cNvPr id="10" name="Rounded Rectangle 9"/>
          <p:cNvSpPr/>
          <p:nvPr/>
        </p:nvSpPr>
        <p:spPr>
          <a:xfrm>
            <a:off x="682746" y="2511171"/>
            <a:ext cx="10036793" cy="3500438"/>
          </a:xfrm>
          <a:prstGeom prst="roundRect">
            <a:avLst>
              <a:gd name="adj" fmla="val 4000"/>
            </a:avLst>
          </a:prstGeom>
          <a:solidFill>
            <a:srgbClr val="FBFCFE"/>
          </a:solidFill>
          <a:ln w="25400">
            <a:solidFill>
              <a:srgbClr val="14213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2543500" y="3205658"/>
            <a:ext cx="733024" cy="0"/>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543500" y="3384880"/>
            <a:ext cx="733024" cy="0"/>
          </a:xfrm>
          <a:prstGeom prst="line">
            <a:avLst/>
          </a:prstGeom>
          <a:ln w="16510">
            <a:solidFill>
              <a:srgbClr val="14213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42572" y="3295269"/>
            <a:ext cx="620251" cy="0"/>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69374" y="3205658"/>
            <a:ext cx="563865" cy="0"/>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8069374" y="3384880"/>
            <a:ext cx="563865" cy="0"/>
          </a:xfrm>
          <a:prstGeom prst="line">
            <a:avLst/>
          </a:prstGeom>
          <a:ln w="16510">
            <a:solidFill>
              <a:srgbClr val="14213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896775" y="3631311"/>
            <a:ext cx="0" cy="476059"/>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122321" y="3631311"/>
            <a:ext cx="0" cy="476059"/>
          </a:xfrm>
          <a:prstGeom prst="line">
            <a:avLst/>
          </a:prstGeom>
          <a:ln w="16510">
            <a:solidFill>
              <a:srgbClr val="14213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095848" y="3869341"/>
            <a:ext cx="0" cy="126015"/>
          </a:xfrm>
          <a:prstGeom prst="line">
            <a:avLst/>
          </a:prstGeom>
          <a:ln w="20320">
            <a:solidFill>
              <a:srgbClr val="14213D"/>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573413" y="3995356"/>
            <a:ext cx="1522435" cy="0"/>
          </a:xfrm>
          <a:prstGeom prst="line">
            <a:avLst/>
          </a:prstGeom>
          <a:ln w="20320">
            <a:solidFill>
              <a:srgbClr val="14213D"/>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3413" y="3995356"/>
            <a:ext cx="0" cy="112014"/>
          </a:xfrm>
          <a:prstGeom prst="line">
            <a:avLst/>
          </a:prstGeom>
          <a:ln w="2032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716099" y="3869341"/>
            <a:ext cx="0" cy="238029"/>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716099" y="4723448"/>
            <a:ext cx="0" cy="448056"/>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618282" y="5479542"/>
            <a:ext cx="958570" cy="0"/>
          </a:xfrm>
          <a:prstGeom prst="line">
            <a:avLst/>
          </a:prstGeom>
          <a:ln w="19050">
            <a:solidFill>
              <a:srgbClr val="14213D"/>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422650" y="4723448"/>
            <a:ext cx="0" cy="448056"/>
          </a:xfrm>
          <a:prstGeom prst="line">
            <a:avLst/>
          </a:prstGeom>
          <a:ln w="2413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12060" y="4415409"/>
            <a:ext cx="169160" cy="0"/>
          </a:xfrm>
          <a:prstGeom prst="line">
            <a:avLst/>
          </a:prstGeom>
          <a:ln w="21590">
            <a:solidFill>
              <a:srgbClr val="C9184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381220" y="2427160"/>
            <a:ext cx="0" cy="1988249"/>
          </a:xfrm>
          <a:prstGeom prst="line">
            <a:avLst/>
          </a:prstGeom>
          <a:ln w="21590">
            <a:solidFill>
              <a:srgbClr val="C9184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362823" y="2721197"/>
            <a:ext cx="2706551" cy="1148144"/>
          </a:xfrm>
          <a:prstGeom prst="roundRect">
            <a:avLst>
              <a:gd name="adj" fmla="val 7000"/>
            </a:avLst>
          </a:prstGeom>
          <a:solidFill>
            <a:srgbClr val="EEF2FA"/>
          </a:solidFill>
          <a:ln w="2032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9098" y="2780840"/>
            <a:ext cx="1234002" cy="149549"/>
          </a:xfrm>
          <a:prstGeom prst="rect">
            <a:avLst/>
          </a:prstGeom>
          <a:noFill/>
          <a:ln>
            <a:noFill/>
          </a:ln>
          <a:effectLst/>
        </p:spPr>
        <p:txBody>
          <a:bodyPr wrap="none" lIns="12700" rIns="12700" tIns="0" bIns="0" anchor="ctr">
            <a:spAutoFit/>
          </a:bodyPr>
          <a:lstStyle/>
          <a:p>
            <a:pPr algn="ctr"/>
            <a:r>
              <a:rPr sz="759" b="1" i="0">
                <a:solidFill>
                  <a:srgbClr val="0B1428"/>
                </a:solidFill>
                <a:latin typeface="Calibri"/>
              </a:rPr>
              <a:t>Analyzer (two-stage)</a:t>
            </a:r>
          </a:p>
        </p:txBody>
      </p:sp>
      <p:sp>
        <p:nvSpPr>
          <p:cNvPr id="29" name="Rounded Rectangle 28"/>
          <p:cNvSpPr/>
          <p:nvPr/>
        </p:nvSpPr>
        <p:spPr>
          <a:xfrm>
            <a:off x="5503790" y="3183255"/>
            <a:ext cx="1127730" cy="616077"/>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636">
                <a:solidFill>
                  <a:srgbClr val="FFFFFF"/>
                </a:solidFill>
                <a:latin typeface="Calibri"/>
              </a:rPr>
              <a:t>Stage 1 · Detect</a:t>
            </a:r>
          </a:p>
          <a:p>
            <a:pPr algn="ctr">
              <a:spcBef>
                <a:spcPts val="100"/>
              </a:spcBef>
            </a:pPr>
            <a:r>
              <a:rPr sz="564">
                <a:solidFill>
                  <a:srgbClr val="C7D0E4"/>
                </a:solidFill>
                <a:latin typeface="Calibri"/>
              </a:rPr>
              <a:t>consensus · JSON</a:t>
            </a:r>
          </a:p>
        </p:txBody>
      </p:sp>
      <p:sp>
        <p:nvSpPr>
          <p:cNvPr id="30" name="Rounded Rectangle 29"/>
          <p:cNvSpPr/>
          <p:nvPr/>
        </p:nvSpPr>
        <p:spPr>
          <a:xfrm>
            <a:off x="6800678" y="3183255"/>
            <a:ext cx="1127730" cy="616077"/>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636">
                <a:solidFill>
                  <a:srgbClr val="FFFFFF"/>
                </a:solidFill>
                <a:latin typeface="Calibri"/>
              </a:rPr>
              <a:t>Stage 2 · Repair</a:t>
            </a:r>
          </a:p>
          <a:p>
            <a:pPr algn="ctr">
              <a:spcBef>
                <a:spcPts val="100"/>
              </a:spcBef>
            </a:pPr>
            <a:r>
              <a:rPr sz="564">
                <a:solidFill>
                  <a:srgbClr val="C7D0E4"/>
                </a:solidFill>
                <a:latin typeface="Calibri"/>
              </a:rPr>
              <a:t>Babel-validated</a:t>
            </a:r>
          </a:p>
        </p:txBody>
      </p:sp>
      <p:cxnSp>
        <p:nvCxnSpPr>
          <p:cNvPr id="31" name="Connector 30"/>
          <p:cNvCxnSpPr/>
          <p:nvPr/>
        </p:nvCxnSpPr>
        <p:spPr>
          <a:xfrm>
            <a:off x="6631519" y="3491294"/>
            <a:ext cx="169159" cy="0"/>
          </a:xfrm>
          <a:prstGeom prst="line">
            <a:avLst/>
          </a:prstGeom>
          <a:ln w="21590">
            <a:solidFill>
              <a:srgbClr val="FCA31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77451" y="2959227"/>
            <a:ext cx="1466048" cy="672084"/>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904">
                <a:solidFill>
                  <a:srgbClr val="FFFFFF"/>
                </a:solidFill>
                <a:latin typeface="Calibri"/>
              </a:rPr>
              <a:t>Client UI</a:t>
            </a:r>
          </a:p>
          <a:p>
            <a:pPr algn="ctr">
              <a:spcBef>
                <a:spcPts val="100"/>
              </a:spcBef>
            </a:pPr>
            <a:r>
              <a:rPr sz="651">
                <a:solidFill>
                  <a:srgbClr val="C7D0E4"/>
                </a:solidFill>
                <a:latin typeface="Calibri"/>
              </a:rPr>
              <a:t>VS Code · 4 workflows</a:t>
            </a:r>
          </a:p>
        </p:txBody>
      </p:sp>
      <p:sp>
        <p:nvSpPr>
          <p:cNvPr id="33" name="Rounded Rectangle 32"/>
          <p:cNvSpPr/>
          <p:nvPr/>
        </p:nvSpPr>
        <p:spPr>
          <a:xfrm>
            <a:off x="3276524" y="2959227"/>
            <a:ext cx="1466048" cy="672084"/>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904">
                <a:solidFill>
                  <a:srgbClr val="FFFFFF"/>
                </a:solidFill>
                <a:latin typeface="Calibri"/>
              </a:rPr>
              <a:t>Extension Core</a:t>
            </a:r>
          </a:p>
          <a:p>
            <a:pPr algn="ctr">
              <a:spcBef>
                <a:spcPts val="100"/>
              </a:spcBef>
            </a:pPr>
            <a:r>
              <a:rPr sz="651">
                <a:solidFill>
                  <a:srgbClr val="C7D0E4"/>
                </a:solidFill>
                <a:latin typeface="Calibri"/>
              </a:rPr>
              <a:t>orchestration</a:t>
            </a:r>
          </a:p>
        </p:txBody>
      </p:sp>
      <p:sp>
        <p:nvSpPr>
          <p:cNvPr id="34" name="Rounded Rectangle 33"/>
          <p:cNvSpPr/>
          <p:nvPr/>
        </p:nvSpPr>
        <p:spPr>
          <a:xfrm>
            <a:off x="8633239" y="2959227"/>
            <a:ext cx="1578821" cy="672084"/>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904">
                <a:solidFill>
                  <a:srgbClr val="FFFFFF"/>
                </a:solidFill>
                <a:latin typeface="Calibri"/>
              </a:rPr>
              <a:t>Ollama</a:t>
            </a:r>
          </a:p>
          <a:p>
            <a:pPr algn="ctr">
              <a:spcBef>
                <a:spcPts val="100"/>
              </a:spcBef>
            </a:pPr>
            <a:r>
              <a:rPr sz="622">
                <a:solidFill>
                  <a:srgbClr val="C7D0E4"/>
                </a:solidFill>
                <a:latin typeface="Calibri"/>
              </a:rPr>
              <a:t>local · codellama / qwen3</a:t>
            </a:r>
          </a:p>
        </p:txBody>
      </p:sp>
      <p:sp>
        <p:nvSpPr>
          <p:cNvPr id="35" name="Rounded Rectangle 34"/>
          <p:cNvSpPr/>
          <p:nvPr/>
        </p:nvSpPr>
        <p:spPr>
          <a:xfrm>
            <a:off x="5870302" y="4107370"/>
            <a:ext cx="1691594" cy="616077"/>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832">
                <a:solidFill>
                  <a:srgbClr val="FFFFFF"/>
                </a:solidFill>
                <a:latin typeface="Calibri"/>
              </a:rPr>
              <a:t>RAG Manager</a:t>
            </a:r>
          </a:p>
          <a:p>
            <a:pPr algn="ctr">
              <a:spcBef>
                <a:spcPts val="100"/>
              </a:spcBef>
            </a:pPr>
            <a:r>
              <a:rPr sz="622">
                <a:solidFill>
                  <a:srgbClr val="C7D0E4"/>
                </a:solidFill>
                <a:latin typeface="Calibri"/>
              </a:rPr>
              <a:t>context retrieval</a:t>
            </a:r>
          </a:p>
        </p:txBody>
      </p:sp>
      <p:sp>
        <p:nvSpPr>
          <p:cNvPr id="36" name="Rounded Rectangle 35"/>
          <p:cNvSpPr/>
          <p:nvPr/>
        </p:nvSpPr>
        <p:spPr>
          <a:xfrm>
            <a:off x="8633239" y="4107370"/>
            <a:ext cx="1578821" cy="616077"/>
          </a:xfrm>
          <a:prstGeom prst="roundRect">
            <a:avLst>
              <a:gd name="adj" fmla="val 10000"/>
            </a:avLst>
          </a:prstGeom>
          <a:solidFill>
            <a:srgbClr val="14213D"/>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795">
                <a:solidFill>
                  <a:srgbClr val="FFFFFF"/>
                </a:solidFill>
                <a:latin typeface="Calibri"/>
              </a:rPr>
              <a:t>Egress Gate</a:t>
            </a:r>
          </a:p>
          <a:p>
            <a:pPr algn="ctr">
              <a:spcBef>
                <a:spcPts val="100"/>
              </a:spcBef>
            </a:pPr>
            <a:r>
              <a:rPr sz="549">
                <a:solidFill>
                  <a:srgbClr val="C7D0E4"/>
                </a:solidFill>
                <a:latin typeface="Calibri"/>
              </a:rPr>
              <a:t>loopback-only · off by default</a:t>
            </a:r>
          </a:p>
        </p:txBody>
      </p:sp>
      <p:sp>
        <p:nvSpPr>
          <p:cNvPr id="37" name="Can 36"/>
          <p:cNvSpPr/>
          <p:nvPr/>
        </p:nvSpPr>
        <p:spPr>
          <a:xfrm>
            <a:off x="3163751" y="4107370"/>
            <a:ext cx="1691594" cy="616077"/>
          </a:xfrm>
          <a:prstGeom prst="can">
            <a:avLst/>
          </a:prstGeom>
          <a:solidFill>
            <a:srgbClr val="E9EEF8"/>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759">
                <a:solidFill>
                  <a:srgbClr val="14213D"/>
                </a:solidFill>
                <a:latin typeface="Calibri"/>
              </a:rPr>
              <a:t>Analysis Cache</a:t>
            </a:r>
          </a:p>
          <a:p>
            <a:pPr algn="ctr">
              <a:spcBef>
                <a:spcPts val="100"/>
              </a:spcBef>
            </a:pPr>
            <a:r>
              <a:rPr sz="578">
                <a:solidFill>
                  <a:srgbClr val="5B657A"/>
                </a:solidFill>
                <a:latin typeface="Calibri"/>
              </a:rPr>
              <a:t>LRU · 100 · 30 min</a:t>
            </a:r>
          </a:p>
        </p:txBody>
      </p:sp>
      <p:sp>
        <p:nvSpPr>
          <p:cNvPr id="38" name="Can 37"/>
          <p:cNvSpPr/>
          <p:nvPr/>
        </p:nvSpPr>
        <p:spPr>
          <a:xfrm>
            <a:off x="5813915" y="5171504"/>
            <a:ext cx="1804367" cy="616077"/>
          </a:xfrm>
          <a:prstGeom prst="can">
            <a:avLst/>
          </a:prstGeom>
          <a:solidFill>
            <a:srgbClr val="E9EEF8"/>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759">
                <a:solidFill>
                  <a:srgbClr val="14213D"/>
                </a:solidFill>
                <a:latin typeface="Calibri"/>
              </a:rPr>
              <a:t>Knowledge Base</a:t>
            </a:r>
          </a:p>
          <a:p>
            <a:pPr algn="ctr">
              <a:spcBef>
                <a:spcPts val="100"/>
              </a:spcBef>
            </a:pPr>
            <a:r>
              <a:rPr sz="578">
                <a:solidFill>
                  <a:srgbClr val="5B657A"/>
                </a:solidFill>
                <a:latin typeface="Calibri"/>
              </a:rPr>
              <a:t>HNSWlib · Ed25519-signed</a:t>
            </a:r>
          </a:p>
        </p:txBody>
      </p:sp>
      <p:sp>
        <p:nvSpPr>
          <p:cNvPr id="39" name="Can 38"/>
          <p:cNvSpPr/>
          <p:nvPr/>
        </p:nvSpPr>
        <p:spPr>
          <a:xfrm>
            <a:off x="8576852" y="5171504"/>
            <a:ext cx="1691594" cy="616077"/>
          </a:xfrm>
          <a:prstGeom prst="can">
            <a:avLst/>
          </a:prstGeom>
          <a:solidFill>
            <a:srgbClr val="E9EEF8"/>
          </a:solidFill>
          <a:ln w="1905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759">
                <a:solidFill>
                  <a:srgbClr val="14213D"/>
                </a:solidFill>
                <a:latin typeface="Calibri"/>
              </a:rPr>
              <a:t>Vulnerability Data</a:t>
            </a:r>
          </a:p>
          <a:p>
            <a:pPr algn="ctr">
              <a:spcBef>
                <a:spcPts val="100"/>
              </a:spcBef>
            </a:pPr>
            <a:r>
              <a:rPr sz="578">
                <a:solidFill>
                  <a:srgbClr val="5B657A"/>
                </a:solidFill>
                <a:latin typeface="Calibri"/>
              </a:rPr>
              <a:t>24 h cache · 7 sources</a:t>
            </a:r>
          </a:p>
        </p:txBody>
      </p:sp>
      <p:sp>
        <p:nvSpPr>
          <p:cNvPr id="40" name="Rounded Rectangle 39"/>
          <p:cNvSpPr/>
          <p:nvPr/>
        </p:nvSpPr>
        <p:spPr>
          <a:xfrm>
            <a:off x="9197104" y="1923098"/>
            <a:ext cx="2368232" cy="504063"/>
          </a:xfrm>
          <a:prstGeom prst="roundRect">
            <a:avLst>
              <a:gd name="adj" fmla="val 10000"/>
            </a:avLst>
          </a:prstGeom>
          <a:solidFill>
            <a:srgbClr val="FFFFFF"/>
          </a:solidFill>
          <a:ln w="2286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b="1" sz="832">
                <a:solidFill>
                  <a:srgbClr val="0B1428"/>
                </a:solidFill>
                <a:latin typeface="Calibri"/>
              </a:rPr>
              <a:t>Public Security Feeds</a:t>
            </a:r>
          </a:p>
          <a:p>
            <a:pPr algn="ctr">
              <a:spcBef>
                <a:spcPts val="100"/>
              </a:spcBef>
            </a:pPr>
            <a:r>
              <a:rPr sz="622">
                <a:solidFill>
                  <a:srgbClr val="5B657A"/>
                </a:solidFill>
                <a:latin typeface="Calibri"/>
              </a:rPr>
              <a:t>NVD · OWASP · CWE · GitHub</a:t>
            </a:r>
          </a:p>
        </p:txBody>
      </p:sp>
      <p:sp>
        <p:nvSpPr>
          <p:cNvPr id="41" name="TextBox 40"/>
          <p:cNvSpPr txBox="1"/>
          <p:nvPr/>
        </p:nvSpPr>
        <p:spPr>
          <a:xfrm>
            <a:off x="9725626" y="1787717"/>
            <a:ext cx="1311189" cy="113942"/>
          </a:xfrm>
          <a:prstGeom prst="rect">
            <a:avLst/>
          </a:prstGeom>
          <a:noFill/>
          <a:ln>
            <a:noFill/>
          </a:ln>
          <a:effectLst/>
        </p:spPr>
        <p:txBody>
          <a:bodyPr wrap="none" lIns="12700" rIns="12700" tIns="0" bIns="0" anchor="ctr">
            <a:spAutoFit/>
          </a:bodyPr>
          <a:lstStyle/>
          <a:p>
            <a:pPr algn="ctr"/>
            <a:r>
              <a:rPr sz="578" b="0" i="1">
                <a:solidFill>
                  <a:srgbClr val="5B657A"/>
                </a:solidFill>
                <a:latin typeface="Calibri"/>
              </a:rPr>
              <a:t>outside the privacy boundary</a:t>
            </a:r>
          </a:p>
        </p:txBody>
      </p:sp>
      <p:sp>
        <p:nvSpPr>
          <p:cNvPr id="42" name="TextBox 41"/>
          <p:cNvSpPr txBox="1"/>
          <p:nvPr/>
        </p:nvSpPr>
        <p:spPr>
          <a:xfrm>
            <a:off x="851905" y="2560132"/>
            <a:ext cx="936281" cy="170913"/>
          </a:xfrm>
          <a:prstGeom prst="rect">
            <a:avLst/>
          </a:prstGeom>
          <a:noFill/>
          <a:ln>
            <a:noFill/>
          </a:ln>
          <a:effectLst/>
        </p:spPr>
        <p:txBody>
          <a:bodyPr wrap="none" lIns="12700" rIns="12700" tIns="0" bIns="0" anchor="ctr">
            <a:spAutoFit/>
          </a:bodyPr>
          <a:lstStyle/>
          <a:p>
            <a:pPr algn="l"/>
            <a:r>
              <a:rPr sz="868" b="1" i="0">
                <a:solidFill>
                  <a:srgbClr val="0B1428"/>
                </a:solidFill>
                <a:latin typeface="Calibri"/>
              </a:rPr>
              <a:t>CODE GUARDIAN</a:t>
            </a:r>
          </a:p>
        </p:txBody>
      </p:sp>
      <p:sp>
        <p:nvSpPr>
          <p:cNvPr id="43" name="TextBox 42"/>
          <p:cNvSpPr txBox="1"/>
          <p:nvPr/>
        </p:nvSpPr>
        <p:spPr>
          <a:xfrm>
            <a:off x="851905" y="2743916"/>
            <a:ext cx="1465562" cy="128185"/>
          </a:xfrm>
          <a:prstGeom prst="rect">
            <a:avLst/>
          </a:prstGeom>
          <a:noFill/>
          <a:ln>
            <a:noFill/>
          </a:ln>
          <a:effectLst/>
        </p:spPr>
        <p:txBody>
          <a:bodyPr wrap="none" lIns="12700" rIns="12700" tIns="0" bIns="0" anchor="ctr">
            <a:spAutoFit/>
          </a:bodyPr>
          <a:lstStyle/>
          <a:p>
            <a:pPr algn="l"/>
            <a:r>
              <a:rPr sz="651" b="0" i="1">
                <a:solidFill>
                  <a:srgbClr val="5B657A"/>
                </a:solidFill>
                <a:latin typeface="Calibri"/>
              </a:rPr>
              <a:t>runs entirely on your laptop</a:t>
            </a:r>
          </a:p>
        </p:txBody>
      </p:sp>
      <p:sp>
        <p:nvSpPr>
          <p:cNvPr id="44" name="Rounded Rectangle 43"/>
          <p:cNvSpPr/>
          <p:nvPr/>
        </p:nvSpPr>
        <p:spPr>
          <a:xfrm>
            <a:off x="908292" y="4667440"/>
            <a:ext cx="2142686" cy="1288161"/>
          </a:xfrm>
          <a:prstGeom prst="roundRect">
            <a:avLst>
              <a:gd name="adj" fmla="val 6000"/>
            </a:avLst>
          </a:prstGeom>
          <a:solidFill>
            <a:srgbClr val="FFF6E2"/>
          </a:solidFill>
          <a:ln w="22860">
            <a:solidFill>
              <a:srgbClr val="FCA3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44097" y="4757127"/>
            <a:ext cx="1471076" cy="156670"/>
          </a:xfrm>
          <a:prstGeom prst="rect">
            <a:avLst/>
          </a:prstGeom>
          <a:noFill/>
          <a:ln>
            <a:noFill/>
          </a:ln>
          <a:effectLst/>
        </p:spPr>
        <p:txBody>
          <a:bodyPr wrap="none" lIns="12700" rIns="12700" tIns="0" bIns="0" anchor="ctr">
            <a:spAutoFit/>
          </a:bodyPr>
          <a:lstStyle/>
          <a:p>
            <a:pPr algn="ctr"/>
            <a:r>
              <a:rPr sz="795" b="1" i="0">
                <a:solidFill>
                  <a:srgbClr val="0B1428"/>
                </a:solidFill>
                <a:latin typeface="Calibri"/>
              </a:rPr>
              <a:t>Privacy by construction</a:t>
            </a:r>
          </a:p>
        </p:txBody>
      </p:sp>
      <p:sp>
        <p:nvSpPr>
          <p:cNvPr id="46" name="TextBox 45"/>
          <p:cNvSpPr txBox="1"/>
          <p:nvPr/>
        </p:nvSpPr>
        <p:spPr>
          <a:xfrm>
            <a:off x="1077451" y="4964278"/>
            <a:ext cx="1917140" cy="952119"/>
          </a:xfrm>
          <a:prstGeom prst="rect">
            <a:avLst/>
          </a:prstGeom>
          <a:noFill/>
          <a:ln>
            <a:noFill/>
          </a:ln>
        </p:spPr>
        <p:txBody>
          <a:bodyPr wrap="none" lIns="12700" rIns="12700" tIns="0" bIns="0">
            <a:spAutoFit/>
          </a:bodyPr>
          <a:lstStyle/>
          <a:p>
            <a:pPr algn="l">
              <a:spcAft>
                <a:spcPts val="300"/>
              </a:spcAft>
            </a:pPr>
            <a:r>
              <a:rPr sz="680" b="1">
                <a:solidFill>
                  <a:srgbClr val="2E8B57"/>
                </a:solidFill>
                <a:latin typeface="Calibri"/>
              </a:rPr>
              <a:t>✓ </a:t>
            </a:r>
            <a:r>
              <a:rPr sz="680">
                <a:solidFill>
                  <a:srgbClr val="1A1F36"/>
                </a:solidFill>
                <a:latin typeface="Calibri"/>
              </a:rPr>
              <a:t>all local execution</a:t>
            </a:r>
          </a:p>
          <a:p>
            <a:pPr algn="l">
              <a:spcAft>
                <a:spcPts val="300"/>
              </a:spcAft>
            </a:pPr>
            <a:r>
              <a:rPr sz="680" b="1">
                <a:solidFill>
                  <a:srgbClr val="2E8B57"/>
                </a:solidFill>
                <a:latin typeface="Calibri"/>
              </a:rPr>
              <a:t>✓ </a:t>
            </a:r>
            <a:r>
              <a:rPr sz="680">
                <a:solidFill>
                  <a:srgbClr val="1A1F36"/>
                </a:solidFill>
                <a:latin typeface="Calibri"/>
              </a:rPr>
              <a:t>no code leaves machine</a:t>
            </a:r>
          </a:p>
          <a:p>
            <a:pPr algn="l">
              <a:spcAft>
                <a:spcPts val="300"/>
              </a:spcAft>
            </a:pPr>
            <a:r>
              <a:rPr sz="680" b="1">
                <a:solidFill>
                  <a:srgbClr val="2E8B57"/>
                </a:solidFill>
                <a:latin typeface="Calibri"/>
              </a:rPr>
              <a:t>✓ </a:t>
            </a:r>
            <a:r>
              <a:rPr sz="680">
                <a:solidFill>
                  <a:srgbClr val="1A1F36"/>
                </a:solidFill>
                <a:latin typeface="Calibri"/>
              </a:rPr>
              <a:t>no telemetry</a:t>
            </a:r>
          </a:p>
          <a:p>
            <a:pPr algn="l">
              <a:spcAft>
                <a:spcPts val="300"/>
              </a:spcAft>
            </a:pPr>
            <a:r>
              <a:rPr sz="680" b="1">
                <a:solidFill>
                  <a:srgbClr val="2E8B57"/>
                </a:solidFill>
                <a:latin typeface="Calibri"/>
              </a:rPr>
              <a:t>✓ </a:t>
            </a:r>
            <a:r>
              <a:rPr sz="680">
                <a:solidFill>
                  <a:srgbClr val="1A1F36"/>
                </a:solidFill>
                <a:latin typeface="Calibri"/>
              </a:rPr>
              <a:t>egress off by default</a:t>
            </a:r>
          </a:p>
          <a:p>
            <a:pPr algn="l">
              <a:spcAft>
                <a:spcPts val="300"/>
              </a:spcAft>
            </a:pPr>
            <a:r>
              <a:rPr sz="680" b="1">
                <a:solidFill>
                  <a:srgbClr val="2E8B57"/>
                </a:solidFill>
                <a:latin typeface="Calibri"/>
              </a:rPr>
              <a:t>✓ </a:t>
            </a:r>
            <a:r>
              <a:rPr sz="680">
                <a:solidFill>
                  <a:srgbClr val="1A1F36"/>
                </a:solidFill>
                <a:latin typeface="Calibri"/>
              </a:rPr>
              <a:t>signed corpus</a:t>
            </a:r>
          </a:p>
        </p:txBody>
      </p:sp>
      <p:sp>
        <p:nvSpPr>
          <p:cNvPr id="47" name="TextBox 46"/>
          <p:cNvSpPr txBox="1"/>
          <p:nvPr/>
        </p:nvSpPr>
        <p:spPr>
          <a:xfrm>
            <a:off x="2698242" y="2995948"/>
            <a:ext cx="423540" cy="128185"/>
          </a:xfrm>
          <a:prstGeom prst="rect">
            <a:avLst/>
          </a:prstGeom>
          <a:solidFill>
            <a:srgbClr val="FFFFFF"/>
          </a:solidFill>
          <a:ln>
            <a:noFill/>
          </a:ln>
          <a:effectLst/>
        </p:spPr>
        <p:txBody>
          <a:bodyPr wrap="none" lIns="12700" rIns="12700" tIns="0" bIns="0" anchor="ctr">
            <a:spAutoFit/>
          </a:bodyPr>
          <a:lstStyle/>
          <a:p>
            <a:pPr algn="ctr"/>
            <a:r>
              <a:rPr sz="651" b="1" i="0">
                <a:solidFill>
                  <a:srgbClr val="14213D"/>
                </a:solidFill>
                <a:latin typeface="Calibri"/>
              </a:rPr>
              <a:t>analyze</a:t>
            </a:r>
          </a:p>
        </p:txBody>
      </p:sp>
      <p:sp>
        <p:nvSpPr>
          <p:cNvPr id="48" name="TextBox 47"/>
          <p:cNvSpPr txBox="1"/>
          <p:nvPr/>
        </p:nvSpPr>
        <p:spPr>
          <a:xfrm>
            <a:off x="4848647" y="3088407"/>
            <a:ext cx="408103" cy="122488"/>
          </a:xfrm>
          <a:prstGeom prst="rect">
            <a:avLst/>
          </a:prstGeom>
          <a:solidFill>
            <a:srgbClr val="FFFFFF"/>
          </a:solidFill>
          <a:ln>
            <a:noFill/>
          </a:ln>
          <a:effectLst/>
        </p:spPr>
        <p:txBody>
          <a:bodyPr wrap="none" lIns="12700" rIns="12700" tIns="0" bIns="0" anchor="ctr">
            <a:spAutoFit/>
          </a:bodyPr>
          <a:lstStyle/>
          <a:p>
            <a:pPr algn="ctr"/>
            <a:r>
              <a:rPr sz="622" b="1" i="0">
                <a:solidFill>
                  <a:srgbClr val="14213D"/>
                </a:solidFill>
                <a:latin typeface="Calibri"/>
              </a:rPr>
              <a:t>on miss</a:t>
            </a:r>
          </a:p>
        </p:txBody>
      </p:sp>
      <p:sp>
        <p:nvSpPr>
          <p:cNvPr id="49" name="TextBox 48"/>
          <p:cNvSpPr txBox="1"/>
          <p:nvPr/>
        </p:nvSpPr>
        <p:spPr>
          <a:xfrm>
            <a:off x="8026513" y="2997468"/>
            <a:ext cx="649587" cy="113942"/>
          </a:xfrm>
          <a:prstGeom prst="rect">
            <a:avLst/>
          </a:prstGeom>
          <a:solidFill>
            <a:srgbClr val="FFFFFF"/>
          </a:solidFill>
          <a:ln>
            <a:noFill/>
          </a:ln>
          <a:effectLst/>
        </p:spPr>
        <p:txBody>
          <a:bodyPr wrap="none" lIns="12700" rIns="12700" tIns="0" bIns="0" anchor="ctr">
            <a:spAutoFit/>
          </a:bodyPr>
          <a:lstStyle/>
          <a:p>
            <a:pPr algn="ctr"/>
            <a:r>
              <a:rPr sz="578" b="1" i="0">
                <a:solidFill>
                  <a:srgbClr val="14213D"/>
                </a:solidFill>
                <a:latin typeface="Calibri"/>
              </a:rPr>
              <a:t>prompt (JSON)</a:t>
            </a:r>
          </a:p>
        </p:txBody>
      </p:sp>
      <p:sp>
        <p:nvSpPr>
          <p:cNvPr id="50" name="TextBox 49"/>
          <p:cNvSpPr txBox="1"/>
          <p:nvPr/>
        </p:nvSpPr>
        <p:spPr>
          <a:xfrm>
            <a:off x="3368113" y="3805249"/>
            <a:ext cx="324300" cy="128185"/>
          </a:xfrm>
          <a:prstGeom prst="rect">
            <a:avLst/>
          </a:prstGeom>
          <a:solidFill>
            <a:srgbClr val="FFFFFF"/>
          </a:solidFill>
          <a:ln>
            <a:noFill/>
          </a:ln>
          <a:effectLst/>
        </p:spPr>
        <p:txBody>
          <a:bodyPr wrap="none" lIns="12700" rIns="12700" tIns="0" bIns="0" anchor="ctr">
            <a:spAutoFit/>
          </a:bodyPr>
          <a:lstStyle/>
          <a:p>
            <a:pPr algn="ctr"/>
            <a:r>
              <a:rPr sz="651" b="1" i="0">
                <a:solidFill>
                  <a:srgbClr val="14213D"/>
                </a:solidFill>
                <a:latin typeface="Calibri"/>
              </a:rPr>
              <a:t>check</a:t>
            </a:r>
          </a:p>
        </p:txBody>
      </p:sp>
      <p:sp>
        <p:nvSpPr>
          <p:cNvPr id="51" name="TextBox 50"/>
          <p:cNvSpPr txBox="1"/>
          <p:nvPr/>
        </p:nvSpPr>
        <p:spPr>
          <a:xfrm>
            <a:off x="4348110" y="3805249"/>
            <a:ext cx="225060" cy="128185"/>
          </a:xfrm>
          <a:prstGeom prst="rect">
            <a:avLst/>
          </a:prstGeom>
          <a:solidFill>
            <a:srgbClr val="FFFFFF"/>
          </a:solidFill>
          <a:ln>
            <a:noFill/>
          </a:ln>
          <a:effectLst/>
        </p:spPr>
        <p:txBody>
          <a:bodyPr wrap="none" lIns="12700" rIns="12700" tIns="0" bIns="0" anchor="ctr">
            <a:spAutoFit/>
          </a:bodyPr>
          <a:lstStyle/>
          <a:p>
            <a:pPr algn="ctr"/>
            <a:r>
              <a:rPr sz="651" b="1" i="0">
                <a:solidFill>
                  <a:srgbClr val="5B657A"/>
                </a:solidFill>
                <a:latin typeface="Calibri"/>
              </a:rPr>
              <a:t>hit</a:t>
            </a:r>
          </a:p>
        </p:txBody>
      </p:sp>
      <p:sp>
        <p:nvSpPr>
          <p:cNvPr id="52" name="TextBox 51"/>
          <p:cNvSpPr txBox="1"/>
          <p:nvPr/>
        </p:nvSpPr>
        <p:spPr>
          <a:xfrm>
            <a:off x="4988335" y="3855703"/>
            <a:ext cx="692591" cy="122488"/>
          </a:xfrm>
          <a:prstGeom prst="rect">
            <a:avLst/>
          </a:prstGeom>
          <a:solidFill>
            <a:srgbClr val="FFFFFF"/>
          </a:solidFill>
          <a:ln>
            <a:noFill/>
          </a:ln>
          <a:effectLst/>
        </p:spPr>
        <p:txBody>
          <a:bodyPr wrap="none" lIns="12700" rIns="12700" tIns="0" bIns="0" anchor="ctr">
            <a:spAutoFit/>
          </a:bodyPr>
          <a:lstStyle/>
          <a:p>
            <a:pPr algn="ctr"/>
            <a:r>
              <a:rPr sz="622" b="1" i="0">
                <a:solidFill>
                  <a:srgbClr val="14213D"/>
                </a:solidFill>
                <a:latin typeface="Calibri"/>
              </a:rPr>
              <a:t>store on miss</a:t>
            </a:r>
          </a:p>
        </p:txBody>
      </p:sp>
      <p:sp>
        <p:nvSpPr>
          <p:cNvPr id="53" name="TextBox 52"/>
          <p:cNvSpPr txBox="1"/>
          <p:nvPr/>
        </p:nvSpPr>
        <p:spPr>
          <a:xfrm>
            <a:off x="7061177" y="3928512"/>
            <a:ext cx="550347" cy="122488"/>
          </a:xfrm>
          <a:prstGeom prst="rect">
            <a:avLst/>
          </a:prstGeom>
          <a:solidFill>
            <a:srgbClr val="FFFFFF"/>
          </a:solidFill>
          <a:ln>
            <a:noFill/>
          </a:ln>
          <a:effectLst/>
        </p:spPr>
        <p:txBody>
          <a:bodyPr wrap="none" lIns="12700" rIns="12700" tIns="0" bIns="0" anchor="ctr">
            <a:spAutoFit/>
          </a:bodyPr>
          <a:lstStyle/>
          <a:p>
            <a:pPr algn="ctr"/>
            <a:r>
              <a:rPr sz="622" b="1" i="0">
                <a:solidFill>
                  <a:srgbClr val="14213D"/>
                </a:solidFill>
                <a:latin typeface="Calibri"/>
              </a:rPr>
              <a:t>RAG enrich</a:t>
            </a:r>
          </a:p>
        </p:txBody>
      </p:sp>
      <p:sp>
        <p:nvSpPr>
          <p:cNvPr id="54" name="TextBox 53"/>
          <p:cNvSpPr txBox="1"/>
          <p:nvPr/>
        </p:nvSpPr>
        <p:spPr>
          <a:xfrm>
            <a:off x="7019526" y="4886232"/>
            <a:ext cx="408103" cy="122488"/>
          </a:xfrm>
          <a:prstGeom prst="rect">
            <a:avLst/>
          </a:prstGeom>
          <a:solidFill>
            <a:srgbClr val="FFFFFF"/>
          </a:solidFill>
          <a:ln>
            <a:noFill/>
          </a:ln>
          <a:effectLst/>
        </p:spPr>
        <p:txBody>
          <a:bodyPr wrap="none" lIns="12700" rIns="12700" tIns="0" bIns="0" anchor="ctr">
            <a:spAutoFit/>
          </a:bodyPr>
          <a:lstStyle/>
          <a:p>
            <a:pPr algn="ctr"/>
            <a:r>
              <a:rPr sz="622" b="1" i="0">
                <a:solidFill>
                  <a:srgbClr val="14213D"/>
                </a:solidFill>
                <a:latin typeface="Calibri"/>
              </a:rPr>
              <a:t>top-k 3</a:t>
            </a:r>
          </a:p>
        </p:txBody>
      </p:sp>
      <p:sp>
        <p:nvSpPr>
          <p:cNvPr id="55" name="TextBox 54"/>
          <p:cNvSpPr txBox="1"/>
          <p:nvPr/>
        </p:nvSpPr>
        <p:spPr>
          <a:xfrm>
            <a:off x="7960227" y="5286634"/>
            <a:ext cx="274680" cy="128185"/>
          </a:xfrm>
          <a:prstGeom prst="rect">
            <a:avLst/>
          </a:prstGeom>
          <a:solidFill>
            <a:srgbClr val="FFFFFF"/>
          </a:solidFill>
          <a:ln>
            <a:noFill/>
          </a:ln>
          <a:effectLst/>
        </p:spPr>
        <p:txBody>
          <a:bodyPr wrap="none" lIns="12700" rIns="12700" tIns="0" bIns="0" anchor="ctr">
            <a:spAutoFit/>
          </a:bodyPr>
          <a:lstStyle/>
          <a:p>
            <a:pPr algn="ctr"/>
            <a:r>
              <a:rPr sz="651" b="1" i="0">
                <a:solidFill>
                  <a:srgbClr val="5B657A"/>
                </a:solidFill>
                <a:latin typeface="Calibri"/>
              </a:rPr>
              <a:t>sync</a:t>
            </a:r>
          </a:p>
        </p:txBody>
      </p:sp>
      <p:sp>
        <p:nvSpPr>
          <p:cNvPr id="56" name="TextBox 55"/>
          <p:cNvSpPr txBox="1"/>
          <p:nvPr/>
        </p:nvSpPr>
        <p:spPr>
          <a:xfrm>
            <a:off x="8527225" y="4886232"/>
            <a:ext cx="550347" cy="122488"/>
          </a:xfrm>
          <a:prstGeom prst="rect">
            <a:avLst/>
          </a:prstGeom>
          <a:solidFill>
            <a:srgbClr val="FFFFFF"/>
          </a:solidFill>
          <a:ln>
            <a:noFill/>
          </a:ln>
          <a:effectLst/>
        </p:spPr>
        <p:txBody>
          <a:bodyPr wrap="none" lIns="12700" rIns="12700" tIns="0" bIns="0" anchor="ctr">
            <a:spAutoFit/>
          </a:bodyPr>
          <a:lstStyle/>
          <a:p>
            <a:pPr algn="ctr"/>
            <a:r>
              <a:rPr sz="622" b="1" i="0">
                <a:solidFill>
                  <a:srgbClr val="14213D"/>
                </a:solidFill>
                <a:latin typeface="Calibri"/>
              </a:rPr>
              <a:t>egress req</a:t>
            </a:r>
          </a:p>
        </p:txBody>
      </p:sp>
      <p:sp>
        <p:nvSpPr>
          <p:cNvPr id="57" name="TextBox 56"/>
          <p:cNvSpPr txBox="1"/>
          <p:nvPr/>
        </p:nvSpPr>
        <p:spPr>
          <a:xfrm>
            <a:off x="9490448" y="3725463"/>
            <a:ext cx="755444" cy="125336"/>
          </a:xfrm>
          <a:prstGeom prst="rect">
            <a:avLst/>
          </a:prstGeom>
          <a:noFill/>
          <a:ln>
            <a:noFill/>
          </a:ln>
          <a:effectLst/>
        </p:spPr>
        <p:txBody>
          <a:bodyPr wrap="none" lIns="12700" rIns="12700" tIns="0" bIns="0" anchor="ctr">
            <a:spAutoFit/>
          </a:bodyPr>
          <a:lstStyle/>
          <a:p>
            <a:pPr algn="r"/>
            <a:r>
              <a:rPr sz="636" b="1" i="0">
                <a:solidFill>
                  <a:srgbClr val="C9184A"/>
                </a:solidFill>
                <a:latin typeface="Calibri"/>
              </a:rPr>
              <a:t>optional fetch</a:t>
            </a:r>
          </a:p>
        </p:txBody>
      </p:sp>
      <p:sp>
        <p:nvSpPr>
          <p:cNvPr id="58" name="TextBox 57"/>
          <p:cNvSpPr txBox="1"/>
          <p:nvPr/>
        </p:nvSpPr>
        <p:spPr>
          <a:xfrm>
            <a:off x="9536761" y="3908958"/>
            <a:ext cx="709131" cy="116791"/>
          </a:xfrm>
          <a:prstGeom prst="rect">
            <a:avLst/>
          </a:prstGeom>
          <a:noFill/>
          <a:ln>
            <a:noFill/>
          </a:ln>
          <a:effectLst/>
        </p:spPr>
        <p:txBody>
          <a:bodyPr wrap="none" lIns="12700" rIns="12700" tIns="0" bIns="0" anchor="ctr">
            <a:spAutoFit/>
          </a:bodyPr>
          <a:lstStyle/>
          <a:p>
            <a:pPr algn="r"/>
            <a:r>
              <a:rPr sz="593" b="0" i="0">
                <a:solidFill>
                  <a:srgbClr val="C9184A"/>
                </a:solidFill>
                <a:latin typeface="Calibri"/>
              </a:rPr>
              <a:t>off by default</a:t>
            </a:r>
          </a:p>
        </p:txBody>
      </p:sp>
      <p:cxnSp>
        <p:nvCxnSpPr>
          <p:cNvPr id="59" name="Connector 58"/>
          <p:cNvCxnSpPr/>
          <p:nvPr/>
        </p:nvCxnSpPr>
        <p:spPr>
          <a:xfrm>
            <a:off x="3840388" y="6129223"/>
            <a:ext cx="394706" cy="0"/>
          </a:xfrm>
          <a:prstGeom prst="line">
            <a:avLst/>
          </a:prstGeom>
          <a:ln w="27940">
            <a:solidFill>
              <a:srgbClr val="1421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319674" y="6062282"/>
            <a:ext cx="853581" cy="133882"/>
          </a:xfrm>
          <a:prstGeom prst="rect">
            <a:avLst/>
          </a:prstGeom>
          <a:noFill/>
          <a:ln>
            <a:noFill/>
          </a:ln>
          <a:effectLst/>
        </p:spPr>
        <p:txBody>
          <a:bodyPr wrap="none" lIns="12700" rIns="12700" tIns="0" bIns="0" anchor="ctr">
            <a:spAutoFit/>
          </a:bodyPr>
          <a:lstStyle/>
          <a:p>
            <a:pPr algn="l"/>
            <a:r>
              <a:rPr sz="680" b="0" i="0">
                <a:solidFill>
                  <a:srgbClr val="1A1F36"/>
                </a:solidFill>
                <a:latin typeface="Calibri"/>
              </a:rPr>
              <a:t>Local data flow</a:t>
            </a:r>
          </a:p>
        </p:txBody>
      </p:sp>
      <p:cxnSp>
        <p:nvCxnSpPr>
          <p:cNvPr id="61" name="Connector 60"/>
          <p:cNvCxnSpPr/>
          <p:nvPr/>
        </p:nvCxnSpPr>
        <p:spPr>
          <a:xfrm>
            <a:off x="6772485" y="6129223"/>
            <a:ext cx="394706" cy="0"/>
          </a:xfrm>
          <a:prstGeom prst="line">
            <a:avLst/>
          </a:prstGeom>
          <a:ln w="22860">
            <a:solidFill>
              <a:srgbClr val="C9184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251770" y="6062282"/>
            <a:ext cx="2667471" cy="133882"/>
          </a:xfrm>
          <a:prstGeom prst="rect">
            <a:avLst/>
          </a:prstGeom>
          <a:noFill/>
          <a:ln>
            <a:noFill/>
          </a:ln>
          <a:effectLst/>
        </p:spPr>
        <p:txBody>
          <a:bodyPr wrap="none" lIns="12700" rIns="12700" tIns="0" bIns="0" anchor="ctr">
            <a:spAutoFit/>
          </a:bodyPr>
          <a:lstStyle/>
          <a:p>
            <a:pPr algn="l"/>
            <a:r>
              <a:rPr sz="680" b="0" i="0">
                <a:solidFill>
                  <a:srgbClr val="1A1F36"/>
                </a:solidFill>
                <a:latin typeface="Calibri"/>
              </a:rPr>
              <a:t>Optional outbound: public metadata, off by default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Privacy by Construction</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12 / 25</a:t>
            </a:r>
          </a:p>
        </p:txBody>
      </p:sp>
      <p:sp>
        <p:nvSpPr>
          <p:cNvPr id="10" name="Rounded Rectangle 9"/>
          <p:cNvSpPr/>
          <p:nvPr/>
        </p:nvSpPr>
        <p:spPr>
          <a:xfrm>
            <a:off x="457200" y="1783080"/>
            <a:ext cx="5524347" cy="17145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856232"/>
            <a:ext cx="5524347" cy="16413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navy.png"/>
          <p:cNvPicPr>
            <a:picLocks noChangeAspect="1"/>
          </p:cNvPicPr>
          <p:nvPr/>
        </p:nvPicPr>
        <p:blipFill>
          <a:blip r:embed="rId2"/>
          <a:stretch>
            <a:fillRect/>
          </a:stretch>
        </p:blipFill>
        <p:spPr>
          <a:xfrm>
            <a:off x="658368" y="1979676"/>
            <a:ext cx="384048" cy="384048"/>
          </a:xfrm>
          <a:prstGeom prst="rect">
            <a:avLst/>
          </a:prstGeom>
        </p:spPr>
      </p:pic>
      <p:sp>
        <p:nvSpPr>
          <p:cNvPr id="13" name="TextBox 12"/>
          <p:cNvSpPr txBox="1"/>
          <p:nvPr/>
        </p:nvSpPr>
        <p:spPr>
          <a:xfrm>
            <a:off x="1188720" y="1965960"/>
            <a:ext cx="4591659" cy="411480"/>
          </a:xfrm>
          <a:prstGeom prst="rect">
            <a:avLst/>
          </a:prstGeom>
          <a:noFill/>
        </p:spPr>
        <p:txBody>
          <a:bodyPr wrap="square" lIns="73152" rIns="73152" tIns="36576" bIns="36576" anchor="ctr">
            <a:spAutoFit/>
          </a:bodyPr>
          <a:lstStyle/>
          <a:p>
            <a:pPr algn="l"/>
            <a:r>
              <a:rPr sz="1500" b="1" i="0">
                <a:solidFill>
                  <a:srgbClr val="0B1428"/>
                </a:solidFill>
                <a:latin typeface="Calibri"/>
              </a:rPr>
              <a:t>Loopback-only Ollama</a:t>
            </a:r>
          </a:p>
        </p:txBody>
      </p:sp>
      <p:sp>
        <p:nvSpPr>
          <p:cNvPr id="14" name="TextBox 13"/>
          <p:cNvSpPr txBox="1"/>
          <p:nvPr/>
        </p:nvSpPr>
        <p:spPr>
          <a:xfrm>
            <a:off x="658368" y="2487168"/>
            <a:ext cx="5122011" cy="827532"/>
          </a:xfrm>
          <a:prstGeom prst="rect">
            <a:avLst/>
          </a:prstGeom>
          <a:noFill/>
        </p:spPr>
        <p:txBody>
          <a:bodyPr wrap="square" lIns="73152" rIns="73152" tIns="36576" bIns="36576" anchor="t">
            <a:spAutoFit/>
          </a:bodyPr>
          <a:lstStyle/>
          <a:p>
            <a:pPr algn="l"/>
            <a:r>
              <a:rPr sz="1200" b="0" i="0">
                <a:solidFill>
                  <a:srgbClr val="1A1F36"/>
                </a:solidFill>
                <a:latin typeface="Calibri"/>
              </a:rPr>
              <a:t>Bound to 127.0.0.1. Network isolation arm of the threat model, enforced by network policy.</a:t>
            </a:r>
          </a:p>
        </p:txBody>
      </p:sp>
      <p:sp>
        <p:nvSpPr>
          <p:cNvPr id="15" name="Rounded Rectangle 14"/>
          <p:cNvSpPr/>
          <p:nvPr/>
        </p:nvSpPr>
        <p:spPr>
          <a:xfrm>
            <a:off x="6210147" y="1783080"/>
            <a:ext cx="5524347" cy="17145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0147" y="1856232"/>
            <a:ext cx="5524347" cy="16413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eal-navy.png"/>
          <p:cNvPicPr>
            <a:picLocks noChangeAspect="1"/>
          </p:cNvPicPr>
          <p:nvPr/>
        </p:nvPicPr>
        <p:blipFill>
          <a:blip r:embed="rId3"/>
          <a:stretch>
            <a:fillRect/>
          </a:stretch>
        </p:blipFill>
        <p:spPr>
          <a:xfrm>
            <a:off x="6411315" y="1979676"/>
            <a:ext cx="384048" cy="384048"/>
          </a:xfrm>
          <a:prstGeom prst="rect">
            <a:avLst/>
          </a:prstGeom>
        </p:spPr>
      </p:pic>
      <p:sp>
        <p:nvSpPr>
          <p:cNvPr id="18" name="TextBox 17"/>
          <p:cNvSpPr txBox="1"/>
          <p:nvPr/>
        </p:nvSpPr>
        <p:spPr>
          <a:xfrm>
            <a:off x="6941667" y="1965960"/>
            <a:ext cx="4591659" cy="411480"/>
          </a:xfrm>
          <a:prstGeom prst="rect">
            <a:avLst/>
          </a:prstGeom>
          <a:noFill/>
        </p:spPr>
        <p:txBody>
          <a:bodyPr wrap="square" lIns="73152" rIns="73152" tIns="36576" bIns="36576" anchor="ctr">
            <a:spAutoFit/>
          </a:bodyPr>
          <a:lstStyle/>
          <a:p>
            <a:pPr algn="l"/>
            <a:r>
              <a:rPr sz="1500" b="1" i="0">
                <a:solidFill>
                  <a:srgbClr val="0B1428"/>
                </a:solidFill>
                <a:latin typeface="Calibri"/>
              </a:rPr>
              <a:t>Signed RAG Corpus</a:t>
            </a:r>
          </a:p>
        </p:txBody>
      </p:sp>
      <p:sp>
        <p:nvSpPr>
          <p:cNvPr id="19" name="TextBox 18"/>
          <p:cNvSpPr txBox="1"/>
          <p:nvPr/>
        </p:nvSpPr>
        <p:spPr>
          <a:xfrm>
            <a:off x="6411315" y="2487168"/>
            <a:ext cx="5122011" cy="827532"/>
          </a:xfrm>
          <a:prstGeom prst="rect">
            <a:avLst/>
          </a:prstGeom>
          <a:noFill/>
        </p:spPr>
        <p:txBody>
          <a:bodyPr wrap="square" lIns="73152" rIns="73152" tIns="36576" bIns="36576" anchor="t">
            <a:spAutoFit/>
          </a:bodyPr>
          <a:lstStyle/>
          <a:p>
            <a:pPr algn="l"/>
            <a:r>
              <a:rPr sz="1200" b="0" i="0">
                <a:solidFill>
                  <a:srgbClr val="1A1F36"/>
                </a:solidFill>
                <a:latin typeface="Calibri"/>
              </a:rPr>
              <a:t>Ed25519 manifest verified at load. Provenance arm of the threat model. The corpus cannot be silently rewritten.</a:t>
            </a:r>
          </a:p>
        </p:txBody>
      </p:sp>
      <p:sp>
        <p:nvSpPr>
          <p:cNvPr id="20" name="Rounded Rectangle 19"/>
          <p:cNvSpPr/>
          <p:nvPr/>
        </p:nvSpPr>
        <p:spPr>
          <a:xfrm>
            <a:off x="457200" y="3726180"/>
            <a:ext cx="5524347" cy="17145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 y="3799332"/>
            <a:ext cx="5524347" cy="16413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ield-navy.png"/>
          <p:cNvPicPr>
            <a:picLocks noChangeAspect="1"/>
          </p:cNvPicPr>
          <p:nvPr/>
        </p:nvPicPr>
        <p:blipFill>
          <a:blip r:embed="rId4"/>
          <a:stretch>
            <a:fillRect/>
          </a:stretch>
        </p:blipFill>
        <p:spPr>
          <a:xfrm>
            <a:off x="658368" y="3922776"/>
            <a:ext cx="384048" cy="384048"/>
          </a:xfrm>
          <a:prstGeom prst="rect">
            <a:avLst/>
          </a:prstGeom>
        </p:spPr>
      </p:pic>
      <p:sp>
        <p:nvSpPr>
          <p:cNvPr id="23" name="TextBox 22"/>
          <p:cNvSpPr txBox="1"/>
          <p:nvPr/>
        </p:nvSpPr>
        <p:spPr>
          <a:xfrm>
            <a:off x="1188720" y="3909060"/>
            <a:ext cx="4591659" cy="411480"/>
          </a:xfrm>
          <a:prstGeom prst="rect">
            <a:avLst/>
          </a:prstGeom>
          <a:noFill/>
        </p:spPr>
        <p:txBody>
          <a:bodyPr wrap="square" lIns="73152" rIns="73152" tIns="36576" bIns="36576" anchor="ctr">
            <a:spAutoFit/>
          </a:bodyPr>
          <a:lstStyle/>
          <a:p>
            <a:pPr algn="l"/>
            <a:r>
              <a:rPr sz="1500" b="1" i="0">
                <a:solidFill>
                  <a:srgbClr val="0B1428"/>
                </a:solidFill>
                <a:latin typeface="Calibri"/>
              </a:rPr>
              <a:t>Prompt-Injection Harness</a:t>
            </a:r>
          </a:p>
        </p:txBody>
      </p:sp>
      <p:sp>
        <p:nvSpPr>
          <p:cNvPr id="24" name="TextBox 23"/>
          <p:cNvSpPr txBox="1"/>
          <p:nvPr/>
        </p:nvSpPr>
        <p:spPr>
          <a:xfrm>
            <a:off x="658368" y="4430268"/>
            <a:ext cx="5122011" cy="827532"/>
          </a:xfrm>
          <a:prstGeom prst="rect">
            <a:avLst/>
          </a:prstGeom>
          <a:noFill/>
        </p:spPr>
        <p:txBody>
          <a:bodyPr wrap="square" lIns="73152" rIns="73152" tIns="36576" bIns="36576" anchor="t">
            <a:spAutoFit/>
          </a:bodyPr>
          <a:lstStyle/>
          <a:p>
            <a:pPr algn="l"/>
            <a:r>
              <a:rPr sz="1200" b="0" i="0">
                <a:solidFill>
                  <a:srgbClr val="1A1F36"/>
                </a:solidFill>
                <a:latin typeface="Calibri"/>
              </a:rPr>
              <a:t>12 cases of crafted prompts attempting exfiltration. leakFreeRate = 100 %.</a:t>
            </a:r>
          </a:p>
        </p:txBody>
      </p:sp>
      <p:sp>
        <p:nvSpPr>
          <p:cNvPr id="25" name="Rounded Rectangle 24"/>
          <p:cNvSpPr/>
          <p:nvPr/>
        </p:nvSpPr>
        <p:spPr>
          <a:xfrm>
            <a:off x="6210147" y="3726180"/>
            <a:ext cx="5524347" cy="171450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10147" y="3799332"/>
            <a:ext cx="5524347" cy="164134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ube-navy.png"/>
          <p:cNvPicPr>
            <a:picLocks noChangeAspect="1"/>
          </p:cNvPicPr>
          <p:nvPr/>
        </p:nvPicPr>
        <p:blipFill>
          <a:blip r:embed="rId5"/>
          <a:stretch>
            <a:fillRect/>
          </a:stretch>
        </p:blipFill>
        <p:spPr>
          <a:xfrm>
            <a:off x="6411315" y="3922776"/>
            <a:ext cx="384048" cy="384048"/>
          </a:xfrm>
          <a:prstGeom prst="rect">
            <a:avLst/>
          </a:prstGeom>
        </p:spPr>
      </p:pic>
      <p:sp>
        <p:nvSpPr>
          <p:cNvPr id="28" name="TextBox 27"/>
          <p:cNvSpPr txBox="1"/>
          <p:nvPr/>
        </p:nvSpPr>
        <p:spPr>
          <a:xfrm>
            <a:off x="6941667" y="3909060"/>
            <a:ext cx="4591659" cy="411480"/>
          </a:xfrm>
          <a:prstGeom prst="rect">
            <a:avLst/>
          </a:prstGeom>
          <a:noFill/>
        </p:spPr>
        <p:txBody>
          <a:bodyPr wrap="square" lIns="73152" rIns="73152" tIns="36576" bIns="36576" anchor="ctr">
            <a:spAutoFit/>
          </a:bodyPr>
          <a:lstStyle/>
          <a:p>
            <a:pPr algn="l"/>
            <a:r>
              <a:rPr sz="1500" b="1" i="0">
                <a:solidFill>
                  <a:srgbClr val="0B1428"/>
                </a:solidFill>
                <a:latin typeface="Calibri"/>
              </a:rPr>
              <a:t>Pinned Container</a:t>
            </a:r>
          </a:p>
        </p:txBody>
      </p:sp>
      <p:sp>
        <p:nvSpPr>
          <p:cNvPr id="29" name="TextBox 28"/>
          <p:cNvSpPr txBox="1"/>
          <p:nvPr/>
        </p:nvSpPr>
        <p:spPr>
          <a:xfrm>
            <a:off x="6411315" y="4430268"/>
            <a:ext cx="5122011" cy="827532"/>
          </a:xfrm>
          <a:prstGeom prst="rect">
            <a:avLst/>
          </a:prstGeom>
          <a:noFill/>
        </p:spPr>
        <p:txBody>
          <a:bodyPr wrap="square" lIns="73152" rIns="73152" tIns="36576" bIns="36576" anchor="t">
            <a:spAutoFit/>
          </a:bodyPr>
          <a:lstStyle/>
          <a:p>
            <a:pPr algn="l"/>
            <a:r>
              <a:rPr sz="1200" b="0" i="0">
                <a:solidFill>
                  <a:srgbClr val="1A1F36"/>
                </a:solidFill>
                <a:latin typeface="Calibri"/>
              </a:rPr>
              <a:t>Node 20.19.0-alpine · npm ci · seed = 42 · byte-identical runs.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Evaluation Setup</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13 / 25</a:t>
            </a:r>
          </a:p>
        </p:txBody>
      </p:sp>
      <p:sp>
        <p:nvSpPr>
          <p:cNvPr id="10" name="Rounded Rectangle 9"/>
          <p:cNvSpPr/>
          <p:nvPr/>
        </p:nvSpPr>
        <p:spPr>
          <a:xfrm>
            <a:off x="457200" y="2240280"/>
            <a:ext cx="3606698" cy="35204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2313432"/>
            <a:ext cx="3606698" cy="344728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navy.png"/>
          <p:cNvPicPr>
            <a:picLocks noChangeAspect="1"/>
          </p:cNvPicPr>
          <p:nvPr/>
        </p:nvPicPr>
        <p:blipFill>
          <a:blip r:embed="rId2"/>
          <a:stretch>
            <a:fillRect/>
          </a:stretch>
        </p:blipFill>
        <p:spPr>
          <a:xfrm>
            <a:off x="658368" y="2436876"/>
            <a:ext cx="384048" cy="384048"/>
          </a:xfrm>
          <a:prstGeom prst="rect">
            <a:avLst/>
          </a:prstGeom>
        </p:spPr>
      </p:pic>
      <p:sp>
        <p:nvSpPr>
          <p:cNvPr id="13" name="TextBox 12"/>
          <p:cNvSpPr txBox="1"/>
          <p:nvPr/>
        </p:nvSpPr>
        <p:spPr>
          <a:xfrm>
            <a:off x="1188720" y="2423160"/>
            <a:ext cx="2674010" cy="411480"/>
          </a:xfrm>
          <a:prstGeom prst="rect">
            <a:avLst/>
          </a:prstGeom>
          <a:noFill/>
        </p:spPr>
        <p:txBody>
          <a:bodyPr wrap="square" lIns="73152" rIns="73152" tIns="36576" bIns="36576" anchor="ctr">
            <a:spAutoFit/>
          </a:bodyPr>
          <a:lstStyle/>
          <a:p>
            <a:pPr algn="l"/>
            <a:r>
              <a:rPr sz="1500" b="1" i="0">
                <a:solidFill>
                  <a:srgbClr val="0B1428"/>
                </a:solidFill>
                <a:latin typeface="Calibri"/>
              </a:rPr>
              <a:t>Corpus</a:t>
            </a:r>
          </a:p>
        </p:txBody>
      </p:sp>
      <p:sp>
        <p:nvSpPr>
          <p:cNvPr id="14" name="TextBox 13"/>
          <p:cNvSpPr txBox="1"/>
          <p:nvPr/>
        </p:nvSpPr>
        <p:spPr>
          <a:xfrm>
            <a:off x="658368" y="2944368"/>
            <a:ext cx="3204362" cy="2633472"/>
          </a:xfrm>
          <a:prstGeom prst="rect">
            <a:avLst/>
          </a:prstGeom>
          <a:noFill/>
        </p:spPr>
        <p:txBody>
          <a:bodyPr wrap="square" lIns="73152" rIns="73152" tIns="36576" bIns="36576" anchor="ctr">
            <a:spAutoFit/>
          </a:bodyPr>
          <a:lstStyle/>
          <a:p>
            <a:pPr algn="l">
              <a:spcAft>
                <a:spcPts val="600"/>
              </a:spcAft>
            </a:pPr>
            <a:r>
              <a:rPr sz="1150" b="0" i="0">
                <a:solidFill>
                  <a:srgbClr val="1A1F36"/>
                </a:solidFill>
                <a:latin typeface="Calibri"/>
              </a:rPr>
              <a:t>Curated JS / TS  ·  101 cases</a:t>
            </a:r>
          </a:p>
          <a:p>
            <a:pPr algn="l">
              <a:spcAft>
                <a:spcPts val="600"/>
              </a:spcAft>
            </a:pPr>
            <a:r>
              <a:rPr sz="1150" b="0" i="0">
                <a:solidFill>
                  <a:srgbClr val="1A1F36"/>
                </a:solidFill>
                <a:latin typeface="Calibri"/>
              </a:rPr>
              <a:t>(71 vulnerable + 30 secure)</a:t>
            </a:r>
          </a:p>
          <a:p>
            <a:pPr algn="l">
              <a:spcAft>
                <a:spcPts val="600"/>
              </a:spcAft>
            </a:pPr>
            <a:r>
              <a:rPr sz="1150" b="0" i="0">
                <a:solidFill>
                  <a:srgbClr val="1A1F36"/>
                </a:solidFill>
                <a:latin typeface="Calibri"/>
              </a:rPr>
              <a:t>20 CWE categories</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External:  15 cases from NodeGoat,</a:t>
            </a:r>
          </a:p>
          <a:p>
            <a:pPr algn="l">
              <a:spcAft>
                <a:spcPts val="600"/>
              </a:spcAft>
            </a:pPr>
            <a:r>
              <a:rPr sz="1150" b="0" i="0">
                <a:solidFill>
                  <a:srgbClr val="1A1F36"/>
                </a:solidFill>
                <a:latin typeface="Calibri"/>
              </a:rPr>
              <a:t>Juice Shop, 3 named CVEs</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Whole-project scan:  OWASP NodeGoat</a:t>
            </a:r>
          </a:p>
        </p:txBody>
      </p:sp>
      <p:sp>
        <p:nvSpPr>
          <p:cNvPr id="15" name="Rounded Rectangle 14"/>
          <p:cNvSpPr/>
          <p:nvPr/>
        </p:nvSpPr>
        <p:spPr>
          <a:xfrm>
            <a:off x="4292498" y="2240280"/>
            <a:ext cx="3606698" cy="35204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2498" y="2313432"/>
            <a:ext cx="3606698" cy="344728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lask-navy.png"/>
          <p:cNvPicPr>
            <a:picLocks noChangeAspect="1"/>
          </p:cNvPicPr>
          <p:nvPr/>
        </p:nvPicPr>
        <p:blipFill>
          <a:blip r:embed="rId3"/>
          <a:stretch>
            <a:fillRect/>
          </a:stretch>
        </p:blipFill>
        <p:spPr>
          <a:xfrm>
            <a:off x="4493666" y="2436876"/>
            <a:ext cx="384048" cy="384048"/>
          </a:xfrm>
          <a:prstGeom prst="rect">
            <a:avLst/>
          </a:prstGeom>
        </p:spPr>
      </p:pic>
      <p:sp>
        <p:nvSpPr>
          <p:cNvPr id="18" name="TextBox 17"/>
          <p:cNvSpPr txBox="1"/>
          <p:nvPr/>
        </p:nvSpPr>
        <p:spPr>
          <a:xfrm>
            <a:off x="5024018" y="2423160"/>
            <a:ext cx="2674010" cy="411480"/>
          </a:xfrm>
          <a:prstGeom prst="rect">
            <a:avLst/>
          </a:prstGeom>
          <a:noFill/>
        </p:spPr>
        <p:txBody>
          <a:bodyPr wrap="square" lIns="73152" rIns="73152" tIns="36576" bIns="36576" anchor="ctr">
            <a:spAutoFit/>
          </a:bodyPr>
          <a:lstStyle/>
          <a:p>
            <a:pPr algn="l"/>
            <a:r>
              <a:rPr sz="1500" b="1" i="0">
                <a:solidFill>
                  <a:srgbClr val="0B1428"/>
                </a:solidFill>
                <a:latin typeface="Calibri"/>
              </a:rPr>
              <a:t>Configurations</a:t>
            </a:r>
          </a:p>
        </p:txBody>
      </p:sp>
      <p:sp>
        <p:nvSpPr>
          <p:cNvPr id="19" name="TextBox 18"/>
          <p:cNvSpPr txBox="1"/>
          <p:nvPr/>
        </p:nvSpPr>
        <p:spPr>
          <a:xfrm>
            <a:off x="4493666" y="2944368"/>
            <a:ext cx="3204362" cy="2633472"/>
          </a:xfrm>
          <a:prstGeom prst="rect">
            <a:avLst/>
          </a:prstGeom>
          <a:noFill/>
        </p:spPr>
        <p:txBody>
          <a:bodyPr wrap="square" lIns="73152" rIns="73152" tIns="36576" bIns="36576" anchor="ctr">
            <a:spAutoFit/>
          </a:bodyPr>
          <a:lstStyle/>
          <a:p>
            <a:pPr algn="l">
              <a:spcAft>
                <a:spcPts val="600"/>
              </a:spcAft>
            </a:pPr>
            <a:r>
              <a:rPr sz="1150" b="0" i="0">
                <a:solidFill>
                  <a:srgbClr val="1A1F36"/>
                </a:solidFill>
                <a:latin typeface="Calibri"/>
              </a:rPr>
              <a:t>5 Ollama models × {LLM-only, LLM+RAG}</a:t>
            </a:r>
          </a:p>
          <a:p>
            <a:pPr algn="l">
              <a:spcAft>
                <a:spcPts val="600"/>
              </a:spcAft>
            </a:pPr>
            <a:r>
              <a:rPr sz="1150" b="0" i="0">
                <a:solidFill>
                  <a:srgbClr val="1A1F36"/>
                </a:solidFill>
                <a:latin typeface="Calibri"/>
              </a:rPr>
              <a:t>= 10 configurations</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+ 3 SAST baselines</a:t>
            </a:r>
          </a:p>
          <a:p>
            <a:pPr algn="l">
              <a:spcAft>
                <a:spcPts val="600"/>
              </a:spcAft>
            </a:pPr>
            <a:r>
              <a:rPr sz="1150" b="0" i="0">
                <a:solidFill>
                  <a:srgbClr val="1A1F36"/>
                </a:solidFill>
                <a:latin typeface="Calibri"/>
              </a:rPr>
              <a:t>(Semgrep, CodeQL, ESLint)</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3 runs per sample  ·  deterministic</a:t>
            </a:r>
          </a:p>
          <a:p>
            <a:pPr algn="l">
              <a:spcAft>
                <a:spcPts val="600"/>
              </a:spcAft>
            </a:pPr>
            <a:r>
              <a:rPr sz="1150" b="0" i="0">
                <a:solidFill>
                  <a:srgbClr val="1A1F36"/>
                </a:solidFill>
                <a:latin typeface="Calibri"/>
              </a:rPr>
              <a:t>→  303 invocations per config</a:t>
            </a:r>
          </a:p>
        </p:txBody>
      </p:sp>
      <p:sp>
        <p:nvSpPr>
          <p:cNvPr id="20" name="Rounded Rectangle 19"/>
          <p:cNvSpPr/>
          <p:nvPr/>
        </p:nvSpPr>
        <p:spPr>
          <a:xfrm>
            <a:off x="8127796" y="2240280"/>
            <a:ext cx="3606698" cy="35204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127796" y="2313432"/>
            <a:ext cx="3606698" cy="344728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uler-navy.png"/>
          <p:cNvPicPr>
            <a:picLocks noChangeAspect="1"/>
          </p:cNvPicPr>
          <p:nvPr/>
        </p:nvPicPr>
        <p:blipFill>
          <a:blip r:embed="rId4"/>
          <a:stretch>
            <a:fillRect/>
          </a:stretch>
        </p:blipFill>
        <p:spPr>
          <a:xfrm>
            <a:off x="8328964" y="2436876"/>
            <a:ext cx="384048" cy="384048"/>
          </a:xfrm>
          <a:prstGeom prst="rect">
            <a:avLst/>
          </a:prstGeom>
        </p:spPr>
      </p:pic>
      <p:sp>
        <p:nvSpPr>
          <p:cNvPr id="23" name="TextBox 22"/>
          <p:cNvSpPr txBox="1"/>
          <p:nvPr/>
        </p:nvSpPr>
        <p:spPr>
          <a:xfrm>
            <a:off x="8859316" y="2423160"/>
            <a:ext cx="2674010" cy="411480"/>
          </a:xfrm>
          <a:prstGeom prst="rect">
            <a:avLst/>
          </a:prstGeom>
          <a:noFill/>
        </p:spPr>
        <p:txBody>
          <a:bodyPr wrap="square" lIns="73152" rIns="73152" tIns="36576" bIns="36576" anchor="ctr">
            <a:spAutoFit/>
          </a:bodyPr>
          <a:lstStyle/>
          <a:p>
            <a:pPr algn="l"/>
            <a:r>
              <a:rPr sz="1500" b="1" i="0">
                <a:solidFill>
                  <a:srgbClr val="0B1428"/>
                </a:solidFill>
                <a:latin typeface="Calibri"/>
              </a:rPr>
              <a:t>Statistical Discipline</a:t>
            </a:r>
          </a:p>
        </p:txBody>
      </p:sp>
      <p:sp>
        <p:nvSpPr>
          <p:cNvPr id="24" name="TextBox 23"/>
          <p:cNvSpPr txBox="1"/>
          <p:nvPr/>
        </p:nvSpPr>
        <p:spPr>
          <a:xfrm>
            <a:off x="8328964" y="2944368"/>
            <a:ext cx="3204362" cy="2633472"/>
          </a:xfrm>
          <a:prstGeom prst="rect">
            <a:avLst/>
          </a:prstGeom>
          <a:noFill/>
        </p:spPr>
        <p:txBody>
          <a:bodyPr wrap="square" lIns="73152" rIns="73152" tIns="36576" bIns="36576" anchor="ctr">
            <a:spAutoFit/>
          </a:bodyPr>
          <a:lstStyle/>
          <a:p>
            <a:pPr algn="l">
              <a:spcAft>
                <a:spcPts val="600"/>
              </a:spcAft>
            </a:pPr>
            <a:r>
              <a:rPr sz="1150" b="0" i="0">
                <a:solidFill>
                  <a:srgbClr val="1A1F36"/>
                </a:solidFill>
                <a:latin typeface="Calibri"/>
              </a:rPr>
              <a:t>Held-out 71 / 30 test split</a:t>
            </a:r>
          </a:p>
          <a:p>
            <a:pPr algn="l">
              <a:spcAft>
                <a:spcPts val="600"/>
              </a:spcAft>
            </a:pPr>
            <a:r>
              <a:rPr sz="1150" b="0" i="0">
                <a:solidFill>
                  <a:srgbClr val="1A1F36"/>
                </a:solidFill>
                <a:latin typeface="Calibri"/>
              </a:rPr>
              <a:t>(threshold tuning off the test set)</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McNemar with Bonferroni</a:t>
            </a:r>
          </a:p>
          <a:p>
            <a:pPr algn="l">
              <a:spcAft>
                <a:spcPts val="600"/>
              </a:spcAft>
            </a:pPr>
            <a:r>
              <a:rPr sz="1150" b="0" i="0">
                <a:solidFill>
                  <a:srgbClr val="1A1F36"/>
                </a:solidFill>
                <a:latin typeface="Calibri"/>
              </a:rPr>
              <a:t>across paired model comparisons</a:t>
            </a:r>
          </a:p>
          <a:p>
            <a:pPr algn="l">
              <a:spcAft>
                <a:spcPts val="600"/>
              </a:spcAft>
            </a:pPr>
            <a:r>
              <a:rPr sz="1150" b="0" i="0">
                <a:solidFill>
                  <a:srgbClr val="1A1F36"/>
                </a:solidFill>
                <a:latin typeface="Calibri"/>
              </a:rPr>
              <a:t/>
            </a:r>
          </a:p>
          <a:p>
            <a:pPr algn="l">
              <a:spcAft>
                <a:spcPts val="600"/>
              </a:spcAft>
            </a:pPr>
            <a:r>
              <a:rPr sz="1150" b="0" i="0">
                <a:solidFill>
                  <a:srgbClr val="1A1F36"/>
                </a:solidFill>
                <a:latin typeface="Calibri"/>
              </a:rPr>
              <a:t>Exact-binomial CIs for small-n rates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Results</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14 / 25</a:t>
            </a:r>
          </a:p>
        </p:txBody>
      </p:sp>
      <p:sp>
        <p:nvSpPr>
          <p:cNvPr id="10" name="Rounded Rectangle 9"/>
          <p:cNvSpPr/>
          <p:nvPr/>
        </p:nvSpPr>
        <p:spPr>
          <a:xfrm>
            <a:off x="457200" y="1783080"/>
            <a:ext cx="5501487" cy="18973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91440" cy="1897380"/>
          </a:xfrm>
          <a:prstGeom prst="rect">
            <a:avLst/>
          </a:prstGeom>
          <a:solidFill>
            <a:srgbClr val="F5B7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47672"/>
            <a:ext cx="5044287" cy="365760"/>
          </a:xfrm>
          <a:prstGeom prst="rect">
            <a:avLst/>
          </a:prstGeom>
          <a:noFill/>
        </p:spPr>
        <p:txBody>
          <a:bodyPr wrap="square" lIns="73152" rIns="73152" tIns="36576" bIns="36576" anchor="t">
            <a:spAutoFit/>
          </a:bodyPr>
          <a:lstStyle/>
          <a:p>
            <a:pPr algn="l"/>
            <a:r>
              <a:rPr sz="1200" b="1" i="0">
                <a:solidFill>
                  <a:srgbClr val="FCA311"/>
                </a:solidFill>
                <a:latin typeface="Calibri"/>
              </a:rPr>
              <a:t>R1 · DETECTION</a:t>
            </a:r>
          </a:p>
        </p:txBody>
      </p:sp>
      <p:sp>
        <p:nvSpPr>
          <p:cNvPr id="13" name="Rounded Rectangle 12"/>
          <p:cNvSpPr/>
          <p:nvPr/>
        </p:nvSpPr>
        <p:spPr>
          <a:xfrm>
            <a:off x="4705959" y="1929384"/>
            <a:ext cx="1051560" cy="310896"/>
          </a:xfrm>
          <a:prstGeom prst="roundRect">
            <a:avLst>
              <a:gd name="adj" fmla="val 6000"/>
            </a:avLst>
          </a:prstGeom>
          <a:solidFill>
            <a:srgbClr val="F5B7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5959" y="1929384"/>
            <a:ext cx="1051560" cy="310896"/>
          </a:xfrm>
          <a:prstGeom prst="rect">
            <a:avLst/>
          </a:prstGeom>
          <a:noFill/>
        </p:spPr>
        <p:txBody>
          <a:bodyPr wrap="square" lIns="73152" rIns="73152" tIns="36576" bIns="36576" anchor="ctr">
            <a:spAutoFit/>
          </a:bodyPr>
          <a:lstStyle/>
          <a:p>
            <a:pPr algn="ctr"/>
            <a:r>
              <a:rPr sz="1000" b="1" i="0">
                <a:solidFill>
                  <a:srgbClr val="0B1428"/>
                </a:solidFill>
                <a:latin typeface="Calibri"/>
              </a:rPr>
              <a:t>MEDIUM</a:t>
            </a:r>
          </a:p>
        </p:txBody>
      </p:sp>
      <p:sp>
        <p:nvSpPr>
          <p:cNvPr id="15" name="TextBox 14"/>
          <p:cNvSpPr txBox="1"/>
          <p:nvPr/>
        </p:nvSpPr>
        <p:spPr>
          <a:xfrm>
            <a:off x="685800" y="2331720"/>
            <a:ext cx="5044287" cy="480060"/>
          </a:xfrm>
          <a:prstGeom prst="rect">
            <a:avLst/>
          </a:prstGeom>
          <a:noFill/>
        </p:spPr>
        <p:txBody>
          <a:bodyPr wrap="square" lIns="73152" rIns="73152" tIns="36576" bIns="36576" anchor="ctr">
            <a:spAutoFit/>
          </a:bodyPr>
          <a:lstStyle/>
          <a:p>
            <a:pPr algn="l"/>
            <a:r>
              <a:rPr sz="3600" b="1" i="0">
                <a:solidFill>
                  <a:srgbClr val="F5B714"/>
                </a:solidFill>
                <a:latin typeface="Calibri"/>
              </a:rPr>
              <a:t>71.43 %</a:t>
            </a:r>
          </a:p>
        </p:txBody>
      </p:sp>
      <p:sp>
        <p:nvSpPr>
          <p:cNvPr id="16" name="TextBox 15"/>
          <p:cNvSpPr txBox="1"/>
          <p:nvPr/>
        </p:nvSpPr>
        <p:spPr>
          <a:xfrm>
            <a:off x="685800" y="2720340"/>
            <a:ext cx="5044287" cy="777240"/>
          </a:xfrm>
          <a:prstGeom prst="rect">
            <a:avLst/>
          </a:prstGeom>
          <a:noFill/>
        </p:spPr>
        <p:txBody>
          <a:bodyPr wrap="square" lIns="73152" rIns="73152" tIns="36576" bIns="36576" anchor="b">
            <a:spAutoFit/>
          </a:bodyPr>
          <a:lstStyle/>
          <a:p>
            <a:pPr algn="l"/>
            <a:r>
              <a:rPr sz="1000" b="0" i="0">
                <a:solidFill>
                  <a:srgbClr val="C8D0E0"/>
                </a:solidFill>
                <a:latin typeface="Calibri"/>
              </a:rPr>
              <a:t>F1 · qwen3:8b + RAG  ·  P 72.46 % · R 70.42 %</a:t>
            </a:r>
          </a:p>
          <a:p>
            <a:pPr algn="l"/>
            <a:r>
              <a:rPr sz="1000" b="0" i="0">
                <a:solidFill>
                  <a:srgbClr val="C8D0E0"/>
                </a:solidFill>
                <a:latin typeface="Calibri"/>
              </a:rPr>
              <a:t>On unseen code:  held-out 61.11 %  ·  external 63.64 %</a:t>
            </a:r>
          </a:p>
        </p:txBody>
      </p:sp>
      <p:sp>
        <p:nvSpPr>
          <p:cNvPr id="17" name="Rounded Rectangle 16"/>
          <p:cNvSpPr/>
          <p:nvPr/>
        </p:nvSpPr>
        <p:spPr>
          <a:xfrm>
            <a:off x="6233007" y="1783080"/>
            <a:ext cx="5501487" cy="18973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1783080"/>
            <a:ext cx="91440" cy="189738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1947672"/>
            <a:ext cx="5044287" cy="365760"/>
          </a:xfrm>
          <a:prstGeom prst="rect">
            <a:avLst/>
          </a:prstGeom>
          <a:noFill/>
        </p:spPr>
        <p:txBody>
          <a:bodyPr wrap="square" lIns="73152" rIns="73152" tIns="36576" bIns="36576" anchor="t">
            <a:spAutoFit/>
          </a:bodyPr>
          <a:lstStyle/>
          <a:p>
            <a:pPr algn="l"/>
            <a:r>
              <a:rPr sz="1200" b="1" i="0">
                <a:solidFill>
                  <a:srgbClr val="FCA311"/>
                </a:solidFill>
                <a:latin typeface="Calibri"/>
              </a:rPr>
              <a:t>R3 · REPAIR</a:t>
            </a:r>
          </a:p>
        </p:txBody>
      </p:sp>
      <p:sp>
        <p:nvSpPr>
          <p:cNvPr id="20" name="Rounded Rectangle 19"/>
          <p:cNvSpPr/>
          <p:nvPr/>
        </p:nvSpPr>
        <p:spPr>
          <a:xfrm>
            <a:off x="10481767" y="1929384"/>
            <a:ext cx="1051560" cy="310896"/>
          </a:xfrm>
          <a:prstGeom prst="roundRect">
            <a:avLst>
              <a:gd name="adj" fmla="val 6000"/>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81767" y="1929384"/>
            <a:ext cx="1051560" cy="310896"/>
          </a:xfrm>
          <a:prstGeom prst="rect">
            <a:avLst/>
          </a:prstGeom>
          <a:noFill/>
        </p:spPr>
        <p:txBody>
          <a:bodyPr wrap="square" lIns="73152" rIns="73152" tIns="36576" bIns="36576" anchor="ctr">
            <a:spAutoFit/>
          </a:bodyPr>
          <a:lstStyle/>
          <a:p>
            <a:pPr algn="ctr"/>
            <a:r>
              <a:rPr sz="1000" b="1" i="0">
                <a:solidFill>
                  <a:srgbClr val="0B1428"/>
                </a:solidFill>
                <a:latin typeface="Calibri"/>
              </a:rPr>
              <a:t>HIGH</a:t>
            </a:r>
          </a:p>
        </p:txBody>
      </p:sp>
      <p:sp>
        <p:nvSpPr>
          <p:cNvPr id="22" name="TextBox 21"/>
          <p:cNvSpPr txBox="1"/>
          <p:nvPr/>
        </p:nvSpPr>
        <p:spPr>
          <a:xfrm>
            <a:off x="6461607" y="2331720"/>
            <a:ext cx="5044287" cy="480060"/>
          </a:xfrm>
          <a:prstGeom prst="rect">
            <a:avLst/>
          </a:prstGeom>
          <a:noFill/>
        </p:spPr>
        <p:txBody>
          <a:bodyPr wrap="square" lIns="73152" rIns="73152" tIns="36576" bIns="36576" anchor="ctr">
            <a:spAutoFit/>
          </a:bodyPr>
          <a:lstStyle/>
          <a:p>
            <a:pPr algn="l"/>
            <a:r>
              <a:rPr sz="3600" b="1" i="0">
                <a:solidFill>
                  <a:srgbClr val="3FB950"/>
                </a:solidFill>
                <a:latin typeface="Calibri"/>
              </a:rPr>
              <a:t>90.32 %</a:t>
            </a:r>
          </a:p>
        </p:txBody>
      </p:sp>
      <p:sp>
        <p:nvSpPr>
          <p:cNvPr id="23" name="TextBox 22"/>
          <p:cNvSpPr txBox="1"/>
          <p:nvPr/>
        </p:nvSpPr>
        <p:spPr>
          <a:xfrm>
            <a:off x="6461607" y="2720340"/>
            <a:ext cx="5044287" cy="777240"/>
          </a:xfrm>
          <a:prstGeom prst="rect">
            <a:avLst/>
          </a:prstGeom>
          <a:noFill/>
        </p:spPr>
        <p:txBody>
          <a:bodyPr wrap="square" lIns="73152" rIns="73152" tIns="36576" bIns="36576" anchor="b">
            <a:spAutoFit/>
          </a:bodyPr>
          <a:lstStyle/>
          <a:p>
            <a:pPr algn="l"/>
            <a:r>
              <a:rPr sz="1000" b="0" i="0">
                <a:solidFill>
                  <a:srgbClr val="C8D0E0"/>
                </a:solidFill>
                <a:latin typeface="Calibri"/>
              </a:rPr>
              <a:t>Auto-applicable: parses &amp; applies (n = 279)</a:t>
            </a:r>
          </a:p>
          <a:p>
            <a:pPr algn="l"/>
            <a:r>
              <a:rPr sz="1000" b="0" i="0">
                <a:solidFill>
                  <a:srgbClr val="C8D0E0"/>
                </a:solidFill>
                <a:latin typeface="Calibri"/>
              </a:rPr>
              <a:t>Semantic-correct ≈ 68 % combined · 42 % run as-is (n = 25)</a:t>
            </a:r>
          </a:p>
        </p:txBody>
      </p:sp>
      <p:sp>
        <p:nvSpPr>
          <p:cNvPr id="24" name="Rounded Rectangle 23"/>
          <p:cNvSpPr/>
          <p:nvPr/>
        </p:nvSpPr>
        <p:spPr>
          <a:xfrm>
            <a:off x="457200" y="3954780"/>
            <a:ext cx="5501487" cy="18973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954780"/>
            <a:ext cx="91440" cy="189738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119372"/>
            <a:ext cx="5044287" cy="365760"/>
          </a:xfrm>
          <a:prstGeom prst="rect">
            <a:avLst/>
          </a:prstGeom>
          <a:noFill/>
        </p:spPr>
        <p:txBody>
          <a:bodyPr wrap="square" lIns="73152" rIns="73152" tIns="36576" bIns="36576" anchor="t">
            <a:spAutoFit/>
          </a:bodyPr>
          <a:lstStyle/>
          <a:p>
            <a:pPr algn="l"/>
            <a:r>
              <a:rPr sz="1200" b="1" i="0">
                <a:solidFill>
                  <a:srgbClr val="FCA311"/>
                </a:solidFill>
                <a:latin typeface="Calibri"/>
              </a:rPr>
              <a:t>R4 · LATENCY</a:t>
            </a:r>
          </a:p>
        </p:txBody>
      </p:sp>
      <p:sp>
        <p:nvSpPr>
          <p:cNvPr id="27" name="Rounded Rectangle 26"/>
          <p:cNvSpPr/>
          <p:nvPr/>
        </p:nvSpPr>
        <p:spPr>
          <a:xfrm>
            <a:off x="4705959" y="4101084"/>
            <a:ext cx="1051560" cy="310896"/>
          </a:xfrm>
          <a:prstGeom prst="roundRect">
            <a:avLst>
              <a:gd name="adj" fmla="val 6000"/>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5959" y="4101084"/>
            <a:ext cx="1051560" cy="310896"/>
          </a:xfrm>
          <a:prstGeom prst="rect">
            <a:avLst/>
          </a:prstGeom>
          <a:noFill/>
        </p:spPr>
        <p:txBody>
          <a:bodyPr wrap="square" lIns="73152" rIns="73152" tIns="36576" bIns="36576" anchor="ctr">
            <a:spAutoFit/>
          </a:bodyPr>
          <a:lstStyle/>
          <a:p>
            <a:pPr algn="ctr"/>
            <a:r>
              <a:rPr sz="1000" b="1" i="0">
                <a:solidFill>
                  <a:srgbClr val="0B1428"/>
                </a:solidFill>
                <a:latin typeface="Calibri"/>
              </a:rPr>
              <a:t>HIGH</a:t>
            </a:r>
          </a:p>
        </p:txBody>
      </p:sp>
      <p:sp>
        <p:nvSpPr>
          <p:cNvPr id="29" name="TextBox 28"/>
          <p:cNvSpPr txBox="1"/>
          <p:nvPr/>
        </p:nvSpPr>
        <p:spPr>
          <a:xfrm>
            <a:off x="685800" y="4503420"/>
            <a:ext cx="5044287" cy="480060"/>
          </a:xfrm>
          <a:prstGeom prst="rect">
            <a:avLst/>
          </a:prstGeom>
          <a:noFill/>
        </p:spPr>
        <p:txBody>
          <a:bodyPr wrap="square" lIns="73152" rIns="73152" tIns="36576" bIns="36576" anchor="ctr">
            <a:spAutoFit/>
          </a:bodyPr>
          <a:lstStyle/>
          <a:p>
            <a:pPr algn="l"/>
            <a:r>
              <a:rPr sz="3600" b="1" i="0">
                <a:solidFill>
                  <a:srgbClr val="3FB950"/>
                </a:solidFill>
                <a:latin typeface="Calibri"/>
              </a:rPr>
              <a:t>2.2 s</a:t>
            </a:r>
          </a:p>
        </p:txBody>
      </p:sp>
      <p:sp>
        <p:nvSpPr>
          <p:cNvPr id="30" name="TextBox 29"/>
          <p:cNvSpPr txBox="1"/>
          <p:nvPr/>
        </p:nvSpPr>
        <p:spPr>
          <a:xfrm>
            <a:off x="685800" y="4892040"/>
            <a:ext cx="5044287" cy="777240"/>
          </a:xfrm>
          <a:prstGeom prst="rect">
            <a:avLst/>
          </a:prstGeom>
          <a:noFill/>
        </p:spPr>
        <p:txBody>
          <a:bodyPr wrap="square" lIns="73152" rIns="73152" tIns="36576" bIns="36576" anchor="b">
            <a:spAutoFit/>
          </a:bodyPr>
          <a:lstStyle/>
          <a:p>
            <a:pPr algn="l"/>
            <a:r>
              <a:rPr sz="1000" b="0" i="0">
                <a:solidFill>
                  <a:srgbClr val="C8D0E0"/>
                </a:solidFill>
                <a:latin typeface="Calibri"/>
              </a:rPr>
              <a:t>Median stage-1  ·  p95 = 4.3 s</a:t>
            </a:r>
          </a:p>
          <a:p>
            <a:pPr algn="l"/>
            <a:r>
              <a:rPr sz="1000" b="0" i="0">
                <a:solidFill>
                  <a:srgbClr val="C8D0E0"/>
                </a:solidFill>
                <a:latin typeface="Calibri"/>
              </a:rPr>
              <a:t>Comfortably inside on-demand band (≤ 5 s)</a:t>
            </a:r>
          </a:p>
        </p:txBody>
      </p:sp>
      <p:sp>
        <p:nvSpPr>
          <p:cNvPr id="31" name="Rounded Rectangle 30"/>
          <p:cNvSpPr/>
          <p:nvPr/>
        </p:nvSpPr>
        <p:spPr>
          <a:xfrm>
            <a:off x="6233007" y="3954780"/>
            <a:ext cx="5501487" cy="18973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3954780"/>
            <a:ext cx="91440" cy="189738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4119372"/>
            <a:ext cx="5044287" cy="365760"/>
          </a:xfrm>
          <a:prstGeom prst="rect">
            <a:avLst/>
          </a:prstGeom>
          <a:noFill/>
        </p:spPr>
        <p:txBody>
          <a:bodyPr wrap="square" lIns="73152" rIns="73152" tIns="36576" bIns="36576" anchor="t">
            <a:spAutoFit/>
          </a:bodyPr>
          <a:lstStyle/>
          <a:p>
            <a:pPr algn="l"/>
            <a:r>
              <a:rPr sz="1200" b="1" i="0">
                <a:solidFill>
                  <a:srgbClr val="FCA311"/>
                </a:solidFill>
                <a:latin typeface="Calibri"/>
              </a:rPr>
              <a:t>R5 · PRIVACY</a:t>
            </a:r>
          </a:p>
        </p:txBody>
      </p:sp>
      <p:sp>
        <p:nvSpPr>
          <p:cNvPr id="34" name="Rounded Rectangle 33"/>
          <p:cNvSpPr/>
          <p:nvPr/>
        </p:nvSpPr>
        <p:spPr>
          <a:xfrm>
            <a:off x="10481767" y="4101084"/>
            <a:ext cx="1051560" cy="310896"/>
          </a:xfrm>
          <a:prstGeom prst="roundRect">
            <a:avLst>
              <a:gd name="adj" fmla="val 6000"/>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481767" y="4101084"/>
            <a:ext cx="1051560" cy="310896"/>
          </a:xfrm>
          <a:prstGeom prst="rect">
            <a:avLst/>
          </a:prstGeom>
          <a:noFill/>
        </p:spPr>
        <p:txBody>
          <a:bodyPr wrap="square" lIns="73152" rIns="73152" tIns="36576" bIns="36576" anchor="ctr">
            <a:spAutoFit/>
          </a:bodyPr>
          <a:lstStyle/>
          <a:p>
            <a:pPr algn="ctr"/>
            <a:r>
              <a:rPr sz="1000" b="1" i="0">
                <a:solidFill>
                  <a:srgbClr val="0B1428"/>
                </a:solidFill>
                <a:latin typeface="Calibri"/>
              </a:rPr>
              <a:t>MET</a:t>
            </a:r>
          </a:p>
        </p:txBody>
      </p:sp>
      <p:sp>
        <p:nvSpPr>
          <p:cNvPr id="36" name="TextBox 35"/>
          <p:cNvSpPr txBox="1"/>
          <p:nvPr/>
        </p:nvSpPr>
        <p:spPr>
          <a:xfrm>
            <a:off x="6461607" y="4503420"/>
            <a:ext cx="5044287" cy="480060"/>
          </a:xfrm>
          <a:prstGeom prst="rect">
            <a:avLst/>
          </a:prstGeom>
          <a:noFill/>
        </p:spPr>
        <p:txBody>
          <a:bodyPr wrap="square" lIns="73152" rIns="73152" tIns="36576" bIns="36576" anchor="ctr">
            <a:spAutoFit/>
          </a:bodyPr>
          <a:lstStyle/>
          <a:p>
            <a:pPr algn="l"/>
            <a:r>
              <a:rPr sz="3600" b="1" i="0">
                <a:solidFill>
                  <a:srgbClr val="3FB950"/>
                </a:solidFill>
                <a:latin typeface="Calibri"/>
              </a:rPr>
              <a:t>100 %</a:t>
            </a:r>
          </a:p>
        </p:txBody>
      </p:sp>
      <p:sp>
        <p:nvSpPr>
          <p:cNvPr id="37" name="TextBox 36"/>
          <p:cNvSpPr txBox="1"/>
          <p:nvPr/>
        </p:nvSpPr>
        <p:spPr>
          <a:xfrm>
            <a:off x="6461607" y="4892040"/>
            <a:ext cx="5044287" cy="777240"/>
          </a:xfrm>
          <a:prstGeom prst="rect">
            <a:avLst/>
          </a:prstGeom>
          <a:noFill/>
        </p:spPr>
        <p:txBody>
          <a:bodyPr wrap="square" lIns="73152" rIns="73152" tIns="36576" bIns="36576" anchor="b">
            <a:spAutoFit/>
          </a:bodyPr>
          <a:lstStyle/>
          <a:p>
            <a:pPr algn="l"/>
            <a:r>
              <a:rPr sz="1000" b="0" i="0">
                <a:solidFill>
                  <a:srgbClr val="C8D0E0"/>
                </a:solidFill>
                <a:latin typeface="Calibri"/>
              </a:rPr>
              <a:t>leakFreeRate · 12-case prompt-injection harness</a:t>
            </a:r>
          </a:p>
          <a:p>
            <a:pPr algn="l"/>
            <a:r>
              <a:rPr sz="1000" b="0" i="0">
                <a:solidFill>
                  <a:srgbClr val="C8D0E0"/>
                </a:solidFill>
                <a:latin typeface="Calibri"/>
              </a:rPr>
              <a:t>schemaValidRate 83 % (10/12) · loopback-only by policy</a:t>
            </a:r>
          </a:p>
        </p:txBody>
      </p:sp>
      <p:sp>
        <p:nvSpPr>
          <p:cNvPr id="38" name="Rounded Rectangle 37"/>
          <p:cNvSpPr/>
          <p:nvPr/>
        </p:nvSpPr>
        <p:spPr>
          <a:xfrm>
            <a:off x="457200" y="5943600"/>
            <a:ext cx="11277295" cy="4114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21792" y="6030468"/>
            <a:ext cx="914400" cy="237744"/>
          </a:xfrm>
          <a:prstGeom prst="roundRect">
            <a:avLst>
              <a:gd name="adj" fmla="val 6000"/>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6030468"/>
            <a:ext cx="914400" cy="237744"/>
          </a:xfrm>
          <a:prstGeom prst="rect">
            <a:avLst/>
          </a:prstGeom>
          <a:noFill/>
        </p:spPr>
        <p:txBody>
          <a:bodyPr wrap="square" lIns="73152" rIns="73152" tIns="36576" bIns="36576" anchor="ctr">
            <a:spAutoFit/>
          </a:bodyPr>
          <a:lstStyle/>
          <a:p>
            <a:pPr algn="ctr"/>
            <a:r>
              <a:rPr sz="900" b="1" i="0">
                <a:solidFill>
                  <a:srgbClr val="0B1428"/>
                </a:solidFill>
                <a:latin typeface="Calibri"/>
              </a:rPr>
              <a:t>R2 · HIGH</a:t>
            </a:r>
          </a:p>
        </p:txBody>
      </p:sp>
      <p:sp>
        <p:nvSpPr>
          <p:cNvPr id="41" name="TextBox 40"/>
          <p:cNvSpPr txBox="1"/>
          <p:nvPr/>
        </p:nvSpPr>
        <p:spPr>
          <a:xfrm>
            <a:off x="1645920" y="5961888"/>
            <a:ext cx="9814255" cy="411480"/>
          </a:xfrm>
          <a:prstGeom prst="rect">
            <a:avLst/>
          </a:prstGeom>
          <a:noFill/>
        </p:spPr>
        <p:txBody>
          <a:bodyPr wrap="square" lIns="73152" rIns="73152" tIns="36576" bIns="36576" anchor="t">
            <a:spAutoFit/>
          </a:bodyPr>
          <a:lstStyle/>
          <a:p>
            <a:pPr algn="ctr"/>
            <a:r>
              <a:rPr sz="1100" b="1" i="0">
                <a:solidFill>
                  <a:srgbClr val="FFFFFF"/>
                </a:solidFill>
                <a:latin typeface="Calibri"/>
              </a:rPr>
              <a:t>Consistency:  100 % JSON-parse success, 3,030 invocations (inter-run agreement is deterministic by seed).   Colour = requirement band (A8).   R1 / R3 / R4 / R5 detailed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R1 · Detection Accuracy</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TextBox 7"/>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15 / 25</a:t>
            </a:r>
          </a:p>
        </p:txBody>
      </p:sp>
      <p:sp>
        <p:nvSpPr>
          <p:cNvPr id="9" name="Rounded Rectangle 8"/>
          <p:cNvSpPr/>
          <p:nvPr/>
        </p:nvSpPr>
        <p:spPr>
          <a:xfrm>
            <a:off x="11002975" y="228600"/>
            <a:ext cx="6400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02975" y="228600"/>
            <a:ext cx="6400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R1</a:t>
            </a:r>
          </a:p>
        </p:txBody>
      </p:sp>
      <p:sp>
        <p:nvSpPr>
          <p:cNvPr id="11" name="Rounded Rectangle 10"/>
          <p:cNvSpPr/>
          <p:nvPr/>
        </p:nvSpPr>
        <p:spPr>
          <a:xfrm>
            <a:off x="457200" y="1783080"/>
            <a:ext cx="11277295" cy="12801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920240"/>
            <a:ext cx="10728655" cy="365760"/>
          </a:xfrm>
          <a:prstGeom prst="rect">
            <a:avLst/>
          </a:prstGeom>
          <a:noFill/>
        </p:spPr>
        <p:txBody>
          <a:bodyPr wrap="square" lIns="73152" rIns="73152" tIns="36576" bIns="36576" anchor="t">
            <a:spAutoFit/>
          </a:bodyPr>
          <a:lstStyle/>
          <a:p>
            <a:pPr algn="l"/>
            <a:r>
              <a:rPr sz="1100" b="1" i="0">
                <a:solidFill>
                  <a:srgbClr val="FCA311"/>
                </a:solidFill>
                <a:latin typeface="Calibri"/>
              </a:rPr>
              <a:t>qwen3:8b + RAG  ·  canonical taxonomy  ·  full 101-case run</a:t>
            </a:r>
          </a:p>
        </p:txBody>
      </p:sp>
      <p:sp>
        <p:nvSpPr>
          <p:cNvPr id="13" name="TextBox 12"/>
          <p:cNvSpPr txBox="1"/>
          <p:nvPr/>
        </p:nvSpPr>
        <p:spPr>
          <a:xfrm>
            <a:off x="640080" y="2286000"/>
            <a:ext cx="2727883" cy="457200"/>
          </a:xfrm>
          <a:prstGeom prst="rect">
            <a:avLst/>
          </a:prstGeom>
          <a:noFill/>
        </p:spPr>
        <p:txBody>
          <a:bodyPr wrap="square" lIns="73152" rIns="73152" tIns="36576" bIns="36576" anchor="t">
            <a:spAutoFit/>
          </a:bodyPr>
          <a:lstStyle/>
          <a:p>
            <a:pPr algn="ctr"/>
            <a:r>
              <a:rPr sz="2400" b="1" i="0">
                <a:solidFill>
                  <a:srgbClr val="FFFFFF"/>
                </a:solidFill>
                <a:latin typeface="Calibri"/>
              </a:rPr>
              <a:t>71.43 %</a:t>
            </a:r>
          </a:p>
        </p:txBody>
      </p:sp>
      <p:sp>
        <p:nvSpPr>
          <p:cNvPr id="14" name="TextBox 13"/>
          <p:cNvSpPr txBox="1"/>
          <p:nvPr/>
        </p:nvSpPr>
        <p:spPr>
          <a:xfrm>
            <a:off x="640080" y="2743200"/>
            <a:ext cx="2727883" cy="274320"/>
          </a:xfrm>
          <a:prstGeom prst="rect">
            <a:avLst/>
          </a:prstGeom>
          <a:noFill/>
        </p:spPr>
        <p:txBody>
          <a:bodyPr wrap="square" lIns="73152" rIns="73152" tIns="36576" bIns="36576" anchor="t">
            <a:spAutoFit/>
          </a:bodyPr>
          <a:lstStyle/>
          <a:p>
            <a:pPr algn="ctr"/>
            <a:r>
              <a:rPr sz="1100" b="0" i="0">
                <a:solidFill>
                  <a:srgbClr val="C8D0E0"/>
                </a:solidFill>
                <a:latin typeface="Calibri"/>
              </a:rPr>
              <a:t>F1</a:t>
            </a:r>
          </a:p>
        </p:txBody>
      </p:sp>
      <p:sp>
        <p:nvSpPr>
          <p:cNvPr id="15" name="TextBox 14"/>
          <p:cNvSpPr txBox="1"/>
          <p:nvPr/>
        </p:nvSpPr>
        <p:spPr>
          <a:xfrm>
            <a:off x="3367963" y="2286000"/>
            <a:ext cx="2727883" cy="457200"/>
          </a:xfrm>
          <a:prstGeom prst="rect">
            <a:avLst/>
          </a:prstGeom>
          <a:noFill/>
        </p:spPr>
        <p:txBody>
          <a:bodyPr wrap="square" lIns="73152" rIns="73152" tIns="36576" bIns="36576" anchor="t">
            <a:spAutoFit/>
          </a:bodyPr>
          <a:lstStyle/>
          <a:p>
            <a:pPr algn="ctr"/>
            <a:r>
              <a:rPr sz="2400" b="1" i="0">
                <a:solidFill>
                  <a:srgbClr val="FFFFFF"/>
                </a:solidFill>
                <a:latin typeface="Calibri"/>
              </a:rPr>
              <a:t>72.46 %</a:t>
            </a:r>
          </a:p>
        </p:txBody>
      </p:sp>
      <p:sp>
        <p:nvSpPr>
          <p:cNvPr id="16" name="TextBox 15"/>
          <p:cNvSpPr txBox="1"/>
          <p:nvPr/>
        </p:nvSpPr>
        <p:spPr>
          <a:xfrm>
            <a:off x="3367963" y="2743200"/>
            <a:ext cx="2727883" cy="274320"/>
          </a:xfrm>
          <a:prstGeom prst="rect">
            <a:avLst/>
          </a:prstGeom>
          <a:noFill/>
        </p:spPr>
        <p:txBody>
          <a:bodyPr wrap="square" lIns="73152" rIns="73152" tIns="36576" bIns="36576" anchor="t">
            <a:spAutoFit/>
          </a:bodyPr>
          <a:lstStyle/>
          <a:p>
            <a:pPr algn="ctr"/>
            <a:r>
              <a:rPr sz="1100" b="0" i="0">
                <a:solidFill>
                  <a:srgbClr val="C8D0E0"/>
                </a:solidFill>
                <a:latin typeface="Calibri"/>
              </a:rPr>
              <a:t>Precision</a:t>
            </a:r>
          </a:p>
        </p:txBody>
      </p:sp>
      <p:sp>
        <p:nvSpPr>
          <p:cNvPr id="17" name="TextBox 16"/>
          <p:cNvSpPr txBox="1"/>
          <p:nvPr/>
        </p:nvSpPr>
        <p:spPr>
          <a:xfrm>
            <a:off x="6095847" y="2286000"/>
            <a:ext cx="2727883" cy="457200"/>
          </a:xfrm>
          <a:prstGeom prst="rect">
            <a:avLst/>
          </a:prstGeom>
          <a:noFill/>
        </p:spPr>
        <p:txBody>
          <a:bodyPr wrap="square" lIns="73152" rIns="73152" tIns="36576" bIns="36576" anchor="t">
            <a:spAutoFit/>
          </a:bodyPr>
          <a:lstStyle/>
          <a:p>
            <a:pPr algn="ctr"/>
            <a:r>
              <a:rPr sz="2400" b="1" i="0">
                <a:solidFill>
                  <a:srgbClr val="FFFFFF"/>
                </a:solidFill>
                <a:latin typeface="Calibri"/>
              </a:rPr>
              <a:t>70.42 %</a:t>
            </a:r>
          </a:p>
        </p:txBody>
      </p:sp>
      <p:sp>
        <p:nvSpPr>
          <p:cNvPr id="18" name="TextBox 17"/>
          <p:cNvSpPr txBox="1"/>
          <p:nvPr/>
        </p:nvSpPr>
        <p:spPr>
          <a:xfrm>
            <a:off x="6095847" y="2743200"/>
            <a:ext cx="2727883" cy="274320"/>
          </a:xfrm>
          <a:prstGeom prst="rect">
            <a:avLst/>
          </a:prstGeom>
          <a:noFill/>
        </p:spPr>
        <p:txBody>
          <a:bodyPr wrap="square" lIns="73152" rIns="73152" tIns="36576" bIns="36576" anchor="t">
            <a:spAutoFit/>
          </a:bodyPr>
          <a:lstStyle/>
          <a:p>
            <a:pPr algn="ctr"/>
            <a:r>
              <a:rPr sz="1100" b="0" i="0">
                <a:solidFill>
                  <a:srgbClr val="C8D0E0"/>
                </a:solidFill>
                <a:latin typeface="Calibri"/>
              </a:rPr>
              <a:t>Recall</a:t>
            </a:r>
          </a:p>
        </p:txBody>
      </p:sp>
      <p:sp>
        <p:nvSpPr>
          <p:cNvPr id="19" name="TextBox 18"/>
          <p:cNvSpPr txBox="1"/>
          <p:nvPr/>
        </p:nvSpPr>
        <p:spPr>
          <a:xfrm>
            <a:off x="8823731" y="2286000"/>
            <a:ext cx="2727883" cy="457200"/>
          </a:xfrm>
          <a:prstGeom prst="rect">
            <a:avLst/>
          </a:prstGeom>
          <a:noFill/>
        </p:spPr>
        <p:txBody>
          <a:bodyPr wrap="square" lIns="73152" rIns="73152" tIns="36576" bIns="36576" anchor="t">
            <a:spAutoFit/>
          </a:bodyPr>
          <a:lstStyle/>
          <a:p>
            <a:pPr algn="ctr"/>
            <a:r>
              <a:rPr sz="2400" b="1" i="0">
                <a:solidFill>
                  <a:srgbClr val="FFFFFF"/>
                </a:solidFill>
                <a:latin typeface="Calibri"/>
              </a:rPr>
              <a:t>10.0 %</a:t>
            </a:r>
          </a:p>
        </p:txBody>
      </p:sp>
      <p:sp>
        <p:nvSpPr>
          <p:cNvPr id="20" name="TextBox 19"/>
          <p:cNvSpPr txBox="1"/>
          <p:nvPr/>
        </p:nvSpPr>
        <p:spPr>
          <a:xfrm>
            <a:off x="8823731" y="2743200"/>
            <a:ext cx="2727883" cy="274320"/>
          </a:xfrm>
          <a:prstGeom prst="rect">
            <a:avLst/>
          </a:prstGeom>
          <a:noFill/>
        </p:spPr>
        <p:txBody>
          <a:bodyPr wrap="square" lIns="73152" rIns="73152" tIns="36576" bIns="36576" anchor="t">
            <a:spAutoFit/>
          </a:bodyPr>
          <a:lstStyle/>
          <a:p>
            <a:pPr algn="ctr"/>
            <a:r>
              <a:rPr sz="1100" b="0" i="0">
                <a:solidFill>
                  <a:srgbClr val="C8D0E0"/>
                </a:solidFill>
                <a:latin typeface="Calibri"/>
              </a:rPr>
              <a:t>FPR</a:t>
            </a:r>
          </a:p>
        </p:txBody>
      </p:sp>
      <p:pic>
        <p:nvPicPr>
          <p:cNvPr id="21" name="Picture 20" descr="chart_15_f1_baselines.png"/>
          <p:cNvPicPr>
            <a:picLocks noChangeAspect="1"/>
          </p:cNvPicPr>
          <p:nvPr/>
        </p:nvPicPr>
        <p:blipFill>
          <a:blip r:embed="rId2"/>
          <a:stretch>
            <a:fillRect/>
          </a:stretch>
        </p:blipFill>
        <p:spPr>
          <a:xfrm>
            <a:off x="457200" y="3246120"/>
            <a:ext cx="6991922" cy="3108960"/>
          </a:xfrm>
          <a:prstGeom prst="rect">
            <a:avLst/>
          </a:prstGeom>
        </p:spPr>
      </p:pic>
      <p:sp>
        <p:nvSpPr>
          <p:cNvPr id="22" name="Rounded Rectangle 21"/>
          <p:cNvSpPr/>
          <p:nvPr/>
        </p:nvSpPr>
        <p:spPr>
          <a:xfrm>
            <a:off x="7632002" y="3246120"/>
            <a:ext cx="4102492" cy="31089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632002" y="3319272"/>
            <a:ext cx="4102492" cy="30358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lobe-navy.png"/>
          <p:cNvPicPr>
            <a:picLocks noChangeAspect="1"/>
          </p:cNvPicPr>
          <p:nvPr/>
        </p:nvPicPr>
        <p:blipFill>
          <a:blip r:embed="rId3"/>
          <a:stretch>
            <a:fillRect/>
          </a:stretch>
        </p:blipFill>
        <p:spPr>
          <a:xfrm>
            <a:off x="7833170" y="3442716"/>
            <a:ext cx="384048" cy="384048"/>
          </a:xfrm>
          <a:prstGeom prst="rect">
            <a:avLst/>
          </a:prstGeom>
        </p:spPr>
      </p:pic>
      <p:sp>
        <p:nvSpPr>
          <p:cNvPr id="25" name="TextBox 24"/>
          <p:cNvSpPr txBox="1"/>
          <p:nvPr/>
        </p:nvSpPr>
        <p:spPr>
          <a:xfrm>
            <a:off x="8363522" y="3429000"/>
            <a:ext cx="3169804" cy="411480"/>
          </a:xfrm>
          <a:prstGeom prst="rect">
            <a:avLst/>
          </a:prstGeom>
          <a:noFill/>
        </p:spPr>
        <p:txBody>
          <a:bodyPr wrap="square" lIns="73152" rIns="73152" tIns="36576" bIns="36576" anchor="ctr">
            <a:spAutoFit/>
          </a:bodyPr>
          <a:lstStyle/>
          <a:p>
            <a:pPr algn="l"/>
            <a:r>
              <a:rPr sz="1400" b="1" i="0">
                <a:solidFill>
                  <a:srgbClr val="0B1428"/>
                </a:solidFill>
                <a:latin typeface="Calibri"/>
              </a:rPr>
              <a:t>On unseen code</a:t>
            </a:r>
          </a:p>
        </p:txBody>
      </p:sp>
      <p:sp>
        <p:nvSpPr>
          <p:cNvPr id="26" name="TextBox 25"/>
          <p:cNvSpPr txBox="1"/>
          <p:nvPr/>
        </p:nvSpPr>
        <p:spPr>
          <a:xfrm>
            <a:off x="7833170" y="3950208"/>
            <a:ext cx="3700156" cy="2221992"/>
          </a:xfrm>
          <a:prstGeom prst="rect">
            <a:avLst/>
          </a:prstGeom>
          <a:noFill/>
        </p:spPr>
        <p:txBody>
          <a:bodyPr wrap="square" lIns="73152" rIns="73152" tIns="36576" bIns="36576" anchor="t">
            <a:spAutoFit/>
          </a:bodyPr>
          <a:lstStyle/>
          <a:p>
            <a:pPr algn="l">
              <a:spcAft>
                <a:spcPts val="200"/>
              </a:spcAft>
            </a:pPr>
            <a:r>
              <a:rPr sz="1100" b="0" i="0">
                <a:solidFill>
                  <a:srgbClr val="1A1F36"/>
                </a:solidFill>
                <a:latin typeface="Calibri"/>
              </a:rPr>
              <a:t>Held-out split:  F1 61.11 %</a:t>
            </a:r>
          </a:p>
          <a:p>
            <a:pPr algn="l">
              <a:spcAft>
                <a:spcPts val="200"/>
              </a:spcAft>
            </a:pPr>
            <a:r>
              <a:rPr sz="1100" b="0" i="0">
                <a:solidFill>
                  <a:srgbClr val="1A1F36"/>
                </a:solidFill>
                <a:latin typeface="Calibri"/>
              </a:rPr>
              <a:t>External corpus:  F1 63.64 %</a:t>
            </a:r>
          </a:p>
          <a:p>
            <a:pPr algn="l">
              <a:spcAft>
                <a:spcPts val="200"/>
              </a:spcAft>
            </a:pPr>
            <a:r>
              <a:rPr sz="1100" b="0" i="0">
                <a:solidFill>
                  <a:srgbClr val="1A1F36"/>
                </a:solidFill>
                <a:latin typeface="Calibri"/>
              </a:rPr>
              <a:t>→ recall gives ground, precision holds</a:t>
            </a:r>
          </a:p>
          <a:p>
            <a:pPr algn="l">
              <a:spcAft>
                <a:spcPts val="200"/>
              </a:spcAft>
            </a:pPr>
            <a:r>
              <a:rPr sz="1100" b="0" i="0">
                <a:solidFill>
                  <a:srgbClr val="1A1F36"/>
                </a:solidFill>
                <a:latin typeface="Calibri"/>
              </a:rPr>
              <a:t/>
            </a:r>
          </a:p>
          <a:p>
            <a:pPr algn="l">
              <a:spcAft>
                <a:spcPts val="200"/>
              </a:spcAft>
            </a:pPr>
            <a:r>
              <a:rPr sz="1100" b="0" i="0">
                <a:solidFill>
                  <a:srgbClr val="1A1F36"/>
                </a:solidFill>
                <a:latin typeface="Calibri"/>
              </a:rPr>
              <a:t>FAIRNESS</a:t>
            </a:r>
          </a:p>
          <a:p>
            <a:pPr algn="l">
              <a:spcAft>
                <a:spcPts val="200"/>
              </a:spcAft>
            </a:pPr>
            <a:r>
              <a:rPr sz="1100" b="0" i="0">
                <a:solidFill>
                  <a:srgbClr val="1A1F36"/>
                </a:solidFill>
                <a:latin typeface="Calibri"/>
              </a:rPr>
              <a:t>FPR 10 %  ·  95 % CI [2.1–26.5 %]</a:t>
            </a:r>
          </a:p>
          <a:p>
            <a:pPr algn="l">
              <a:spcAft>
                <a:spcPts val="200"/>
              </a:spcAft>
            </a:pPr>
            <a:r>
              <a:rPr sz="1100" b="0" i="0">
                <a:solidFill>
                  <a:srgbClr val="1A1F36"/>
                </a:solidFill>
                <a:latin typeface="Calibri"/>
              </a:rPr>
              <a:t>SAST shown at function scope,</a:t>
            </a:r>
          </a:p>
          <a:p>
            <a:pPr algn="l">
              <a:spcAft>
                <a:spcPts val="200"/>
              </a:spcAft>
            </a:pPr>
            <a:r>
              <a:rPr sz="1100" b="0" i="0">
                <a:solidFill>
                  <a:srgbClr val="1A1F36"/>
                </a:solidFill>
                <a:latin typeface="Calibri"/>
              </a:rPr>
              <a:t>understating full-project recall (A7)</a:t>
            </a:r>
          </a:p>
          <a:p>
            <a:pPr algn="l">
              <a:spcAft>
                <a:spcPts val="200"/>
              </a:spcAft>
            </a:pPr>
            <a:r>
              <a:rPr sz="1100" b="0" i="0">
                <a:solidFill>
                  <a:srgbClr val="1A1F36"/>
                </a:solidFill>
                <a:latin typeface="Calibri"/>
              </a:rPr>
              <a:t/>
            </a:r>
          </a:p>
          <a:p>
            <a:pPr algn="l">
              <a:spcAft>
                <a:spcPts val="200"/>
              </a:spcAft>
            </a:pPr>
            <a:r>
              <a:rPr sz="1100" b="0" i="0">
                <a:solidFill>
                  <a:srgbClr val="1A1F36"/>
                </a:solidFill>
                <a:latin typeface="Calibri"/>
              </a:rPr>
              <a:t>Optional ≥ 0.67 rescore gate → A9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RAG Is Not a Uniform Win</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TextBox 7"/>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16 / 25</a:t>
            </a:r>
          </a:p>
        </p:txBody>
      </p:sp>
      <p:sp>
        <p:nvSpPr>
          <p:cNvPr id="9" name="Rounded Rectangle 8"/>
          <p:cNvSpPr/>
          <p:nvPr/>
        </p:nvSpPr>
        <p:spPr>
          <a:xfrm>
            <a:off x="9997135" y="228600"/>
            <a:ext cx="164592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97135" y="228600"/>
            <a:ext cx="164592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R1  ·  RQ2</a:t>
            </a:r>
          </a:p>
        </p:txBody>
      </p:sp>
      <p:pic>
        <p:nvPicPr>
          <p:cNvPr id="11" name="Picture 10" descr="chart_16_rag_ablation.png"/>
          <p:cNvPicPr>
            <a:picLocks noChangeAspect="1"/>
          </p:cNvPicPr>
          <p:nvPr/>
        </p:nvPicPr>
        <p:blipFill>
          <a:blip r:embed="rId2"/>
          <a:stretch>
            <a:fillRect/>
          </a:stretch>
        </p:blipFill>
        <p:spPr>
          <a:xfrm>
            <a:off x="457200" y="1783080"/>
            <a:ext cx="6991922" cy="4480560"/>
          </a:xfrm>
          <a:prstGeom prst="rect">
            <a:avLst/>
          </a:prstGeom>
        </p:spPr>
      </p:pic>
      <p:sp>
        <p:nvSpPr>
          <p:cNvPr id="12" name="Rounded Rectangle 11"/>
          <p:cNvSpPr/>
          <p:nvPr/>
        </p:nvSpPr>
        <p:spPr>
          <a:xfrm>
            <a:off x="7632002" y="1783080"/>
            <a:ext cx="4102492" cy="4480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4882" y="1920240"/>
            <a:ext cx="3736732" cy="365760"/>
          </a:xfrm>
          <a:prstGeom prst="rect">
            <a:avLst/>
          </a:prstGeom>
          <a:noFill/>
        </p:spPr>
        <p:txBody>
          <a:bodyPr wrap="square" lIns="73152" rIns="73152" tIns="36576" bIns="36576" anchor="t">
            <a:spAutoFit/>
          </a:bodyPr>
          <a:lstStyle/>
          <a:p>
            <a:pPr algn="l"/>
            <a:r>
              <a:rPr sz="1100" b="1" i="0">
                <a:solidFill>
                  <a:srgbClr val="FCA311"/>
                </a:solidFill>
                <a:latin typeface="Calibri"/>
              </a:rPr>
              <a:t>TAKEAWAY</a:t>
            </a:r>
          </a:p>
        </p:txBody>
      </p:sp>
      <p:sp>
        <p:nvSpPr>
          <p:cNvPr id="14" name="TextBox 13"/>
          <p:cNvSpPr txBox="1"/>
          <p:nvPr/>
        </p:nvSpPr>
        <p:spPr>
          <a:xfrm>
            <a:off x="7814882" y="2286000"/>
            <a:ext cx="3736732" cy="2286000"/>
          </a:xfrm>
          <a:prstGeom prst="rect">
            <a:avLst/>
          </a:prstGeom>
          <a:noFill/>
        </p:spPr>
        <p:txBody>
          <a:bodyPr wrap="square" lIns="73152" rIns="73152" tIns="36576" bIns="36576" anchor="t">
            <a:spAutoFit/>
          </a:bodyPr>
          <a:lstStyle/>
          <a:p>
            <a:pPr algn="l"/>
            <a:r>
              <a:rPr sz="2000" b="1" i="0">
                <a:solidFill>
                  <a:srgbClr val="FFFFFF"/>
                </a:solidFill>
                <a:latin typeface="Calibri"/>
              </a:rPr>
              <a:t>RAG can help, harm,</a:t>
            </a:r>
          </a:p>
          <a:p>
            <a:pPr algn="l"/>
            <a:r>
              <a:rPr sz="2000" b="1" i="0">
                <a:solidFill>
                  <a:srgbClr val="FFFFFF"/>
                </a:solidFill>
                <a:latin typeface="Calibri"/>
              </a:rPr>
              <a:t>or do nothing,</a:t>
            </a:r>
          </a:p>
          <a:p>
            <a:pPr algn="l"/>
            <a:r>
              <a:rPr sz="2000" b="1" i="0">
                <a:solidFill>
                  <a:srgbClr val="FFFFFF"/>
                </a:solidFill>
                <a:latin typeface="Calibri"/>
              </a:rPr>
              <a:t>depending on the model.</a:t>
            </a:r>
          </a:p>
        </p:txBody>
      </p:sp>
      <p:sp>
        <p:nvSpPr>
          <p:cNvPr id="15" name="TextBox 14"/>
          <p:cNvSpPr txBox="1"/>
          <p:nvPr/>
        </p:nvSpPr>
        <p:spPr>
          <a:xfrm>
            <a:off x="7814882" y="4434840"/>
            <a:ext cx="3736732" cy="1645920"/>
          </a:xfrm>
          <a:prstGeom prst="rect">
            <a:avLst/>
          </a:prstGeom>
          <a:noFill/>
        </p:spPr>
        <p:txBody>
          <a:bodyPr wrap="square" lIns="73152" rIns="73152" tIns="36576" bIns="36576" anchor="t">
            <a:spAutoFit/>
          </a:bodyPr>
          <a:lstStyle/>
          <a:p>
            <a:pPr algn="l"/>
            <a:r>
              <a:rPr sz="1100" b="0" i="0">
                <a:solidFill>
                  <a:srgbClr val="D8DEEE"/>
                </a:solidFill>
                <a:latin typeface="Calibri"/>
              </a:rPr>
              <a:t>Only codellama's −29.89 F1 survives Bonferroni at α = 0.01</a:t>
            </a:r>
          </a:p>
          <a:p>
            <a:pPr algn="l"/>
            <a:r>
              <a:rPr sz="1100" b="0" i="0">
                <a:solidFill>
                  <a:srgbClr val="D8DEEE"/>
                </a:solidFill>
                <a:latin typeface="Calibri"/>
              </a:rPr>
              <a:t>(McNemar p = 0.0013).</a:t>
            </a:r>
          </a:p>
          <a:p>
            <a:pPr algn="l"/>
            <a:r>
              <a:rPr sz="1100" b="0" i="0">
                <a:solidFill>
                  <a:srgbClr val="D8DEEE"/>
                </a:solidFill>
                <a:latin typeface="Calibri"/>
              </a:rPr>
              <a:t/>
            </a:r>
          </a:p>
          <a:p>
            <a:pPr algn="l"/>
            <a:r>
              <a:rPr sz="1100" b="0" i="0">
                <a:solidFill>
                  <a:srgbClr val="D8DEEE"/>
                </a:solidFill>
                <a:latin typeface="Calibri"/>
              </a:rPr>
              <a:t>Design implication:  treat RAG as a per-model configuration choice, not a default.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R3 · Repair Quality</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TextBox 7"/>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17 / 25</a:t>
            </a:r>
          </a:p>
        </p:txBody>
      </p:sp>
      <p:sp>
        <p:nvSpPr>
          <p:cNvPr id="9" name="Rounded Rectangle 8"/>
          <p:cNvSpPr/>
          <p:nvPr/>
        </p:nvSpPr>
        <p:spPr>
          <a:xfrm>
            <a:off x="11002975" y="228600"/>
            <a:ext cx="6400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02975" y="228600"/>
            <a:ext cx="6400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R3</a:t>
            </a:r>
          </a:p>
        </p:txBody>
      </p:sp>
      <p:sp>
        <p:nvSpPr>
          <p:cNvPr id="11" name="Rounded Rectangle 10"/>
          <p:cNvSpPr/>
          <p:nvPr/>
        </p:nvSpPr>
        <p:spPr>
          <a:xfrm>
            <a:off x="457200" y="1783080"/>
            <a:ext cx="5501487" cy="33375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1856232"/>
            <a:ext cx="5501487" cy="32644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ear-navy.png"/>
          <p:cNvPicPr>
            <a:picLocks noChangeAspect="1"/>
          </p:cNvPicPr>
          <p:nvPr/>
        </p:nvPicPr>
        <p:blipFill>
          <a:blip r:embed="rId2"/>
          <a:stretch>
            <a:fillRect/>
          </a:stretch>
        </p:blipFill>
        <p:spPr>
          <a:xfrm>
            <a:off x="685800" y="1965960"/>
            <a:ext cx="274320" cy="274320"/>
          </a:xfrm>
          <a:prstGeom prst="rect">
            <a:avLst/>
          </a:prstGeom>
        </p:spPr>
      </p:pic>
      <p:sp>
        <p:nvSpPr>
          <p:cNvPr id="14" name="TextBox 13"/>
          <p:cNvSpPr txBox="1"/>
          <p:nvPr/>
        </p:nvSpPr>
        <p:spPr>
          <a:xfrm>
            <a:off x="1042416" y="1947672"/>
            <a:ext cx="4678527" cy="365760"/>
          </a:xfrm>
          <a:prstGeom prst="rect">
            <a:avLst/>
          </a:prstGeom>
          <a:noFill/>
        </p:spPr>
        <p:txBody>
          <a:bodyPr wrap="square" lIns="73152" rIns="73152" tIns="36576" bIns="36576" anchor="t">
            <a:spAutoFit/>
          </a:bodyPr>
          <a:lstStyle/>
          <a:p>
            <a:pPr algn="l"/>
            <a:r>
              <a:rPr sz="1300" b="1" i="0">
                <a:solidFill>
                  <a:srgbClr val="0B1428"/>
                </a:solidFill>
                <a:latin typeface="Calibri"/>
              </a:rPr>
              <a:t>AUTO-APPLICABLE</a:t>
            </a:r>
          </a:p>
        </p:txBody>
      </p:sp>
      <p:sp>
        <p:nvSpPr>
          <p:cNvPr id="15" name="TextBox 14"/>
          <p:cNvSpPr txBox="1"/>
          <p:nvPr/>
        </p:nvSpPr>
        <p:spPr>
          <a:xfrm>
            <a:off x="685800" y="2286000"/>
            <a:ext cx="5044287" cy="274320"/>
          </a:xfrm>
          <a:prstGeom prst="rect">
            <a:avLst/>
          </a:prstGeom>
          <a:noFill/>
        </p:spPr>
        <p:txBody>
          <a:bodyPr wrap="square" lIns="73152" rIns="73152" tIns="36576" bIns="36576" anchor="t">
            <a:spAutoFit/>
          </a:bodyPr>
          <a:lstStyle/>
          <a:p>
            <a:pPr algn="l"/>
            <a:r>
              <a:rPr sz="1000" b="0" i="0">
                <a:solidFill>
                  <a:srgbClr val="5B657A"/>
                </a:solidFill>
                <a:latin typeface="Calibri"/>
              </a:rPr>
              <a:t>Validator parses with @babel/parser  ·  fully automated</a:t>
            </a:r>
          </a:p>
        </p:txBody>
      </p:sp>
      <p:sp>
        <p:nvSpPr>
          <p:cNvPr id="16" name="TextBox 15"/>
          <p:cNvSpPr txBox="1"/>
          <p:nvPr/>
        </p:nvSpPr>
        <p:spPr>
          <a:xfrm>
            <a:off x="685800" y="2743200"/>
            <a:ext cx="5044287" cy="274320"/>
          </a:xfrm>
          <a:prstGeom prst="rect">
            <a:avLst/>
          </a:prstGeom>
          <a:noFill/>
        </p:spPr>
        <p:txBody>
          <a:bodyPr wrap="square" lIns="73152" rIns="73152" tIns="36576" bIns="36576" anchor="t">
            <a:spAutoFit/>
          </a:bodyPr>
          <a:lstStyle/>
          <a:p>
            <a:pPr algn="l"/>
            <a:r>
              <a:rPr sz="1100" b="1" i="0">
                <a:solidFill>
                  <a:srgbClr val="0B1428"/>
                </a:solidFill>
                <a:latin typeface="Calibri"/>
              </a:rPr>
              <a:t>On issued fixes  (252 / 279)</a:t>
            </a:r>
          </a:p>
        </p:txBody>
      </p:sp>
      <p:sp>
        <p:nvSpPr>
          <p:cNvPr id="17" name="Rounded Rectangle 16"/>
          <p:cNvSpPr/>
          <p:nvPr/>
        </p:nvSpPr>
        <p:spPr>
          <a:xfrm>
            <a:off x="685800" y="3035808"/>
            <a:ext cx="5044287" cy="50292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035808"/>
            <a:ext cx="4556000" cy="50292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2" y="3035808"/>
            <a:ext cx="4226816" cy="502920"/>
          </a:xfrm>
          <a:prstGeom prst="rect">
            <a:avLst/>
          </a:prstGeom>
          <a:noFill/>
        </p:spPr>
        <p:txBody>
          <a:bodyPr wrap="square" lIns="73152" rIns="73152" tIns="36576" bIns="36576" anchor="ctr">
            <a:spAutoFit/>
          </a:bodyPr>
          <a:lstStyle/>
          <a:p>
            <a:pPr algn="l"/>
            <a:r>
              <a:rPr sz="1100" b="1" i="0">
                <a:solidFill>
                  <a:srgbClr val="FFFFFF"/>
                </a:solidFill>
                <a:latin typeface="Calibri"/>
              </a:rPr>
              <a:t>90.32 %</a:t>
            </a:r>
          </a:p>
        </p:txBody>
      </p:sp>
      <p:sp>
        <p:nvSpPr>
          <p:cNvPr id="20" name="TextBox 19"/>
          <p:cNvSpPr txBox="1"/>
          <p:nvPr/>
        </p:nvSpPr>
        <p:spPr>
          <a:xfrm>
            <a:off x="685800" y="3794760"/>
            <a:ext cx="5044287" cy="274320"/>
          </a:xfrm>
          <a:prstGeom prst="rect">
            <a:avLst/>
          </a:prstGeom>
          <a:noFill/>
        </p:spPr>
        <p:txBody>
          <a:bodyPr wrap="square" lIns="73152" rIns="73152" tIns="36576" bIns="36576" anchor="t">
            <a:spAutoFit/>
          </a:bodyPr>
          <a:lstStyle/>
          <a:p>
            <a:pPr algn="l"/>
            <a:r>
              <a:rPr sz="1100" b="1" i="0">
                <a:solidFill>
                  <a:srgbClr val="0B1428"/>
                </a:solidFill>
                <a:latin typeface="Calibri"/>
              </a:rPr>
              <a:t>Across all stage-2 calls</a:t>
            </a:r>
          </a:p>
        </p:txBody>
      </p:sp>
      <p:sp>
        <p:nvSpPr>
          <p:cNvPr id="21" name="Rounded Rectangle 20"/>
          <p:cNvSpPr/>
          <p:nvPr/>
        </p:nvSpPr>
        <p:spPr>
          <a:xfrm>
            <a:off x="685800" y="4087368"/>
            <a:ext cx="5044287" cy="502920"/>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85800" y="4087368"/>
            <a:ext cx="4280077"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2" y="4087368"/>
            <a:ext cx="3950893" cy="502920"/>
          </a:xfrm>
          <a:prstGeom prst="rect">
            <a:avLst/>
          </a:prstGeom>
          <a:noFill/>
        </p:spPr>
        <p:txBody>
          <a:bodyPr wrap="square" lIns="73152" rIns="73152" tIns="36576" bIns="36576" anchor="ctr">
            <a:spAutoFit/>
          </a:bodyPr>
          <a:lstStyle/>
          <a:p>
            <a:pPr algn="l"/>
            <a:r>
              <a:rPr sz="1100" b="1" i="0">
                <a:solidFill>
                  <a:srgbClr val="FFFFFF"/>
                </a:solidFill>
                <a:latin typeface="Calibri"/>
              </a:rPr>
              <a:t>84.85 %</a:t>
            </a:r>
          </a:p>
        </p:txBody>
      </p:sp>
      <p:sp>
        <p:nvSpPr>
          <p:cNvPr id="24" name="Rounded Rectangle 23"/>
          <p:cNvSpPr/>
          <p:nvPr/>
        </p:nvSpPr>
        <p:spPr>
          <a:xfrm>
            <a:off x="6233007" y="1783080"/>
            <a:ext cx="5501487" cy="3337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233007" y="1856232"/>
            <a:ext cx="5501487" cy="32644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navy.png"/>
          <p:cNvPicPr>
            <a:picLocks noChangeAspect="1"/>
          </p:cNvPicPr>
          <p:nvPr/>
        </p:nvPicPr>
        <p:blipFill>
          <a:blip r:embed="rId3"/>
          <a:stretch>
            <a:fillRect/>
          </a:stretch>
        </p:blipFill>
        <p:spPr>
          <a:xfrm>
            <a:off x="6461607" y="1965960"/>
            <a:ext cx="274320" cy="274320"/>
          </a:xfrm>
          <a:prstGeom prst="rect">
            <a:avLst/>
          </a:prstGeom>
        </p:spPr>
      </p:pic>
      <p:sp>
        <p:nvSpPr>
          <p:cNvPr id="27" name="TextBox 26"/>
          <p:cNvSpPr txBox="1"/>
          <p:nvPr/>
        </p:nvSpPr>
        <p:spPr>
          <a:xfrm>
            <a:off x="6818223" y="1947672"/>
            <a:ext cx="4678527" cy="365760"/>
          </a:xfrm>
          <a:prstGeom prst="rect">
            <a:avLst/>
          </a:prstGeom>
          <a:noFill/>
        </p:spPr>
        <p:txBody>
          <a:bodyPr wrap="square" lIns="73152" rIns="73152" tIns="36576" bIns="36576" anchor="t">
            <a:spAutoFit/>
          </a:bodyPr>
          <a:lstStyle/>
          <a:p>
            <a:pPr algn="l"/>
            <a:r>
              <a:rPr sz="1300" b="1" i="0">
                <a:solidFill>
                  <a:srgbClr val="0B1428"/>
                </a:solidFill>
                <a:latin typeface="Calibri"/>
              </a:rPr>
              <a:t>MANUAL REVIEW  ·  n = 25</a:t>
            </a:r>
          </a:p>
        </p:txBody>
      </p:sp>
      <p:sp>
        <p:nvSpPr>
          <p:cNvPr id="28" name="TextBox 27"/>
          <p:cNvSpPr txBox="1"/>
          <p:nvPr/>
        </p:nvSpPr>
        <p:spPr>
          <a:xfrm>
            <a:off x="6461607" y="2286000"/>
            <a:ext cx="5044287" cy="274320"/>
          </a:xfrm>
          <a:prstGeom prst="rect">
            <a:avLst/>
          </a:prstGeom>
          <a:noFill/>
        </p:spPr>
        <p:txBody>
          <a:bodyPr wrap="square" lIns="73152" rIns="73152" tIns="36576" bIns="36576" anchor="t">
            <a:spAutoFit/>
          </a:bodyPr>
          <a:lstStyle/>
          <a:p>
            <a:pPr algn="l"/>
            <a:r>
              <a:rPr sz="1000" b="0" i="0">
                <a:solidFill>
                  <a:srgbClr val="5B657A"/>
                </a:solidFill>
                <a:latin typeface="Calibri"/>
              </a:rPr>
              <a:t>Rubric-based review on a sampled subset</a:t>
            </a:r>
          </a:p>
        </p:txBody>
      </p:sp>
      <p:sp>
        <p:nvSpPr>
          <p:cNvPr id="29" name="TextBox 28"/>
          <p:cNvSpPr txBox="1"/>
          <p:nvPr/>
        </p:nvSpPr>
        <p:spPr>
          <a:xfrm>
            <a:off x="6461607" y="2743200"/>
            <a:ext cx="5044287" cy="201168"/>
          </a:xfrm>
          <a:prstGeom prst="rect">
            <a:avLst/>
          </a:prstGeom>
          <a:noFill/>
        </p:spPr>
        <p:txBody>
          <a:bodyPr wrap="square" lIns="73152" rIns="73152" tIns="36576" bIns="36576" anchor="t">
            <a:spAutoFit/>
          </a:bodyPr>
          <a:lstStyle/>
          <a:p>
            <a:pPr algn="l"/>
            <a:r>
              <a:rPr sz="1000" b="1" i="0">
                <a:solidFill>
                  <a:srgbClr val="0B1428"/>
                </a:solidFill>
                <a:latin typeface="Calibri"/>
              </a:rPr>
              <a:t>Fix provided</a:t>
            </a:r>
          </a:p>
        </p:txBody>
      </p:sp>
      <p:sp>
        <p:nvSpPr>
          <p:cNvPr id="30" name="Rounded Rectangle 29"/>
          <p:cNvSpPr/>
          <p:nvPr/>
        </p:nvSpPr>
        <p:spPr>
          <a:xfrm>
            <a:off x="6461607" y="2962656"/>
            <a:ext cx="5044287" cy="301752"/>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61607" y="2962656"/>
            <a:ext cx="3833658" cy="301752"/>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26199" y="2962656"/>
            <a:ext cx="3504474" cy="301752"/>
          </a:xfrm>
          <a:prstGeom prst="rect">
            <a:avLst/>
          </a:prstGeom>
          <a:noFill/>
        </p:spPr>
        <p:txBody>
          <a:bodyPr wrap="square" lIns="73152" rIns="73152" tIns="36576" bIns="36576" anchor="ctr">
            <a:spAutoFit/>
          </a:bodyPr>
          <a:lstStyle/>
          <a:p>
            <a:pPr algn="l"/>
            <a:r>
              <a:rPr sz="1100" b="1" i="0">
                <a:solidFill>
                  <a:srgbClr val="FFFFFF"/>
                </a:solidFill>
                <a:latin typeface="Calibri"/>
              </a:rPr>
              <a:t>76 %</a:t>
            </a:r>
          </a:p>
        </p:txBody>
      </p:sp>
      <p:sp>
        <p:nvSpPr>
          <p:cNvPr id="33" name="TextBox 32"/>
          <p:cNvSpPr txBox="1"/>
          <p:nvPr/>
        </p:nvSpPr>
        <p:spPr>
          <a:xfrm>
            <a:off x="6461607" y="3291840"/>
            <a:ext cx="5044287" cy="201168"/>
          </a:xfrm>
          <a:prstGeom prst="rect">
            <a:avLst/>
          </a:prstGeom>
          <a:noFill/>
        </p:spPr>
        <p:txBody>
          <a:bodyPr wrap="square" lIns="73152" rIns="73152" tIns="36576" bIns="36576" anchor="t">
            <a:spAutoFit/>
          </a:bodyPr>
          <a:lstStyle/>
          <a:p>
            <a:pPr algn="l"/>
            <a:r>
              <a:rPr sz="1000" b="1" i="0">
                <a:solidFill>
                  <a:srgbClr val="0B1428"/>
                </a:solidFill>
                <a:latin typeface="Calibri"/>
              </a:rPr>
              <a:t>Semantically correct</a:t>
            </a:r>
          </a:p>
        </p:txBody>
      </p:sp>
      <p:sp>
        <p:nvSpPr>
          <p:cNvPr id="34" name="Rounded Rectangle 33"/>
          <p:cNvSpPr/>
          <p:nvPr/>
        </p:nvSpPr>
        <p:spPr>
          <a:xfrm>
            <a:off x="6461607" y="3511296"/>
            <a:ext cx="5044287" cy="301752"/>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461607" y="3511296"/>
            <a:ext cx="4514637" cy="301752"/>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6199" y="3511296"/>
            <a:ext cx="4185453" cy="301752"/>
          </a:xfrm>
          <a:prstGeom prst="rect">
            <a:avLst/>
          </a:prstGeom>
          <a:noFill/>
        </p:spPr>
        <p:txBody>
          <a:bodyPr wrap="square" lIns="73152" rIns="73152" tIns="36576" bIns="36576" anchor="ctr">
            <a:spAutoFit/>
          </a:bodyPr>
          <a:lstStyle/>
          <a:p>
            <a:pPr algn="l"/>
            <a:r>
              <a:rPr sz="1100" b="1" i="0">
                <a:solidFill>
                  <a:srgbClr val="FFFFFF"/>
                </a:solidFill>
                <a:latin typeface="Calibri"/>
              </a:rPr>
              <a:t>89.5 %</a:t>
            </a:r>
          </a:p>
        </p:txBody>
      </p:sp>
      <p:sp>
        <p:nvSpPr>
          <p:cNvPr id="37" name="TextBox 36"/>
          <p:cNvSpPr txBox="1"/>
          <p:nvPr/>
        </p:nvSpPr>
        <p:spPr>
          <a:xfrm>
            <a:off x="6461607" y="3840480"/>
            <a:ext cx="5044287" cy="201168"/>
          </a:xfrm>
          <a:prstGeom prst="rect">
            <a:avLst/>
          </a:prstGeom>
          <a:noFill/>
        </p:spPr>
        <p:txBody>
          <a:bodyPr wrap="square" lIns="73152" rIns="73152" tIns="36576" bIns="36576" anchor="t">
            <a:spAutoFit/>
          </a:bodyPr>
          <a:lstStyle/>
          <a:p>
            <a:pPr algn="l"/>
            <a:r>
              <a:rPr sz="1000" b="1" i="0">
                <a:solidFill>
                  <a:srgbClr val="0B1428"/>
                </a:solidFill>
                <a:latin typeface="Calibri"/>
              </a:rPr>
              <a:t>Strategy-aligned</a:t>
            </a:r>
          </a:p>
        </p:txBody>
      </p:sp>
      <p:sp>
        <p:nvSpPr>
          <p:cNvPr id="38" name="Rounded Rectangle 37"/>
          <p:cNvSpPr/>
          <p:nvPr/>
        </p:nvSpPr>
        <p:spPr>
          <a:xfrm>
            <a:off x="6461607" y="4059936"/>
            <a:ext cx="5044287" cy="301752"/>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461607" y="4059936"/>
            <a:ext cx="4776940" cy="301752"/>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26199" y="4059936"/>
            <a:ext cx="4447756" cy="301752"/>
          </a:xfrm>
          <a:prstGeom prst="rect">
            <a:avLst/>
          </a:prstGeom>
          <a:noFill/>
        </p:spPr>
        <p:txBody>
          <a:bodyPr wrap="square" lIns="73152" rIns="73152" tIns="36576" bIns="36576" anchor="ctr">
            <a:spAutoFit/>
          </a:bodyPr>
          <a:lstStyle/>
          <a:p>
            <a:pPr algn="l"/>
            <a:r>
              <a:rPr sz="1100" b="1" i="0">
                <a:solidFill>
                  <a:srgbClr val="FFFFFF"/>
                </a:solidFill>
                <a:latin typeface="Calibri"/>
              </a:rPr>
              <a:t>94.7 %</a:t>
            </a:r>
          </a:p>
        </p:txBody>
      </p:sp>
      <p:sp>
        <p:nvSpPr>
          <p:cNvPr id="41" name="TextBox 40"/>
          <p:cNvSpPr txBox="1"/>
          <p:nvPr/>
        </p:nvSpPr>
        <p:spPr>
          <a:xfrm>
            <a:off x="6461607" y="4389120"/>
            <a:ext cx="5044287" cy="201168"/>
          </a:xfrm>
          <a:prstGeom prst="rect">
            <a:avLst/>
          </a:prstGeom>
          <a:noFill/>
        </p:spPr>
        <p:txBody>
          <a:bodyPr wrap="square" lIns="73152" rIns="73152" tIns="36576" bIns="36576" anchor="t">
            <a:spAutoFit/>
          </a:bodyPr>
          <a:lstStyle/>
          <a:p>
            <a:pPr algn="l"/>
            <a:r>
              <a:rPr sz="1000" b="1" i="0">
                <a:solidFill>
                  <a:srgbClr val="0B1428"/>
                </a:solidFill>
                <a:latin typeface="Calibri"/>
              </a:rPr>
              <a:t>Executable code</a:t>
            </a:r>
          </a:p>
        </p:txBody>
      </p:sp>
      <p:sp>
        <p:nvSpPr>
          <p:cNvPr id="42" name="Rounded Rectangle 41"/>
          <p:cNvSpPr/>
          <p:nvPr/>
        </p:nvSpPr>
        <p:spPr>
          <a:xfrm>
            <a:off x="6461607" y="4608576"/>
            <a:ext cx="5044287" cy="301752"/>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461607" y="4608576"/>
            <a:ext cx="2123645" cy="301752"/>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26199" y="4608576"/>
            <a:ext cx="1794461" cy="301752"/>
          </a:xfrm>
          <a:prstGeom prst="rect">
            <a:avLst/>
          </a:prstGeom>
          <a:noFill/>
        </p:spPr>
        <p:txBody>
          <a:bodyPr wrap="square" lIns="73152" rIns="73152" tIns="36576" bIns="36576" anchor="ctr">
            <a:spAutoFit/>
          </a:bodyPr>
          <a:lstStyle/>
          <a:p>
            <a:pPr algn="l"/>
            <a:r>
              <a:rPr sz="1100" b="1" i="0">
                <a:solidFill>
                  <a:srgbClr val="FFFFFF"/>
                </a:solidFill>
                <a:latin typeface="Calibri"/>
              </a:rPr>
              <a:t>42.1 %</a:t>
            </a:r>
          </a:p>
        </p:txBody>
      </p:sp>
      <p:sp>
        <p:nvSpPr>
          <p:cNvPr id="45" name="Rounded Rectangle 44"/>
          <p:cNvSpPr/>
          <p:nvPr/>
        </p:nvSpPr>
        <p:spPr>
          <a:xfrm>
            <a:off x="457200" y="5257800"/>
            <a:ext cx="11277295" cy="8686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349240"/>
            <a:ext cx="10728655" cy="228600"/>
          </a:xfrm>
          <a:prstGeom prst="rect">
            <a:avLst/>
          </a:prstGeom>
          <a:noFill/>
        </p:spPr>
        <p:txBody>
          <a:bodyPr wrap="square" lIns="73152" rIns="73152" tIns="36576" bIns="36576" anchor="t">
            <a:spAutoFit/>
          </a:bodyPr>
          <a:lstStyle/>
          <a:p>
            <a:pPr algn="l"/>
            <a:r>
              <a:rPr sz="1000" b="1" i="0">
                <a:solidFill>
                  <a:srgbClr val="FCA311"/>
                </a:solidFill>
                <a:latin typeface="Calibri"/>
              </a:rPr>
              <a:t>TWO-TIER METRIC</a:t>
            </a:r>
          </a:p>
        </p:txBody>
      </p:sp>
      <p:sp>
        <p:nvSpPr>
          <p:cNvPr id="47" name="TextBox 46"/>
          <p:cNvSpPr txBox="1"/>
          <p:nvPr/>
        </p:nvSpPr>
        <p:spPr>
          <a:xfrm>
            <a:off x="731520" y="5586984"/>
            <a:ext cx="10728655" cy="457200"/>
          </a:xfrm>
          <a:prstGeom prst="rect">
            <a:avLst/>
          </a:prstGeom>
          <a:noFill/>
        </p:spPr>
        <p:txBody>
          <a:bodyPr wrap="square" lIns="73152" rIns="73152" tIns="36576" bIns="36576" anchor="t">
            <a:spAutoFit/>
          </a:bodyPr>
          <a:lstStyle/>
          <a:p>
            <a:pPr algn="l"/>
            <a:r>
              <a:rPr sz="1100" b="0" i="0">
                <a:solidFill>
                  <a:srgbClr val="FFFFFF"/>
                </a:solidFill>
                <a:latin typeface="Calibri"/>
              </a:rPr>
              <a:t>Auto-applicable = deployment reading.  Manual = decision-support reading.  Combined = 76 % fix-rate × 89.5 % semantic ≈ 68 %.  Stage 2 returns { code, language }; 18 of 297 calls returned no fix.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R4 · Usability: Latency Bands</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TextBox 7"/>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18 / 25</a:t>
            </a:r>
          </a:p>
        </p:txBody>
      </p:sp>
      <p:sp>
        <p:nvSpPr>
          <p:cNvPr id="9" name="Rounded Rectangle 8"/>
          <p:cNvSpPr/>
          <p:nvPr/>
        </p:nvSpPr>
        <p:spPr>
          <a:xfrm>
            <a:off x="11002975" y="228600"/>
            <a:ext cx="6400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02975" y="228600"/>
            <a:ext cx="6400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R4</a:t>
            </a:r>
          </a:p>
        </p:txBody>
      </p:sp>
      <p:pic>
        <p:nvPicPr>
          <p:cNvPr id="11" name="Picture 10" descr="chart_18_latency_bands.png"/>
          <p:cNvPicPr>
            <a:picLocks noChangeAspect="1"/>
          </p:cNvPicPr>
          <p:nvPr/>
        </p:nvPicPr>
        <p:blipFill>
          <a:blip r:embed="rId2"/>
          <a:stretch>
            <a:fillRect/>
          </a:stretch>
        </p:blipFill>
        <p:spPr>
          <a:xfrm>
            <a:off x="457200" y="1783080"/>
            <a:ext cx="6991922" cy="4480560"/>
          </a:xfrm>
          <a:prstGeom prst="rect">
            <a:avLst/>
          </a:prstGeom>
        </p:spPr>
      </p:pic>
      <p:sp>
        <p:nvSpPr>
          <p:cNvPr id="12" name="Rounded Rectangle 11"/>
          <p:cNvSpPr/>
          <p:nvPr/>
        </p:nvSpPr>
        <p:spPr>
          <a:xfrm>
            <a:off x="7632002" y="1783080"/>
            <a:ext cx="4102492" cy="131064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2002" y="1783080"/>
            <a:ext cx="91440" cy="1310640"/>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bolt-navy.png"/>
          <p:cNvPicPr>
            <a:picLocks noChangeAspect="1"/>
          </p:cNvPicPr>
          <p:nvPr/>
        </p:nvPicPr>
        <p:blipFill>
          <a:blip r:embed="rId3"/>
          <a:stretch>
            <a:fillRect/>
          </a:stretch>
        </p:blipFill>
        <p:spPr>
          <a:xfrm>
            <a:off x="7833170" y="1892808"/>
            <a:ext cx="274320" cy="274320"/>
          </a:xfrm>
          <a:prstGeom prst="rect">
            <a:avLst/>
          </a:prstGeom>
        </p:spPr>
      </p:pic>
      <p:sp>
        <p:nvSpPr>
          <p:cNvPr id="15" name="TextBox 14"/>
          <p:cNvSpPr txBox="1"/>
          <p:nvPr/>
        </p:nvSpPr>
        <p:spPr>
          <a:xfrm>
            <a:off x="8180642" y="1874520"/>
            <a:ext cx="3462412" cy="365760"/>
          </a:xfrm>
          <a:prstGeom prst="rect">
            <a:avLst/>
          </a:prstGeom>
          <a:noFill/>
        </p:spPr>
        <p:txBody>
          <a:bodyPr wrap="square" lIns="73152" rIns="73152" tIns="36576" bIns="36576" anchor="t">
            <a:spAutoFit/>
          </a:bodyPr>
          <a:lstStyle/>
          <a:p>
            <a:pPr algn="l"/>
            <a:r>
              <a:rPr sz="1200" b="1" i="0">
                <a:solidFill>
                  <a:srgbClr val="0B1428"/>
                </a:solidFill>
                <a:latin typeface="Calibri"/>
              </a:rPr>
              <a:t>Real-time  ≤ 500 ms</a:t>
            </a:r>
          </a:p>
        </p:txBody>
      </p:sp>
      <p:sp>
        <p:nvSpPr>
          <p:cNvPr id="16" name="TextBox 15"/>
          <p:cNvSpPr txBox="1"/>
          <p:nvPr/>
        </p:nvSpPr>
        <p:spPr>
          <a:xfrm>
            <a:off x="7814882" y="2194560"/>
            <a:ext cx="3828172" cy="853440"/>
          </a:xfrm>
          <a:prstGeom prst="rect">
            <a:avLst/>
          </a:prstGeom>
          <a:noFill/>
        </p:spPr>
        <p:txBody>
          <a:bodyPr wrap="square" lIns="73152" rIns="73152" tIns="36576" bIns="36576" anchor="t">
            <a:spAutoFit/>
          </a:bodyPr>
          <a:lstStyle/>
          <a:p>
            <a:pPr algn="l"/>
            <a:r>
              <a:rPr sz="1100" b="0" i="0">
                <a:solidFill>
                  <a:srgbClr val="1A1F36"/>
                </a:solidFill>
                <a:latin typeface="Calibri"/>
              </a:rPr>
              <a:t>SAST baselines only</a:t>
            </a:r>
          </a:p>
        </p:txBody>
      </p:sp>
      <p:sp>
        <p:nvSpPr>
          <p:cNvPr id="17" name="Rounded Rectangle 16"/>
          <p:cNvSpPr/>
          <p:nvPr/>
        </p:nvSpPr>
        <p:spPr>
          <a:xfrm>
            <a:off x="7632002" y="3276600"/>
            <a:ext cx="4102492" cy="131064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32002" y="3276600"/>
            <a:ext cx="91440" cy="1310640"/>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ouse-navy.png"/>
          <p:cNvPicPr>
            <a:picLocks noChangeAspect="1"/>
          </p:cNvPicPr>
          <p:nvPr/>
        </p:nvPicPr>
        <p:blipFill>
          <a:blip r:embed="rId4"/>
          <a:stretch>
            <a:fillRect/>
          </a:stretch>
        </p:blipFill>
        <p:spPr>
          <a:xfrm>
            <a:off x="7833170" y="3386328"/>
            <a:ext cx="274320" cy="274320"/>
          </a:xfrm>
          <a:prstGeom prst="rect">
            <a:avLst/>
          </a:prstGeom>
        </p:spPr>
      </p:pic>
      <p:sp>
        <p:nvSpPr>
          <p:cNvPr id="20" name="TextBox 19"/>
          <p:cNvSpPr txBox="1"/>
          <p:nvPr/>
        </p:nvSpPr>
        <p:spPr>
          <a:xfrm>
            <a:off x="8180642" y="3368040"/>
            <a:ext cx="3462412" cy="365760"/>
          </a:xfrm>
          <a:prstGeom prst="rect">
            <a:avLst/>
          </a:prstGeom>
          <a:noFill/>
        </p:spPr>
        <p:txBody>
          <a:bodyPr wrap="square" lIns="73152" rIns="73152" tIns="36576" bIns="36576" anchor="t">
            <a:spAutoFit/>
          </a:bodyPr>
          <a:lstStyle/>
          <a:p>
            <a:pPr algn="l"/>
            <a:r>
              <a:rPr sz="1200" b="1" i="0">
                <a:solidFill>
                  <a:srgbClr val="0B1428"/>
                </a:solidFill>
                <a:latin typeface="Calibri"/>
              </a:rPr>
              <a:t>Interactive  ≤ 1.5 s</a:t>
            </a:r>
          </a:p>
        </p:txBody>
      </p:sp>
      <p:sp>
        <p:nvSpPr>
          <p:cNvPr id="21" name="TextBox 20"/>
          <p:cNvSpPr txBox="1"/>
          <p:nvPr/>
        </p:nvSpPr>
        <p:spPr>
          <a:xfrm>
            <a:off x="7814882" y="3688080"/>
            <a:ext cx="3828172" cy="853440"/>
          </a:xfrm>
          <a:prstGeom prst="rect">
            <a:avLst/>
          </a:prstGeom>
          <a:noFill/>
        </p:spPr>
        <p:txBody>
          <a:bodyPr wrap="square" lIns="73152" rIns="73152" tIns="36576" bIns="36576" anchor="t">
            <a:spAutoFit/>
          </a:bodyPr>
          <a:lstStyle/>
          <a:p>
            <a:pPr algn="l"/>
            <a:r>
              <a:rPr sz="1100" b="0" i="0">
                <a:solidFill>
                  <a:srgbClr val="1A1F36"/>
                </a:solidFill>
                <a:latin typeface="Calibri"/>
              </a:rPr>
              <a:t>gemma3:1b + RAG  (1,019 ms)</a:t>
            </a:r>
          </a:p>
          <a:p>
            <a:pPr algn="l"/>
            <a:r>
              <a:rPr sz="1100" b="0" i="0">
                <a:solidFill>
                  <a:srgbClr val="1A1F36"/>
                </a:solidFill>
                <a:latin typeface="Calibri"/>
              </a:rPr>
              <a:t>qwen3:4b  (1,328 ms)</a:t>
            </a:r>
          </a:p>
        </p:txBody>
      </p:sp>
      <p:sp>
        <p:nvSpPr>
          <p:cNvPr id="22" name="Rounded Rectangle 21"/>
          <p:cNvSpPr/>
          <p:nvPr/>
        </p:nvSpPr>
        <p:spPr>
          <a:xfrm>
            <a:off x="7632002" y="4770120"/>
            <a:ext cx="4102492" cy="131064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632002" y="4770120"/>
            <a:ext cx="91440" cy="13106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ip-navy.png"/>
          <p:cNvPicPr>
            <a:picLocks noChangeAspect="1"/>
          </p:cNvPicPr>
          <p:nvPr/>
        </p:nvPicPr>
        <p:blipFill>
          <a:blip r:embed="rId5"/>
          <a:stretch>
            <a:fillRect/>
          </a:stretch>
        </p:blipFill>
        <p:spPr>
          <a:xfrm>
            <a:off x="7833170" y="4879848"/>
            <a:ext cx="274320" cy="274320"/>
          </a:xfrm>
          <a:prstGeom prst="rect">
            <a:avLst/>
          </a:prstGeom>
        </p:spPr>
      </p:pic>
      <p:sp>
        <p:nvSpPr>
          <p:cNvPr id="25" name="TextBox 24"/>
          <p:cNvSpPr txBox="1"/>
          <p:nvPr/>
        </p:nvSpPr>
        <p:spPr>
          <a:xfrm>
            <a:off x="8180642" y="4861560"/>
            <a:ext cx="3462412" cy="365760"/>
          </a:xfrm>
          <a:prstGeom prst="rect">
            <a:avLst/>
          </a:prstGeom>
          <a:noFill/>
        </p:spPr>
        <p:txBody>
          <a:bodyPr wrap="square" lIns="73152" rIns="73152" tIns="36576" bIns="36576" anchor="t">
            <a:spAutoFit/>
          </a:bodyPr>
          <a:lstStyle/>
          <a:p>
            <a:pPr algn="l"/>
            <a:r>
              <a:rPr sz="1200" b="1" i="0">
                <a:solidFill>
                  <a:srgbClr val="0B1428"/>
                </a:solidFill>
                <a:latin typeface="Calibri"/>
              </a:rPr>
              <a:t>On-demand  ≤ 5 s</a:t>
            </a:r>
          </a:p>
        </p:txBody>
      </p:sp>
      <p:sp>
        <p:nvSpPr>
          <p:cNvPr id="26" name="TextBox 25"/>
          <p:cNvSpPr txBox="1"/>
          <p:nvPr/>
        </p:nvSpPr>
        <p:spPr>
          <a:xfrm>
            <a:off x="7814882" y="5181600"/>
            <a:ext cx="3828172" cy="853440"/>
          </a:xfrm>
          <a:prstGeom prst="rect">
            <a:avLst/>
          </a:prstGeom>
          <a:noFill/>
        </p:spPr>
        <p:txBody>
          <a:bodyPr wrap="square" lIns="73152" rIns="73152" tIns="36576" bIns="36576" anchor="t">
            <a:spAutoFit/>
          </a:bodyPr>
          <a:lstStyle/>
          <a:p>
            <a:pPr algn="l"/>
            <a:r>
              <a:rPr sz="1100" b="0" i="0">
                <a:solidFill>
                  <a:srgbClr val="1A1F36"/>
                </a:solidFill>
                <a:latin typeface="Calibri"/>
              </a:rPr>
              <a:t>qwen3:8b + RAG  (2,216 ms)  ←  headline</a:t>
            </a:r>
          </a:p>
          <a:p>
            <a:pPr algn="l"/>
            <a:r>
              <a:rPr sz="1100" b="0" i="0">
                <a:solidFill>
                  <a:srgbClr val="1A1F36"/>
                </a:solidFill>
                <a:latin typeface="Calibri"/>
              </a:rPr>
              <a:t>p95 = 4,327 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R5 · Privacy: Empirically Verified</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TextBox 7"/>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19 / 25</a:t>
            </a:r>
          </a:p>
        </p:txBody>
      </p:sp>
      <p:sp>
        <p:nvSpPr>
          <p:cNvPr id="9" name="Rounded Rectangle 8"/>
          <p:cNvSpPr/>
          <p:nvPr/>
        </p:nvSpPr>
        <p:spPr>
          <a:xfrm>
            <a:off x="11002975" y="228600"/>
            <a:ext cx="6400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02975" y="228600"/>
            <a:ext cx="6400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R5</a:t>
            </a:r>
          </a:p>
        </p:txBody>
      </p:sp>
      <p:sp>
        <p:nvSpPr>
          <p:cNvPr id="11" name="Rounded Rectangle 10"/>
          <p:cNvSpPr/>
          <p:nvPr/>
        </p:nvSpPr>
        <p:spPr>
          <a:xfrm>
            <a:off x="457200" y="1783080"/>
            <a:ext cx="5501487" cy="1874520"/>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1856232"/>
            <a:ext cx="5501487" cy="18013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navy.png"/>
          <p:cNvPicPr>
            <a:picLocks noChangeAspect="1"/>
          </p:cNvPicPr>
          <p:nvPr/>
        </p:nvPicPr>
        <p:blipFill>
          <a:blip r:embed="rId2"/>
          <a:stretch>
            <a:fillRect/>
          </a:stretch>
        </p:blipFill>
        <p:spPr>
          <a:xfrm>
            <a:off x="658368" y="2002536"/>
            <a:ext cx="310896" cy="310896"/>
          </a:xfrm>
          <a:prstGeom prst="rect">
            <a:avLst/>
          </a:prstGeom>
        </p:spPr>
      </p:pic>
      <p:sp>
        <p:nvSpPr>
          <p:cNvPr id="14" name="TextBox 13"/>
          <p:cNvSpPr txBox="1"/>
          <p:nvPr/>
        </p:nvSpPr>
        <p:spPr>
          <a:xfrm>
            <a:off x="1234440" y="1984248"/>
            <a:ext cx="4541367" cy="365760"/>
          </a:xfrm>
          <a:prstGeom prst="rect">
            <a:avLst/>
          </a:prstGeom>
          <a:noFill/>
        </p:spPr>
        <p:txBody>
          <a:bodyPr wrap="square" lIns="73152" rIns="73152" tIns="36576" bIns="36576" anchor="t">
            <a:spAutoFit/>
          </a:bodyPr>
          <a:lstStyle/>
          <a:p>
            <a:pPr algn="l"/>
            <a:r>
              <a:rPr sz="1400" b="1" i="0">
                <a:solidFill>
                  <a:srgbClr val="0B1428"/>
                </a:solidFill>
                <a:latin typeface="Calibri"/>
              </a:rPr>
              <a:t>Network Isolation</a:t>
            </a:r>
          </a:p>
        </p:txBody>
      </p:sp>
      <p:sp>
        <p:nvSpPr>
          <p:cNvPr id="15" name="TextBox 14"/>
          <p:cNvSpPr txBox="1"/>
          <p:nvPr/>
        </p:nvSpPr>
        <p:spPr>
          <a:xfrm>
            <a:off x="658368" y="2441448"/>
            <a:ext cx="5090007" cy="667512"/>
          </a:xfrm>
          <a:prstGeom prst="rect">
            <a:avLst/>
          </a:prstGeom>
          <a:noFill/>
        </p:spPr>
        <p:txBody>
          <a:bodyPr wrap="square" lIns="73152" rIns="73152" tIns="36576" bIns="36576" anchor="t">
            <a:spAutoFit/>
          </a:bodyPr>
          <a:lstStyle/>
          <a:p>
            <a:pPr algn="l"/>
            <a:r>
              <a:rPr sz="1100" b="0" i="0">
                <a:solidFill>
                  <a:srgbClr val="1A1F36"/>
                </a:solidFill>
                <a:latin typeface="Calibri"/>
              </a:rPr>
              <a:t>Loopback-only by network policy. Source-leak</a:t>
            </a:r>
          </a:p>
          <a:p>
            <a:pPr algn="l"/>
            <a:r>
              <a:rPr sz="1100" b="0" i="0">
                <a:solidFill>
                  <a:srgbClr val="1A1F36"/>
                </a:solidFill>
                <a:latin typeface="Calibri"/>
              </a:rPr>
              <a:t>scan: 0 non-loopback refs in 9,488 code windows.</a:t>
            </a:r>
          </a:p>
        </p:txBody>
      </p:sp>
      <p:sp>
        <p:nvSpPr>
          <p:cNvPr id="16" name="Rounded Rectangle 15"/>
          <p:cNvSpPr/>
          <p:nvPr/>
        </p:nvSpPr>
        <p:spPr>
          <a:xfrm>
            <a:off x="658368" y="3154680"/>
            <a:ext cx="5090007" cy="384048"/>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368" y="3154680"/>
            <a:ext cx="5090007" cy="384048"/>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154680"/>
            <a:ext cx="4760823" cy="384048"/>
          </a:xfrm>
          <a:prstGeom prst="rect">
            <a:avLst/>
          </a:prstGeom>
          <a:noFill/>
        </p:spPr>
        <p:txBody>
          <a:bodyPr wrap="square" lIns="73152" rIns="73152" tIns="36576" bIns="36576" anchor="ctr">
            <a:spAutoFit/>
          </a:bodyPr>
          <a:lstStyle/>
          <a:p>
            <a:pPr algn="l"/>
            <a:r>
              <a:rPr sz="1100" b="1" i="0">
                <a:solidFill>
                  <a:srgbClr val="FFFFFF"/>
                </a:solidFill>
                <a:latin typeface="Calibri"/>
              </a:rPr>
              <a:t>100 %  satisfied</a:t>
            </a:r>
          </a:p>
        </p:txBody>
      </p:sp>
      <p:sp>
        <p:nvSpPr>
          <p:cNvPr id="19" name="Rounded Rectangle 18"/>
          <p:cNvSpPr/>
          <p:nvPr/>
        </p:nvSpPr>
        <p:spPr>
          <a:xfrm>
            <a:off x="6233007" y="1783080"/>
            <a:ext cx="5501487" cy="1874520"/>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33007" y="1856232"/>
            <a:ext cx="5501487" cy="18013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ield-navy.png"/>
          <p:cNvPicPr>
            <a:picLocks noChangeAspect="1"/>
          </p:cNvPicPr>
          <p:nvPr/>
        </p:nvPicPr>
        <p:blipFill>
          <a:blip r:embed="rId3"/>
          <a:stretch>
            <a:fillRect/>
          </a:stretch>
        </p:blipFill>
        <p:spPr>
          <a:xfrm>
            <a:off x="6434175" y="2002536"/>
            <a:ext cx="310896" cy="310896"/>
          </a:xfrm>
          <a:prstGeom prst="rect">
            <a:avLst/>
          </a:prstGeom>
        </p:spPr>
      </p:pic>
      <p:sp>
        <p:nvSpPr>
          <p:cNvPr id="22" name="TextBox 21"/>
          <p:cNvSpPr txBox="1"/>
          <p:nvPr/>
        </p:nvSpPr>
        <p:spPr>
          <a:xfrm>
            <a:off x="7010247" y="1984248"/>
            <a:ext cx="4541367" cy="365760"/>
          </a:xfrm>
          <a:prstGeom prst="rect">
            <a:avLst/>
          </a:prstGeom>
          <a:noFill/>
        </p:spPr>
        <p:txBody>
          <a:bodyPr wrap="square" lIns="73152" rIns="73152" tIns="36576" bIns="36576" anchor="t">
            <a:spAutoFit/>
          </a:bodyPr>
          <a:lstStyle/>
          <a:p>
            <a:pPr algn="l"/>
            <a:r>
              <a:rPr sz="1400" b="1" i="0">
                <a:solidFill>
                  <a:srgbClr val="0B1428"/>
                </a:solidFill>
                <a:latin typeface="Calibri"/>
              </a:rPr>
              <a:t>Prompt-Injection Harness</a:t>
            </a:r>
          </a:p>
        </p:txBody>
      </p:sp>
      <p:sp>
        <p:nvSpPr>
          <p:cNvPr id="23" name="TextBox 22"/>
          <p:cNvSpPr txBox="1"/>
          <p:nvPr/>
        </p:nvSpPr>
        <p:spPr>
          <a:xfrm>
            <a:off x="6434175" y="2441448"/>
            <a:ext cx="5090007" cy="667512"/>
          </a:xfrm>
          <a:prstGeom prst="rect">
            <a:avLst/>
          </a:prstGeom>
          <a:noFill/>
        </p:spPr>
        <p:txBody>
          <a:bodyPr wrap="square" lIns="73152" rIns="73152" tIns="36576" bIns="36576" anchor="t">
            <a:spAutoFit/>
          </a:bodyPr>
          <a:lstStyle/>
          <a:p>
            <a:pPr algn="l"/>
            <a:r>
              <a:rPr sz="1100" b="0" i="0">
                <a:solidFill>
                  <a:srgbClr val="1A1F36"/>
                </a:solidFill>
                <a:latin typeface="Calibri"/>
              </a:rPr>
              <a:t>12 crafted exfiltration attempts: no code</a:t>
            </a:r>
          </a:p>
          <a:p>
            <a:pPr algn="l"/>
            <a:r>
              <a:rPr sz="1100" b="0" i="0">
                <a:solidFill>
                  <a:srgbClr val="1A1F36"/>
                </a:solidFill>
                <a:latin typeface="Calibri"/>
              </a:rPr>
              <a:t>echoed · schemaValidRate 83 % (10/12).</a:t>
            </a:r>
          </a:p>
        </p:txBody>
      </p:sp>
      <p:sp>
        <p:nvSpPr>
          <p:cNvPr id="24" name="Rounded Rectangle 23"/>
          <p:cNvSpPr/>
          <p:nvPr/>
        </p:nvSpPr>
        <p:spPr>
          <a:xfrm>
            <a:off x="6434175" y="3154680"/>
            <a:ext cx="5090007" cy="384048"/>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4175" y="3154680"/>
            <a:ext cx="5090007" cy="384048"/>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98767" y="3154680"/>
            <a:ext cx="4760823" cy="384048"/>
          </a:xfrm>
          <a:prstGeom prst="rect">
            <a:avLst/>
          </a:prstGeom>
          <a:noFill/>
        </p:spPr>
        <p:txBody>
          <a:bodyPr wrap="square" lIns="73152" rIns="73152" tIns="36576" bIns="36576" anchor="ctr">
            <a:spAutoFit/>
          </a:bodyPr>
          <a:lstStyle/>
          <a:p>
            <a:pPr algn="l"/>
            <a:r>
              <a:rPr sz="1100" b="1" i="0">
                <a:solidFill>
                  <a:srgbClr val="FFFFFF"/>
                </a:solidFill>
                <a:latin typeface="Calibri"/>
              </a:rPr>
              <a:t>100 %  leakFreeRate</a:t>
            </a:r>
          </a:p>
        </p:txBody>
      </p:sp>
      <p:sp>
        <p:nvSpPr>
          <p:cNvPr id="27" name="Rounded Rectangle 26"/>
          <p:cNvSpPr/>
          <p:nvPr/>
        </p:nvSpPr>
        <p:spPr>
          <a:xfrm>
            <a:off x="457200" y="3931920"/>
            <a:ext cx="5501487" cy="1874520"/>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57200" y="4005072"/>
            <a:ext cx="5501487" cy="18013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eal-navy.png"/>
          <p:cNvPicPr>
            <a:picLocks noChangeAspect="1"/>
          </p:cNvPicPr>
          <p:nvPr/>
        </p:nvPicPr>
        <p:blipFill>
          <a:blip r:embed="rId4"/>
          <a:stretch>
            <a:fillRect/>
          </a:stretch>
        </p:blipFill>
        <p:spPr>
          <a:xfrm>
            <a:off x="658368" y="4151376"/>
            <a:ext cx="310896" cy="310896"/>
          </a:xfrm>
          <a:prstGeom prst="rect">
            <a:avLst/>
          </a:prstGeom>
        </p:spPr>
      </p:pic>
      <p:sp>
        <p:nvSpPr>
          <p:cNvPr id="30" name="TextBox 29"/>
          <p:cNvSpPr txBox="1"/>
          <p:nvPr/>
        </p:nvSpPr>
        <p:spPr>
          <a:xfrm>
            <a:off x="1234440" y="4133088"/>
            <a:ext cx="4541367" cy="365760"/>
          </a:xfrm>
          <a:prstGeom prst="rect">
            <a:avLst/>
          </a:prstGeom>
          <a:noFill/>
        </p:spPr>
        <p:txBody>
          <a:bodyPr wrap="square" lIns="73152" rIns="73152" tIns="36576" bIns="36576" anchor="t">
            <a:spAutoFit/>
          </a:bodyPr>
          <a:lstStyle/>
          <a:p>
            <a:pPr algn="l"/>
            <a:r>
              <a:rPr sz="1400" b="1" i="0">
                <a:solidFill>
                  <a:srgbClr val="0B1428"/>
                </a:solidFill>
                <a:latin typeface="Calibri"/>
              </a:rPr>
              <a:t>Ed25519-Signed Corpus</a:t>
            </a:r>
          </a:p>
        </p:txBody>
      </p:sp>
      <p:sp>
        <p:nvSpPr>
          <p:cNvPr id="31" name="TextBox 30"/>
          <p:cNvSpPr txBox="1"/>
          <p:nvPr/>
        </p:nvSpPr>
        <p:spPr>
          <a:xfrm>
            <a:off x="658368" y="4590288"/>
            <a:ext cx="5090007" cy="667512"/>
          </a:xfrm>
          <a:prstGeom prst="rect">
            <a:avLst/>
          </a:prstGeom>
          <a:noFill/>
        </p:spPr>
        <p:txBody>
          <a:bodyPr wrap="square" lIns="73152" rIns="73152" tIns="36576" bIns="36576" anchor="t">
            <a:spAutoFit/>
          </a:bodyPr>
          <a:lstStyle/>
          <a:p>
            <a:pPr algn="l"/>
            <a:r>
              <a:rPr sz="1100" b="0" i="0">
                <a:solidFill>
                  <a:srgbClr val="1A1F36"/>
                </a:solidFill>
                <a:latin typeface="Calibri"/>
              </a:rPr>
              <a:t>RAG corpus provenance verified at</a:t>
            </a:r>
          </a:p>
          <a:p>
            <a:pPr algn="l"/>
            <a:r>
              <a:rPr sz="1100" b="0" i="0">
                <a:solidFill>
                  <a:srgbClr val="1A1F36"/>
                </a:solidFill>
                <a:latin typeface="Calibri"/>
              </a:rPr>
              <a:t>load (manifest signature checked).</a:t>
            </a:r>
          </a:p>
        </p:txBody>
      </p:sp>
      <p:sp>
        <p:nvSpPr>
          <p:cNvPr id="32" name="Rounded Rectangle 31"/>
          <p:cNvSpPr/>
          <p:nvPr/>
        </p:nvSpPr>
        <p:spPr>
          <a:xfrm>
            <a:off x="658368" y="5303520"/>
            <a:ext cx="5090007" cy="384048"/>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5303520"/>
            <a:ext cx="5090007" cy="384048"/>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303520"/>
            <a:ext cx="4760823" cy="384048"/>
          </a:xfrm>
          <a:prstGeom prst="rect">
            <a:avLst/>
          </a:prstGeom>
          <a:noFill/>
        </p:spPr>
        <p:txBody>
          <a:bodyPr wrap="square" lIns="73152" rIns="73152" tIns="36576" bIns="36576" anchor="ctr">
            <a:spAutoFit/>
          </a:bodyPr>
          <a:lstStyle/>
          <a:p>
            <a:pPr algn="l"/>
            <a:r>
              <a:rPr sz="1100" b="1" i="0">
                <a:solidFill>
                  <a:srgbClr val="FFFFFF"/>
                </a:solidFill>
                <a:latin typeface="Calibri"/>
              </a:rPr>
              <a:t>Verified  ✓</a:t>
            </a:r>
          </a:p>
        </p:txBody>
      </p:sp>
      <p:sp>
        <p:nvSpPr>
          <p:cNvPr id="35" name="Rounded Rectangle 34"/>
          <p:cNvSpPr/>
          <p:nvPr/>
        </p:nvSpPr>
        <p:spPr>
          <a:xfrm>
            <a:off x="6233007" y="3931920"/>
            <a:ext cx="5501487" cy="1874520"/>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233007" y="4005072"/>
            <a:ext cx="5501487" cy="18013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ube-navy.png"/>
          <p:cNvPicPr>
            <a:picLocks noChangeAspect="1"/>
          </p:cNvPicPr>
          <p:nvPr/>
        </p:nvPicPr>
        <p:blipFill>
          <a:blip r:embed="rId5"/>
          <a:stretch>
            <a:fillRect/>
          </a:stretch>
        </p:blipFill>
        <p:spPr>
          <a:xfrm>
            <a:off x="6434175" y="4151376"/>
            <a:ext cx="310896" cy="310896"/>
          </a:xfrm>
          <a:prstGeom prst="rect">
            <a:avLst/>
          </a:prstGeom>
        </p:spPr>
      </p:pic>
      <p:sp>
        <p:nvSpPr>
          <p:cNvPr id="38" name="TextBox 37"/>
          <p:cNvSpPr txBox="1"/>
          <p:nvPr/>
        </p:nvSpPr>
        <p:spPr>
          <a:xfrm>
            <a:off x="7010247" y="4133088"/>
            <a:ext cx="4541367" cy="365760"/>
          </a:xfrm>
          <a:prstGeom prst="rect">
            <a:avLst/>
          </a:prstGeom>
          <a:noFill/>
        </p:spPr>
        <p:txBody>
          <a:bodyPr wrap="square" lIns="73152" rIns="73152" tIns="36576" bIns="36576" anchor="t">
            <a:spAutoFit/>
          </a:bodyPr>
          <a:lstStyle/>
          <a:p>
            <a:pPr algn="l"/>
            <a:r>
              <a:rPr sz="1400" b="1" i="0">
                <a:solidFill>
                  <a:srgbClr val="0B1428"/>
                </a:solidFill>
                <a:latin typeface="Calibri"/>
              </a:rPr>
              <a:t>Reproducible Build</a:t>
            </a:r>
          </a:p>
        </p:txBody>
      </p:sp>
      <p:sp>
        <p:nvSpPr>
          <p:cNvPr id="39" name="TextBox 38"/>
          <p:cNvSpPr txBox="1"/>
          <p:nvPr/>
        </p:nvSpPr>
        <p:spPr>
          <a:xfrm>
            <a:off x="6434175" y="4590288"/>
            <a:ext cx="5090007" cy="667512"/>
          </a:xfrm>
          <a:prstGeom prst="rect">
            <a:avLst/>
          </a:prstGeom>
          <a:noFill/>
        </p:spPr>
        <p:txBody>
          <a:bodyPr wrap="square" lIns="73152" rIns="73152" tIns="36576" bIns="36576" anchor="t">
            <a:spAutoFit/>
          </a:bodyPr>
          <a:lstStyle/>
          <a:p>
            <a:pPr algn="l"/>
            <a:r>
              <a:rPr sz="1100" b="0" i="0">
                <a:solidFill>
                  <a:srgbClr val="1A1F36"/>
                </a:solidFill>
                <a:latin typeface="Calibri"/>
              </a:rPr>
              <a:t>Node 20.19.0-alpine · npm ci · seed = 42</a:t>
            </a:r>
          </a:p>
          <a:p>
            <a:pPr algn="l"/>
            <a:r>
              <a:rPr sz="1100" b="0" i="0">
                <a:solidFill>
                  <a:srgbClr val="1A1F36"/>
                </a:solidFill>
                <a:latin typeface="Calibri"/>
              </a:rPr>
              <a:t>byte-identical runs.</a:t>
            </a:r>
          </a:p>
        </p:txBody>
      </p:sp>
      <p:sp>
        <p:nvSpPr>
          <p:cNvPr id="40" name="Rounded Rectangle 39"/>
          <p:cNvSpPr/>
          <p:nvPr/>
        </p:nvSpPr>
        <p:spPr>
          <a:xfrm>
            <a:off x="6434175" y="5303520"/>
            <a:ext cx="5090007" cy="384048"/>
          </a:xfrm>
          <a:prstGeom prst="roundRect">
            <a:avLst>
              <a:gd name="adj" fmla="val 6000"/>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434175" y="5303520"/>
            <a:ext cx="5090007" cy="384048"/>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98767" y="5303520"/>
            <a:ext cx="4760823" cy="384048"/>
          </a:xfrm>
          <a:prstGeom prst="rect">
            <a:avLst/>
          </a:prstGeom>
          <a:noFill/>
        </p:spPr>
        <p:txBody>
          <a:bodyPr wrap="square" lIns="73152" rIns="73152" tIns="36576" bIns="36576" anchor="ctr">
            <a:spAutoFit/>
          </a:bodyPr>
          <a:lstStyle/>
          <a:p>
            <a:pPr algn="l"/>
            <a:r>
              <a:rPr sz="1100" b="1" i="0">
                <a:solidFill>
                  <a:srgbClr val="FFFFFF"/>
                </a:solidFill>
                <a:latin typeface="Calibri"/>
              </a:rPr>
              <a:t>Reproducible  ✓</a:t>
            </a:r>
          </a:p>
        </p:txBody>
      </p:sp>
      <p:sp>
        <p:nvSpPr>
          <p:cNvPr id="43" name="Rounded Rectangle 42"/>
          <p:cNvSpPr/>
          <p:nvPr/>
        </p:nvSpPr>
        <p:spPr>
          <a:xfrm>
            <a:off x="457200" y="5852160"/>
            <a:ext cx="11277295" cy="5029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852160"/>
            <a:ext cx="10728655" cy="502920"/>
          </a:xfrm>
          <a:prstGeom prst="rect">
            <a:avLst/>
          </a:prstGeom>
          <a:noFill/>
        </p:spPr>
        <p:txBody>
          <a:bodyPr wrap="square" lIns="73152" rIns="73152" tIns="36576" bIns="36576" anchor="ctr">
            <a:spAutoFit/>
          </a:bodyPr>
          <a:lstStyle/>
          <a:p>
            <a:pPr algn="ctr"/>
            <a:r>
              <a:rPr sz="1100" b="0" i="0">
                <a:solidFill>
                  <a:srgbClr val="FFFFFF"/>
                </a:solidFill>
                <a:latin typeface="Calibri"/>
              </a:rPr>
              <a:t>Resource footprint:  harness 3 ms median CPU, under 100 MB RSS  ·  Ollama 6–8 GB RAM for 8B-q4.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What the Evaluation Showed</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20 / 25</a:t>
            </a:r>
          </a:p>
        </p:txBody>
      </p:sp>
      <p:sp>
        <p:nvSpPr>
          <p:cNvPr id="10" name="Rounded Rectangle 9"/>
          <p:cNvSpPr/>
          <p:nvPr/>
        </p:nvSpPr>
        <p:spPr>
          <a:xfrm>
            <a:off x="457200" y="1783080"/>
            <a:ext cx="5524347" cy="19659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856232"/>
            <a:ext cx="5524347" cy="18928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ophy-navy.png"/>
          <p:cNvPicPr>
            <a:picLocks noChangeAspect="1"/>
          </p:cNvPicPr>
          <p:nvPr/>
        </p:nvPicPr>
        <p:blipFill>
          <a:blip r:embed="rId2"/>
          <a:stretch>
            <a:fillRect/>
          </a:stretch>
        </p:blipFill>
        <p:spPr>
          <a:xfrm>
            <a:off x="658368" y="2048256"/>
            <a:ext cx="384048" cy="384048"/>
          </a:xfrm>
          <a:prstGeom prst="rect">
            <a:avLst/>
          </a:prstGeom>
        </p:spPr>
      </p:pic>
      <p:sp>
        <p:nvSpPr>
          <p:cNvPr id="13" name="TextBox 12"/>
          <p:cNvSpPr txBox="1"/>
          <p:nvPr/>
        </p:nvSpPr>
        <p:spPr>
          <a:xfrm>
            <a:off x="1188720" y="1965960"/>
            <a:ext cx="4591659" cy="548640"/>
          </a:xfrm>
          <a:prstGeom prst="rect">
            <a:avLst/>
          </a:prstGeom>
          <a:noFill/>
        </p:spPr>
        <p:txBody>
          <a:bodyPr wrap="square" lIns="73152" rIns="73152" tIns="36576" bIns="36576" anchor="ctr">
            <a:spAutoFit/>
          </a:bodyPr>
          <a:lstStyle/>
          <a:p>
            <a:pPr algn="l"/>
            <a:r>
              <a:rPr sz="1500" b="1" i="0">
                <a:solidFill>
                  <a:srgbClr val="0B1428"/>
                </a:solidFill>
                <a:latin typeface="Calibri"/>
              </a:rPr>
              <a:t>A local 8B model is enough  ·  RQ1</a:t>
            </a:r>
          </a:p>
        </p:txBody>
      </p:sp>
      <p:sp>
        <p:nvSpPr>
          <p:cNvPr id="14" name="TextBox 13"/>
          <p:cNvSpPr txBox="1"/>
          <p:nvPr/>
        </p:nvSpPr>
        <p:spPr>
          <a:xfrm>
            <a:off x="658368" y="2624328"/>
            <a:ext cx="5122011" cy="941832"/>
          </a:xfrm>
          <a:prstGeom prst="rect">
            <a:avLst/>
          </a:prstGeom>
          <a:noFill/>
        </p:spPr>
        <p:txBody>
          <a:bodyPr wrap="square" lIns="73152" rIns="73152" tIns="36576" bIns="36576" anchor="ctr">
            <a:spAutoFit/>
          </a:bodyPr>
          <a:lstStyle/>
          <a:p>
            <a:pPr algn="l"/>
            <a:r>
              <a:rPr sz="1200" b="0" i="0">
                <a:solidFill>
                  <a:srgbClr val="1A1F36"/>
                </a:solidFill>
                <a:latin typeface="Calibri"/>
              </a:rPr>
              <a:t>qwen3:8b + RAG reaches ~71 % F1 on JS/TS, well inside the on-demand latency band on a developer laptop. The privacy envelope holds without paying for it in quality.</a:t>
            </a:r>
          </a:p>
        </p:txBody>
      </p:sp>
      <p:sp>
        <p:nvSpPr>
          <p:cNvPr id="15" name="Rounded Rectangle 14"/>
          <p:cNvSpPr/>
          <p:nvPr/>
        </p:nvSpPr>
        <p:spPr>
          <a:xfrm>
            <a:off x="6210147" y="1783080"/>
            <a:ext cx="5524347" cy="19659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0147" y="1856232"/>
            <a:ext cx="5524347" cy="18928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navy.png"/>
          <p:cNvPicPr>
            <a:picLocks noChangeAspect="1"/>
          </p:cNvPicPr>
          <p:nvPr/>
        </p:nvPicPr>
        <p:blipFill>
          <a:blip r:embed="rId3"/>
          <a:stretch>
            <a:fillRect/>
          </a:stretch>
        </p:blipFill>
        <p:spPr>
          <a:xfrm>
            <a:off x="6411315" y="2048256"/>
            <a:ext cx="384048" cy="384048"/>
          </a:xfrm>
          <a:prstGeom prst="rect">
            <a:avLst/>
          </a:prstGeom>
        </p:spPr>
      </p:pic>
      <p:sp>
        <p:nvSpPr>
          <p:cNvPr id="18" name="TextBox 17"/>
          <p:cNvSpPr txBox="1"/>
          <p:nvPr/>
        </p:nvSpPr>
        <p:spPr>
          <a:xfrm>
            <a:off x="6941667" y="1965960"/>
            <a:ext cx="4591659" cy="548640"/>
          </a:xfrm>
          <a:prstGeom prst="rect">
            <a:avLst/>
          </a:prstGeom>
          <a:noFill/>
        </p:spPr>
        <p:txBody>
          <a:bodyPr wrap="square" lIns="73152" rIns="73152" tIns="36576" bIns="36576" anchor="ctr">
            <a:spAutoFit/>
          </a:bodyPr>
          <a:lstStyle/>
          <a:p>
            <a:pPr algn="l"/>
            <a:r>
              <a:rPr sz="1500" b="1" i="0">
                <a:solidFill>
                  <a:srgbClr val="0B1428"/>
                </a:solidFill>
                <a:latin typeface="Calibri"/>
              </a:rPr>
              <a:t>RAG is model-dependent  ·  RQ2</a:t>
            </a:r>
          </a:p>
        </p:txBody>
      </p:sp>
      <p:sp>
        <p:nvSpPr>
          <p:cNvPr id="19" name="TextBox 18"/>
          <p:cNvSpPr txBox="1"/>
          <p:nvPr/>
        </p:nvSpPr>
        <p:spPr>
          <a:xfrm>
            <a:off x="6411315" y="2624328"/>
            <a:ext cx="5122011" cy="941832"/>
          </a:xfrm>
          <a:prstGeom prst="rect">
            <a:avLst/>
          </a:prstGeom>
          <a:noFill/>
        </p:spPr>
        <p:txBody>
          <a:bodyPr wrap="square" lIns="73152" rIns="73152" tIns="36576" bIns="36576" anchor="ctr">
            <a:spAutoFit/>
          </a:bodyPr>
          <a:lstStyle/>
          <a:p>
            <a:pPr algn="l"/>
            <a:r>
              <a:rPr sz="1200" b="0" i="0">
                <a:solidFill>
                  <a:srgbClr val="1A1F36"/>
                </a:solidFill>
                <a:latin typeface="Calibri"/>
              </a:rPr>
              <a:t>The largest paired effect in the dataset is a RAG-induced degradation (codellama −29.89 F1). Treat retrieval as a per-model design choice, not a default.</a:t>
            </a:r>
          </a:p>
        </p:txBody>
      </p:sp>
      <p:sp>
        <p:nvSpPr>
          <p:cNvPr id="20" name="Rounded Rectangle 19"/>
          <p:cNvSpPr/>
          <p:nvPr/>
        </p:nvSpPr>
        <p:spPr>
          <a:xfrm>
            <a:off x="457200" y="3977640"/>
            <a:ext cx="5524347" cy="19659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 y="4050792"/>
            <a:ext cx="5524347" cy="18928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wrench-navy.png"/>
          <p:cNvPicPr>
            <a:picLocks noChangeAspect="1"/>
          </p:cNvPicPr>
          <p:nvPr/>
        </p:nvPicPr>
        <p:blipFill>
          <a:blip r:embed="rId4"/>
          <a:stretch>
            <a:fillRect/>
          </a:stretch>
        </p:blipFill>
        <p:spPr>
          <a:xfrm>
            <a:off x="658368" y="4242816"/>
            <a:ext cx="384048" cy="384048"/>
          </a:xfrm>
          <a:prstGeom prst="rect">
            <a:avLst/>
          </a:prstGeom>
        </p:spPr>
      </p:pic>
      <p:sp>
        <p:nvSpPr>
          <p:cNvPr id="23" name="TextBox 22"/>
          <p:cNvSpPr txBox="1"/>
          <p:nvPr/>
        </p:nvSpPr>
        <p:spPr>
          <a:xfrm>
            <a:off x="1188720" y="4160520"/>
            <a:ext cx="4591659" cy="548640"/>
          </a:xfrm>
          <a:prstGeom prst="rect">
            <a:avLst/>
          </a:prstGeom>
          <a:noFill/>
        </p:spPr>
        <p:txBody>
          <a:bodyPr wrap="square" lIns="73152" rIns="73152" tIns="36576" bIns="36576" anchor="ctr">
            <a:spAutoFit/>
          </a:bodyPr>
          <a:lstStyle/>
          <a:p>
            <a:pPr algn="l"/>
            <a:r>
              <a:rPr sz="1500" b="1" i="0">
                <a:solidFill>
                  <a:srgbClr val="0B1428"/>
                </a:solidFill>
                <a:latin typeface="Calibri"/>
              </a:rPr>
              <a:t>Repair is the real product gap</a:t>
            </a:r>
          </a:p>
        </p:txBody>
      </p:sp>
      <p:sp>
        <p:nvSpPr>
          <p:cNvPr id="24" name="TextBox 23"/>
          <p:cNvSpPr txBox="1"/>
          <p:nvPr/>
        </p:nvSpPr>
        <p:spPr>
          <a:xfrm>
            <a:off x="658368" y="4818888"/>
            <a:ext cx="5122011" cy="941832"/>
          </a:xfrm>
          <a:prstGeom prst="rect">
            <a:avLst/>
          </a:prstGeom>
          <a:noFill/>
        </p:spPr>
        <p:txBody>
          <a:bodyPr wrap="square" lIns="73152" rIns="73152" tIns="36576" bIns="36576" anchor="ctr">
            <a:spAutoFit/>
          </a:bodyPr>
          <a:lstStyle/>
          <a:p>
            <a:pPr algn="l"/>
            <a:r>
              <a:rPr sz="1200" b="0" i="0">
                <a:solidFill>
                  <a:srgbClr val="1A1F36"/>
                </a:solidFill>
                <a:latin typeface="Calibri"/>
              </a:rPr>
              <a:t>90 % auto-applicable means the developer can act, not just be warned. This is where SAST falls flat: they detect, they don't fix.</a:t>
            </a:r>
          </a:p>
        </p:txBody>
      </p:sp>
      <p:sp>
        <p:nvSpPr>
          <p:cNvPr id="25" name="Rounded Rectangle 24"/>
          <p:cNvSpPr/>
          <p:nvPr/>
        </p:nvSpPr>
        <p:spPr>
          <a:xfrm>
            <a:off x="6210147" y="3977640"/>
            <a:ext cx="5524347" cy="19659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10147" y="4050792"/>
            <a:ext cx="5524347" cy="189280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ock-navy.png"/>
          <p:cNvPicPr>
            <a:picLocks noChangeAspect="1"/>
          </p:cNvPicPr>
          <p:nvPr/>
        </p:nvPicPr>
        <p:blipFill>
          <a:blip r:embed="rId5"/>
          <a:stretch>
            <a:fillRect/>
          </a:stretch>
        </p:blipFill>
        <p:spPr>
          <a:xfrm>
            <a:off x="6411315" y="4242816"/>
            <a:ext cx="384048" cy="384048"/>
          </a:xfrm>
          <a:prstGeom prst="rect">
            <a:avLst/>
          </a:prstGeom>
        </p:spPr>
      </p:pic>
      <p:sp>
        <p:nvSpPr>
          <p:cNvPr id="28" name="TextBox 27"/>
          <p:cNvSpPr txBox="1"/>
          <p:nvPr/>
        </p:nvSpPr>
        <p:spPr>
          <a:xfrm>
            <a:off x="6941667" y="4160520"/>
            <a:ext cx="4591659" cy="548640"/>
          </a:xfrm>
          <a:prstGeom prst="rect">
            <a:avLst/>
          </a:prstGeom>
          <a:noFill/>
        </p:spPr>
        <p:txBody>
          <a:bodyPr wrap="square" lIns="73152" rIns="73152" tIns="36576" bIns="36576" anchor="ctr">
            <a:spAutoFit/>
          </a:bodyPr>
          <a:lstStyle/>
          <a:p>
            <a:pPr algn="l"/>
            <a:r>
              <a:rPr sz="1500" b="1" i="0">
                <a:solidFill>
                  <a:srgbClr val="0B1428"/>
                </a:solidFill>
                <a:latin typeface="Calibri"/>
              </a:rPr>
              <a:t>Privacy as a verifiable boundary</a:t>
            </a:r>
          </a:p>
        </p:txBody>
      </p:sp>
      <p:sp>
        <p:nvSpPr>
          <p:cNvPr id="29" name="TextBox 28"/>
          <p:cNvSpPr txBox="1"/>
          <p:nvPr/>
        </p:nvSpPr>
        <p:spPr>
          <a:xfrm>
            <a:off x="6411315" y="4818888"/>
            <a:ext cx="5122011" cy="941832"/>
          </a:xfrm>
          <a:prstGeom prst="rect">
            <a:avLst/>
          </a:prstGeom>
          <a:noFill/>
        </p:spPr>
        <p:txBody>
          <a:bodyPr wrap="square" lIns="73152" rIns="73152" tIns="36576" bIns="36576" anchor="ctr">
            <a:spAutoFit/>
          </a:bodyPr>
          <a:lstStyle/>
          <a:p>
            <a:pPr algn="l"/>
            <a:r>
              <a:rPr sz="1200" b="0" i="0">
                <a:solidFill>
                  <a:srgbClr val="1A1F36"/>
                </a:solidFill>
                <a:latin typeface="Calibri"/>
              </a:rPr>
              <a:t>Loopback + signed corpus + container pin makes privacy testable, not aspirational. leakFreeRate = 100 % isn't a slogan; it's a measurement.</a:t>
            </a:r>
          </a:p>
        </p:txBody>
      </p:sp>
      <p:sp>
        <p:nvSpPr>
          <p:cNvPr id="30" name="Rounded Rectangle 29"/>
          <p:cNvSpPr/>
          <p:nvPr/>
        </p:nvSpPr>
        <p:spPr>
          <a:xfrm>
            <a:off x="457200" y="6053328"/>
            <a:ext cx="11277295" cy="4572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6089904"/>
            <a:ext cx="10728655" cy="384048"/>
          </a:xfrm>
          <a:prstGeom prst="rect">
            <a:avLst/>
          </a:prstGeom>
          <a:noFill/>
        </p:spPr>
        <p:txBody>
          <a:bodyPr wrap="square" lIns="73152" rIns="73152" tIns="36576" bIns="36576" anchor="t">
            <a:spAutoFit/>
          </a:bodyPr>
          <a:lstStyle/>
          <a:p>
            <a:pPr algn="ctr"/>
            <a:r>
              <a:rPr sz="1100" b="1" i="0">
                <a:solidFill>
                  <a:srgbClr val="FFFFFF"/>
                </a:solidFill>
                <a:latin typeface="Calibri"/>
              </a:rPr>
              <a:t>RQ1  Yes: 71.43 % F1 under the privacy envelope     ·     RQ2  Yes, but per-model: RAG is not a default     ·     RQ3  Yes: 2.2 s median, inside the on-demand band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Code Guardian Closes the Gap</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21 / 25</a:t>
            </a:r>
          </a:p>
        </p:txBody>
      </p:sp>
      <p:sp>
        <p:nvSpPr>
          <p:cNvPr id="10" name="Rectangle 9"/>
          <p:cNvSpPr/>
          <p:nvPr/>
        </p:nvSpPr>
        <p:spPr>
          <a:xfrm>
            <a:off x="457200" y="1783080"/>
            <a:ext cx="2194560"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2194560"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Solution / Approach</a:t>
            </a:r>
          </a:p>
        </p:txBody>
      </p:sp>
      <p:sp>
        <p:nvSpPr>
          <p:cNvPr id="12" name="Rectangle 11"/>
          <p:cNvSpPr/>
          <p:nvPr/>
        </p:nvSpPr>
        <p:spPr>
          <a:xfrm>
            <a:off x="2651760" y="1783080"/>
            <a:ext cx="1185018"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1783080"/>
            <a:ext cx="1185018"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R1</a:t>
            </a:r>
          </a:p>
          <a:p>
            <a:pPr algn="ctr"/>
            <a:r>
              <a:rPr sz="1000" b="1" i="0">
                <a:solidFill>
                  <a:srgbClr val="FFFFFF"/>
                </a:solidFill>
                <a:latin typeface="Calibri"/>
              </a:rPr>
              <a:t>ACCURACY</a:t>
            </a:r>
          </a:p>
        </p:txBody>
      </p:sp>
      <p:sp>
        <p:nvSpPr>
          <p:cNvPr id="14" name="Rectangle 13"/>
          <p:cNvSpPr/>
          <p:nvPr/>
        </p:nvSpPr>
        <p:spPr>
          <a:xfrm>
            <a:off x="3836778" y="1783080"/>
            <a:ext cx="1185018"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36778" y="1783080"/>
            <a:ext cx="1185018"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R2</a:t>
            </a:r>
          </a:p>
          <a:p>
            <a:pPr algn="ctr"/>
            <a:r>
              <a:rPr sz="1000" b="1" i="0">
                <a:solidFill>
                  <a:srgbClr val="FFFFFF"/>
                </a:solidFill>
                <a:latin typeface="Calibri"/>
              </a:rPr>
              <a:t>CONSISTENCY</a:t>
            </a:r>
          </a:p>
        </p:txBody>
      </p:sp>
      <p:sp>
        <p:nvSpPr>
          <p:cNvPr id="16" name="Rectangle 15"/>
          <p:cNvSpPr/>
          <p:nvPr/>
        </p:nvSpPr>
        <p:spPr>
          <a:xfrm>
            <a:off x="5021796" y="1783080"/>
            <a:ext cx="1185018"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1796" y="1783080"/>
            <a:ext cx="1185018"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R3</a:t>
            </a:r>
          </a:p>
          <a:p>
            <a:pPr algn="ctr"/>
            <a:r>
              <a:rPr sz="1000" b="1" i="0">
                <a:solidFill>
                  <a:srgbClr val="FFFFFF"/>
                </a:solidFill>
                <a:latin typeface="Calibri"/>
              </a:rPr>
              <a:t>REPAIR</a:t>
            </a:r>
          </a:p>
        </p:txBody>
      </p:sp>
      <p:sp>
        <p:nvSpPr>
          <p:cNvPr id="18" name="Rectangle 17"/>
          <p:cNvSpPr/>
          <p:nvPr/>
        </p:nvSpPr>
        <p:spPr>
          <a:xfrm>
            <a:off x="6206815" y="1783080"/>
            <a:ext cx="1185018"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06815" y="1783080"/>
            <a:ext cx="1185018"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R4</a:t>
            </a:r>
          </a:p>
          <a:p>
            <a:pPr algn="ctr"/>
            <a:r>
              <a:rPr sz="1000" b="1" i="0">
                <a:solidFill>
                  <a:srgbClr val="FFFFFF"/>
                </a:solidFill>
                <a:latin typeface="Calibri"/>
              </a:rPr>
              <a:t>USABILITY</a:t>
            </a:r>
          </a:p>
        </p:txBody>
      </p:sp>
      <p:sp>
        <p:nvSpPr>
          <p:cNvPr id="20" name="Rectangle 19"/>
          <p:cNvSpPr/>
          <p:nvPr/>
        </p:nvSpPr>
        <p:spPr>
          <a:xfrm>
            <a:off x="7391833" y="1783080"/>
            <a:ext cx="1185018" cy="658368"/>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91833" y="1783080"/>
            <a:ext cx="1185018" cy="658368"/>
          </a:xfrm>
          <a:prstGeom prst="rect">
            <a:avLst/>
          </a:prstGeom>
          <a:noFill/>
        </p:spPr>
        <p:txBody>
          <a:bodyPr wrap="square" lIns="73152" rIns="73152" tIns="36576" bIns="36576" anchor="ctr">
            <a:spAutoFit/>
          </a:bodyPr>
          <a:lstStyle/>
          <a:p>
            <a:pPr algn="ctr"/>
            <a:r>
              <a:rPr sz="1000" b="1" i="0">
                <a:solidFill>
                  <a:srgbClr val="FFFFFF"/>
                </a:solidFill>
                <a:latin typeface="Calibri"/>
              </a:rPr>
              <a:t>R5</a:t>
            </a:r>
          </a:p>
          <a:p>
            <a:pPr algn="ctr"/>
            <a:r>
              <a:rPr sz="1000" b="1" i="0">
                <a:solidFill>
                  <a:srgbClr val="FFFFFF"/>
                </a:solidFill>
                <a:latin typeface="Calibri"/>
              </a:rPr>
              <a:t>PRIVACY</a:t>
            </a:r>
          </a:p>
        </p:txBody>
      </p:sp>
      <p:sp>
        <p:nvSpPr>
          <p:cNvPr id="22" name="Rectangle 21"/>
          <p:cNvSpPr/>
          <p:nvPr/>
        </p:nvSpPr>
        <p:spPr>
          <a:xfrm>
            <a:off x="457200" y="2441448"/>
            <a:ext cx="2194560"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2441448"/>
            <a:ext cx="1920240" cy="588264"/>
          </a:xfrm>
          <a:prstGeom prst="rect">
            <a:avLst/>
          </a:prstGeom>
          <a:noFill/>
        </p:spPr>
        <p:txBody>
          <a:bodyPr wrap="square" lIns="73152" rIns="73152" tIns="36576" bIns="36576" anchor="ctr">
            <a:spAutoFit/>
          </a:bodyPr>
          <a:lstStyle/>
          <a:p>
            <a:pPr algn="l"/>
            <a:r>
              <a:rPr sz="1200" b="0" i="0">
                <a:solidFill>
                  <a:srgbClr val="0B1428"/>
                </a:solidFill>
                <a:latin typeface="Calibri"/>
              </a:rPr>
              <a:t>GitHub Copilot</a:t>
            </a:r>
          </a:p>
        </p:txBody>
      </p:sp>
      <p:sp>
        <p:nvSpPr>
          <p:cNvPr id="24" name="Rectangle 23"/>
          <p:cNvSpPr/>
          <p:nvPr/>
        </p:nvSpPr>
        <p:spPr>
          <a:xfrm>
            <a:off x="2651760" y="2441448"/>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t-check.png"/>
          <p:cNvPicPr>
            <a:picLocks noChangeAspect="1"/>
          </p:cNvPicPr>
          <p:nvPr/>
        </p:nvPicPr>
        <p:blipFill>
          <a:blip r:embed="rId2"/>
          <a:stretch>
            <a:fillRect/>
          </a:stretch>
        </p:blipFill>
        <p:spPr>
          <a:xfrm>
            <a:off x="3107109" y="2598420"/>
            <a:ext cx="274320" cy="274320"/>
          </a:xfrm>
          <a:prstGeom prst="rect">
            <a:avLst/>
          </a:prstGeom>
        </p:spPr>
      </p:pic>
      <p:sp>
        <p:nvSpPr>
          <p:cNvPr id="26" name="Rectangle 25"/>
          <p:cNvSpPr/>
          <p:nvPr/>
        </p:nvSpPr>
        <p:spPr>
          <a:xfrm>
            <a:off x="3836778" y="2441448"/>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t-check.png"/>
          <p:cNvPicPr>
            <a:picLocks noChangeAspect="1"/>
          </p:cNvPicPr>
          <p:nvPr/>
        </p:nvPicPr>
        <p:blipFill>
          <a:blip r:embed="rId2"/>
          <a:stretch>
            <a:fillRect/>
          </a:stretch>
        </p:blipFill>
        <p:spPr>
          <a:xfrm>
            <a:off x="4292127" y="2598420"/>
            <a:ext cx="274320" cy="274320"/>
          </a:xfrm>
          <a:prstGeom prst="rect">
            <a:avLst/>
          </a:prstGeom>
        </p:spPr>
      </p:pic>
      <p:sp>
        <p:nvSpPr>
          <p:cNvPr id="28" name="Rectangle 27"/>
          <p:cNvSpPr/>
          <p:nvPr/>
        </p:nvSpPr>
        <p:spPr>
          <a:xfrm>
            <a:off x="5021796" y="2441448"/>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t-check.png"/>
          <p:cNvPicPr>
            <a:picLocks noChangeAspect="1"/>
          </p:cNvPicPr>
          <p:nvPr/>
        </p:nvPicPr>
        <p:blipFill>
          <a:blip r:embed="rId2"/>
          <a:stretch>
            <a:fillRect/>
          </a:stretch>
        </p:blipFill>
        <p:spPr>
          <a:xfrm>
            <a:off x="5477146" y="2598420"/>
            <a:ext cx="274320" cy="274320"/>
          </a:xfrm>
          <a:prstGeom prst="rect">
            <a:avLst/>
          </a:prstGeom>
        </p:spPr>
      </p:pic>
      <p:sp>
        <p:nvSpPr>
          <p:cNvPr id="30" name="Rectangle 29"/>
          <p:cNvSpPr/>
          <p:nvPr/>
        </p:nvSpPr>
        <p:spPr>
          <a:xfrm>
            <a:off x="6206815" y="2441448"/>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t-partial.png"/>
          <p:cNvPicPr>
            <a:picLocks noChangeAspect="1"/>
          </p:cNvPicPr>
          <p:nvPr/>
        </p:nvPicPr>
        <p:blipFill>
          <a:blip r:embed="rId3"/>
          <a:stretch>
            <a:fillRect/>
          </a:stretch>
        </p:blipFill>
        <p:spPr>
          <a:xfrm>
            <a:off x="6662164" y="2598420"/>
            <a:ext cx="274320" cy="274320"/>
          </a:xfrm>
          <a:prstGeom prst="rect">
            <a:avLst/>
          </a:prstGeom>
        </p:spPr>
      </p:pic>
      <p:sp>
        <p:nvSpPr>
          <p:cNvPr id="32" name="Rectangle 31"/>
          <p:cNvSpPr/>
          <p:nvPr/>
        </p:nvSpPr>
        <p:spPr>
          <a:xfrm>
            <a:off x="7391833" y="2441448"/>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st-cross.png"/>
          <p:cNvPicPr>
            <a:picLocks noChangeAspect="1"/>
          </p:cNvPicPr>
          <p:nvPr/>
        </p:nvPicPr>
        <p:blipFill>
          <a:blip r:embed="rId4"/>
          <a:stretch>
            <a:fillRect/>
          </a:stretch>
        </p:blipFill>
        <p:spPr>
          <a:xfrm>
            <a:off x="7847183" y="2598420"/>
            <a:ext cx="274320" cy="274320"/>
          </a:xfrm>
          <a:prstGeom prst="rect">
            <a:avLst/>
          </a:prstGeom>
        </p:spPr>
      </p:pic>
      <p:sp>
        <p:nvSpPr>
          <p:cNvPr id="34" name="Rectangle 33"/>
          <p:cNvSpPr/>
          <p:nvPr/>
        </p:nvSpPr>
        <p:spPr>
          <a:xfrm>
            <a:off x="457200" y="3029712"/>
            <a:ext cx="2194560"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3029712"/>
            <a:ext cx="1920240" cy="588264"/>
          </a:xfrm>
          <a:prstGeom prst="rect">
            <a:avLst/>
          </a:prstGeom>
          <a:noFill/>
        </p:spPr>
        <p:txBody>
          <a:bodyPr wrap="square" lIns="73152" rIns="73152" tIns="36576" bIns="36576" anchor="ctr">
            <a:spAutoFit/>
          </a:bodyPr>
          <a:lstStyle/>
          <a:p>
            <a:pPr algn="l"/>
            <a:r>
              <a:rPr sz="1200" b="0" i="0">
                <a:solidFill>
                  <a:srgbClr val="0B1428"/>
                </a:solidFill>
                <a:latin typeface="Calibri"/>
              </a:rPr>
              <a:t>Semgrep</a:t>
            </a:r>
          </a:p>
        </p:txBody>
      </p:sp>
      <p:sp>
        <p:nvSpPr>
          <p:cNvPr id="36" name="Rectangle 35"/>
          <p:cNvSpPr/>
          <p:nvPr/>
        </p:nvSpPr>
        <p:spPr>
          <a:xfrm>
            <a:off x="2651760" y="3029712"/>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st-partial.png"/>
          <p:cNvPicPr>
            <a:picLocks noChangeAspect="1"/>
          </p:cNvPicPr>
          <p:nvPr/>
        </p:nvPicPr>
        <p:blipFill>
          <a:blip r:embed="rId3"/>
          <a:stretch>
            <a:fillRect/>
          </a:stretch>
        </p:blipFill>
        <p:spPr>
          <a:xfrm>
            <a:off x="3107109" y="3186684"/>
            <a:ext cx="274320" cy="274320"/>
          </a:xfrm>
          <a:prstGeom prst="rect">
            <a:avLst/>
          </a:prstGeom>
        </p:spPr>
      </p:pic>
      <p:sp>
        <p:nvSpPr>
          <p:cNvPr id="38" name="Rectangle 37"/>
          <p:cNvSpPr/>
          <p:nvPr/>
        </p:nvSpPr>
        <p:spPr>
          <a:xfrm>
            <a:off x="3836778" y="3029712"/>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t-check.png"/>
          <p:cNvPicPr>
            <a:picLocks noChangeAspect="1"/>
          </p:cNvPicPr>
          <p:nvPr/>
        </p:nvPicPr>
        <p:blipFill>
          <a:blip r:embed="rId2"/>
          <a:stretch>
            <a:fillRect/>
          </a:stretch>
        </p:blipFill>
        <p:spPr>
          <a:xfrm>
            <a:off x="4292127" y="3186684"/>
            <a:ext cx="274320" cy="274320"/>
          </a:xfrm>
          <a:prstGeom prst="rect">
            <a:avLst/>
          </a:prstGeom>
        </p:spPr>
      </p:pic>
      <p:sp>
        <p:nvSpPr>
          <p:cNvPr id="40" name="Rectangle 39"/>
          <p:cNvSpPr/>
          <p:nvPr/>
        </p:nvSpPr>
        <p:spPr>
          <a:xfrm>
            <a:off x="5021796" y="3029712"/>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st-cross.png"/>
          <p:cNvPicPr>
            <a:picLocks noChangeAspect="1"/>
          </p:cNvPicPr>
          <p:nvPr/>
        </p:nvPicPr>
        <p:blipFill>
          <a:blip r:embed="rId4"/>
          <a:stretch>
            <a:fillRect/>
          </a:stretch>
        </p:blipFill>
        <p:spPr>
          <a:xfrm>
            <a:off x="5477146" y="3186684"/>
            <a:ext cx="274320" cy="274320"/>
          </a:xfrm>
          <a:prstGeom prst="rect">
            <a:avLst/>
          </a:prstGeom>
        </p:spPr>
      </p:pic>
      <p:sp>
        <p:nvSpPr>
          <p:cNvPr id="42" name="Rectangle 41"/>
          <p:cNvSpPr/>
          <p:nvPr/>
        </p:nvSpPr>
        <p:spPr>
          <a:xfrm>
            <a:off x="6206815" y="3029712"/>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st-check.png"/>
          <p:cNvPicPr>
            <a:picLocks noChangeAspect="1"/>
          </p:cNvPicPr>
          <p:nvPr/>
        </p:nvPicPr>
        <p:blipFill>
          <a:blip r:embed="rId2"/>
          <a:stretch>
            <a:fillRect/>
          </a:stretch>
        </p:blipFill>
        <p:spPr>
          <a:xfrm>
            <a:off x="6662164" y="3186684"/>
            <a:ext cx="274320" cy="274320"/>
          </a:xfrm>
          <a:prstGeom prst="rect">
            <a:avLst/>
          </a:prstGeom>
        </p:spPr>
      </p:pic>
      <p:sp>
        <p:nvSpPr>
          <p:cNvPr id="44" name="Rectangle 43"/>
          <p:cNvSpPr/>
          <p:nvPr/>
        </p:nvSpPr>
        <p:spPr>
          <a:xfrm>
            <a:off x="7391833" y="3029712"/>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st-check.png"/>
          <p:cNvPicPr>
            <a:picLocks noChangeAspect="1"/>
          </p:cNvPicPr>
          <p:nvPr/>
        </p:nvPicPr>
        <p:blipFill>
          <a:blip r:embed="rId2"/>
          <a:stretch>
            <a:fillRect/>
          </a:stretch>
        </p:blipFill>
        <p:spPr>
          <a:xfrm>
            <a:off x="7847183" y="3186684"/>
            <a:ext cx="274320" cy="274320"/>
          </a:xfrm>
          <a:prstGeom prst="rect">
            <a:avLst/>
          </a:prstGeom>
        </p:spPr>
      </p:pic>
      <p:sp>
        <p:nvSpPr>
          <p:cNvPr id="46" name="Rectangle 45"/>
          <p:cNvSpPr/>
          <p:nvPr/>
        </p:nvSpPr>
        <p:spPr>
          <a:xfrm>
            <a:off x="457200" y="3617976"/>
            <a:ext cx="2194560"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3617976"/>
            <a:ext cx="1920240" cy="588264"/>
          </a:xfrm>
          <a:prstGeom prst="rect">
            <a:avLst/>
          </a:prstGeom>
          <a:noFill/>
        </p:spPr>
        <p:txBody>
          <a:bodyPr wrap="square" lIns="73152" rIns="73152" tIns="36576" bIns="36576" anchor="ctr">
            <a:spAutoFit/>
          </a:bodyPr>
          <a:lstStyle/>
          <a:p>
            <a:pPr algn="l"/>
            <a:r>
              <a:rPr sz="1200" b="0" i="0">
                <a:solidFill>
                  <a:srgbClr val="0B1428"/>
                </a:solidFill>
                <a:latin typeface="Calibri"/>
              </a:rPr>
              <a:t>CodeQL</a:t>
            </a:r>
          </a:p>
        </p:txBody>
      </p:sp>
      <p:sp>
        <p:nvSpPr>
          <p:cNvPr id="48" name="Rectangle 47"/>
          <p:cNvSpPr/>
          <p:nvPr/>
        </p:nvSpPr>
        <p:spPr>
          <a:xfrm>
            <a:off x="2651760" y="3617976"/>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t-partial.png"/>
          <p:cNvPicPr>
            <a:picLocks noChangeAspect="1"/>
          </p:cNvPicPr>
          <p:nvPr/>
        </p:nvPicPr>
        <p:blipFill>
          <a:blip r:embed="rId3"/>
          <a:stretch>
            <a:fillRect/>
          </a:stretch>
        </p:blipFill>
        <p:spPr>
          <a:xfrm>
            <a:off x="3107109" y="3774948"/>
            <a:ext cx="274320" cy="274320"/>
          </a:xfrm>
          <a:prstGeom prst="rect">
            <a:avLst/>
          </a:prstGeom>
        </p:spPr>
      </p:pic>
      <p:sp>
        <p:nvSpPr>
          <p:cNvPr id="50" name="Rectangle 49"/>
          <p:cNvSpPr/>
          <p:nvPr/>
        </p:nvSpPr>
        <p:spPr>
          <a:xfrm>
            <a:off x="3836778" y="3617976"/>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st-check.png"/>
          <p:cNvPicPr>
            <a:picLocks noChangeAspect="1"/>
          </p:cNvPicPr>
          <p:nvPr/>
        </p:nvPicPr>
        <p:blipFill>
          <a:blip r:embed="rId2"/>
          <a:stretch>
            <a:fillRect/>
          </a:stretch>
        </p:blipFill>
        <p:spPr>
          <a:xfrm>
            <a:off x="4292127" y="3774948"/>
            <a:ext cx="274320" cy="274320"/>
          </a:xfrm>
          <a:prstGeom prst="rect">
            <a:avLst/>
          </a:prstGeom>
        </p:spPr>
      </p:pic>
      <p:sp>
        <p:nvSpPr>
          <p:cNvPr id="52" name="Rectangle 51"/>
          <p:cNvSpPr/>
          <p:nvPr/>
        </p:nvSpPr>
        <p:spPr>
          <a:xfrm>
            <a:off x="5021796" y="3617976"/>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st-cross.png"/>
          <p:cNvPicPr>
            <a:picLocks noChangeAspect="1"/>
          </p:cNvPicPr>
          <p:nvPr/>
        </p:nvPicPr>
        <p:blipFill>
          <a:blip r:embed="rId4"/>
          <a:stretch>
            <a:fillRect/>
          </a:stretch>
        </p:blipFill>
        <p:spPr>
          <a:xfrm>
            <a:off x="5477146" y="3774948"/>
            <a:ext cx="274320" cy="274320"/>
          </a:xfrm>
          <a:prstGeom prst="rect">
            <a:avLst/>
          </a:prstGeom>
        </p:spPr>
      </p:pic>
      <p:sp>
        <p:nvSpPr>
          <p:cNvPr id="54" name="Rectangle 53"/>
          <p:cNvSpPr/>
          <p:nvPr/>
        </p:nvSpPr>
        <p:spPr>
          <a:xfrm>
            <a:off x="6206815" y="3617976"/>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st-partial.png"/>
          <p:cNvPicPr>
            <a:picLocks noChangeAspect="1"/>
          </p:cNvPicPr>
          <p:nvPr/>
        </p:nvPicPr>
        <p:blipFill>
          <a:blip r:embed="rId3"/>
          <a:stretch>
            <a:fillRect/>
          </a:stretch>
        </p:blipFill>
        <p:spPr>
          <a:xfrm>
            <a:off x="6662164" y="3774948"/>
            <a:ext cx="274320" cy="274320"/>
          </a:xfrm>
          <a:prstGeom prst="rect">
            <a:avLst/>
          </a:prstGeom>
        </p:spPr>
      </p:pic>
      <p:sp>
        <p:nvSpPr>
          <p:cNvPr id="56" name="Rectangle 55"/>
          <p:cNvSpPr/>
          <p:nvPr/>
        </p:nvSpPr>
        <p:spPr>
          <a:xfrm>
            <a:off x="7391833" y="3617976"/>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st-check.png"/>
          <p:cNvPicPr>
            <a:picLocks noChangeAspect="1"/>
          </p:cNvPicPr>
          <p:nvPr/>
        </p:nvPicPr>
        <p:blipFill>
          <a:blip r:embed="rId2"/>
          <a:stretch>
            <a:fillRect/>
          </a:stretch>
        </p:blipFill>
        <p:spPr>
          <a:xfrm>
            <a:off x="7847183" y="3774948"/>
            <a:ext cx="274320" cy="274320"/>
          </a:xfrm>
          <a:prstGeom prst="rect">
            <a:avLst/>
          </a:prstGeom>
        </p:spPr>
      </p:pic>
      <p:sp>
        <p:nvSpPr>
          <p:cNvPr id="58" name="Rectangle 57"/>
          <p:cNvSpPr/>
          <p:nvPr/>
        </p:nvSpPr>
        <p:spPr>
          <a:xfrm>
            <a:off x="457200" y="4206240"/>
            <a:ext cx="2194560"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4206240"/>
            <a:ext cx="1920240" cy="588264"/>
          </a:xfrm>
          <a:prstGeom prst="rect">
            <a:avLst/>
          </a:prstGeom>
          <a:noFill/>
        </p:spPr>
        <p:txBody>
          <a:bodyPr wrap="square" lIns="73152" rIns="73152" tIns="36576" bIns="36576" anchor="ctr">
            <a:spAutoFit/>
          </a:bodyPr>
          <a:lstStyle/>
          <a:p>
            <a:pPr algn="l"/>
            <a:r>
              <a:rPr sz="1200" b="0" i="0">
                <a:solidFill>
                  <a:srgbClr val="0B1428"/>
                </a:solidFill>
                <a:latin typeface="Calibri"/>
              </a:rPr>
              <a:t>IRIS (GPT-4)</a:t>
            </a:r>
          </a:p>
        </p:txBody>
      </p:sp>
      <p:sp>
        <p:nvSpPr>
          <p:cNvPr id="60" name="Rectangle 59"/>
          <p:cNvSpPr/>
          <p:nvPr/>
        </p:nvSpPr>
        <p:spPr>
          <a:xfrm>
            <a:off x="2651760" y="4206240"/>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st-partial.png"/>
          <p:cNvPicPr>
            <a:picLocks noChangeAspect="1"/>
          </p:cNvPicPr>
          <p:nvPr/>
        </p:nvPicPr>
        <p:blipFill>
          <a:blip r:embed="rId3"/>
          <a:stretch>
            <a:fillRect/>
          </a:stretch>
        </p:blipFill>
        <p:spPr>
          <a:xfrm>
            <a:off x="3107109" y="4363212"/>
            <a:ext cx="274320" cy="274320"/>
          </a:xfrm>
          <a:prstGeom prst="rect">
            <a:avLst/>
          </a:prstGeom>
        </p:spPr>
      </p:pic>
      <p:sp>
        <p:nvSpPr>
          <p:cNvPr id="62" name="Rectangle 61"/>
          <p:cNvSpPr/>
          <p:nvPr/>
        </p:nvSpPr>
        <p:spPr>
          <a:xfrm>
            <a:off x="3836778" y="4206240"/>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st-partial.png"/>
          <p:cNvPicPr>
            <a:picLocks noChangeAspect="1"/>
          </p:cNvPicPr>
          <p:nvPr/>
        </p:nvPicPr>
        <p:blipFill>
          <a:blip r:embed="rId3"/>
          <a:stretch>
            <a:fillRect/>
          </a:stretch>
        </p:blipFill>
        <p:spPr>
          <a:xfrm>
            <a:off x="4292127" y="4363212"/>
            <a:ext cx="274320" cy="274320"/>
          </a:xfrm>
          <a:prstGeom prst="rect">
            <a:avLst/>
          </a:prstGeom>
        </p:spPr>
      </p:pic>
      <p:sp>
        <p:nvSpPr>
          <p:cNvPr id="64" name="Rectangle 63"/>
          <p:cNvSpPr/>
          <p:nvPr/>
        </p:nvSpPr>
        <p:spPr>
          <a:xfrm>
            <a:off x="5021796" y="4206240"/>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5" name="Picture 64" descr="st-cross.png"/>
          <p:cNvPicPr>
            <a:picLocks noChangeAspect="1"/>
          </p:cNvPicPr>
          <p:nvPr/>
        </p:nvPicPr>
        <p:blipFill>
          <a:blip r:embed="rId4"/>
          <a:stretch>
            <a:fillRect/>
          </a:stretch>
        </p:blipFill>
        <p:spPr>
          <a:xfrm>
            <a:off x="5477146" y="4363212"/>
            <a:ext cx="274320" cy="274320"/>
          </a:xfrm>
          <a:prstGeom prst="rect">
            <a:avLst/>
          </a:prstGeom>
        </p:spPr>
      </p:pic>
      <p:sp>
        <p:nvSpPr>
          <p:cNvPr id="66" name="Rectangle 65"/>
          <p:cNvSpPr/>
          <p:nvPr/>
        </p:nvSpPr>
        <p:spPr>
          <a:xfrm>
            <a:off x="6206815" y="4206240"/>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st-cross.png"/>
          <p:cNvPicPr>
            <a:picLocks noChangeAspect="1"/>
          </p:cNvPicPr>
          <p:nvPr/>
        </p:nvPicPr>
        <p:blipFill>
          <a:blip r:embed="rId4"/>
          <a:stretch>
            <a:fillRect/>
          </a:stretch>
        </p:blipFill>
        <p:spPr>
          <a:xfrm>
            <a:off x="6662164" y="4363212"/>
            <a:ext cx="274320" cy="274320"/>
          </a:xfrm>
          <a:prstGeom prst="rect">
            <a:avLst/>
          </a:prstGeom>
        </p:spPr>
      </p:pic>
      <p:sp>
        <p:nvSpPr>
          <p:cNvPr id="68" name="Rectangle 67"/>
          <p:cNvSpPr/>
          <p:nvPr/>
        </p:nvSpPr>
        <p:spPr>
          <a:xfrm>
            <a:off x="7391833" y="4206240"/>
            <a:ext cx="1185018" cy="588264"/>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t-cross.png"/>
          <p:cNvPicPr>
            <a:picLocks noChangeAspect="1"/>
          </p:cNvPicPr>
          <p:nvPr/>
        </p:nvPicPr>
        <p:blipFill>
          <a:blip r:embed="rId4"/>
          <a:stretch>
            <a:fillRect/>
          </a:stretch>
        </p:blipFill>
        <p:spPr>
          <a:xfrm>
            <a:off x="7847183" y="4363212"/>
            <a:ext cx="274320" cy="274320"/>
          </a:xfrm>
          <a:prstGeom prst="rect">
            <a:avLst/>
          </a:prstGeom>
        </p:spPr>
      </p:pic>
      <p:sp>
        <p:nvSpPr>
          <p:cNvPr id="70" name="Rectangle 69"/>
          <p:cNvSpPr/>
          <p:nvPr/>
        </p:nvSpPr>
        <p:spPr>
          <a:xfrm>
            <a:off x="457200" y="4794504"/>
            <a:ext cx="2194560"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8368" y="4794504"/>
            <a:ext cx="1920240" cy="588264"/>
          </a:xfrm>
          <a:prstGeom prst="rect">
            <a:avLst/>
          </a:prstGeom>
          <a:noFill/>
        </p:spPr>
        <p:txBody>
          <a:bodyPr wrap="square" lIns="73152" rIns="73152" tIns="36576" bIns="36576" anchor="ctr">
            <a:spAutoFit/>
          </a:bodyPr>
          <a:lstStyle/>
          <a:p>
            <a:pPr algn="l"/>
            <a:r>
              <a:rPr sz="1200" b="0" i="0">
                <a:solidFill>
                  <a:srgbClr val="0B1428"/>
                </a:solidFill>
                <a:latin typeface="Calibri"/>
              </a:rPr>
              <a:t>SecRepair</a:t>
            </a:r>
          </a:p>
        </p:txBody>
      </p:sp>
      <p:sp>
        <p:nvSpPr>
          <p:cNvPr id="72" name="Rectangle 71"/>
          <p:cNvSpPr/>
          <p:nvPr/>
        </p:nvSpPr>
        <p:spPr>
          <a:xfrm>
            <a:off x="2651760" y="4794504"/>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st-partial.png"/>
          <p:cNvPicPr>
            <a:picLocks noChangeAspect="1"/>
          </p:cNvPicPr>
          <p:nvPr/>
        </p:nvPicPr>
        <p:blipFill>
          <a:blip r:embed="rId3"/>
          <a:stretch>
            <a:fillRect/>
          </a:stretch>
        </p:blipFill>
        <p:spPr>
          <a:xfrm>
            <a:off x="3107109" y="4951476"/>
            <a:ext cx="274320" cy="274320"/>
          </a:xfrm>
          <a:prstGeom prst="rect">
            <a:avLst/>
          </a:prstGeom>
        </p:spPr>
      </p:pic>
      <p:sp>
        <p:nvSpPr>
          <p:cNvPr id="74" name="Rectangle 73"/>
          <p:cNvSpPr/>
          <p:nvPr/>
        </p:nvSpPr>
        <p:spPr>
          <a:xfrm>
            <a:off x="3836778" y="4794504"/>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st-partial.png"/>
          <p:cNvPicPr>
            <a:picLocks noChangeAspect="1"/>
          </p:cNvPicPr>
          <p:nvPr/>
        </p:nvPicPr>
        <p:blipFill>
          <a:blip r:embed="rId3"/>
          <a:stretch>
            <a:fillRect/>
          </a:stretch>
        </p:blipFill>
        <p:spPr>
          <a:xfrm>
            <a:off x="4292127" y="4951476"/>
            <a:ext cx="274320" cy="274320"/>
          </a:xfrm>
          <a:prstGeom prst="rect">
            <a:avLst/>
          </a:prstGeom>
        </p:spPr>
      </p:pic>
      <p:sp>
        <p:nvSpPr>
          <p:cNvPr id="76" name="Rectangle 75"/>
          <p:cNvSpPr/>
          <p:nvPr/>
        </p:nvSpPr>
        <p:spPr>
          <a:xfrm>
            <a:off x="5021796" y="4794504"/>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st-partial.png"/>
          <p:cNvPicPr>
            <a:picLocks noChangeAspect="1"/>
          </p:cNvPicPr>
          <p:nvPr/>
        </p:nvPicPr>
        <p:blipFill>
          <a:blip r:embed="rId3"/>
          <a:stretch>
            <a:fillRect/>
          </a:stretch>
        </p:blipFill>
        <p:spPr>
          <a:xfrm>
            <a:off x="5477146" y="4951476"/>
            <a:ext cx="274320" cy="274320"/>
          </a:xfrm>
          <a:prstGeom prst="rect">
            <a:avLst/>
          </a:prstGeom>
        </p:spPr>
      </p:pic>
      <p:sp>
        <p:nvSpPr>
          <p:cNvPr id="78" name="Rectangle 77"/>
          <p:cNvSpPr/>
          <p:nvPr/>
        </p:nvSpPr>
        <p:spPr>
          <a:xfrm>
            <a:off x="6206815" y="4794504"/>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st-cross.png"/>
          <p:cNvPicPr>
            <a:picLocks noChangeAspect="1"/>
          </p:cNvPicPr>
          <p:nvPr/>
        </p:nvPicPr>
        <p:blipFill>
          <a:blip r:embed="rId4"/>
          <a:stretch>
            <a:fillRect/>
          </a:stretch>
        </p:blipFill>
        <p:spPr>
          <a:xfrm>
            <a:off x="6662164" y="4951476"/>
            <a:ext cx="274320" cy="274320"/>
          </a:xfrm>
          <a:prstGeom prst="rect">
            <a:avLst/>
          </a:prstGeom>
        </p:spPr>
      </p:pic>
      <p:sp>
        <p:nvSpPr>
          <p:cNvPr id="80" name="Rectangle 79"/>
          <p:cNvSpPr/>
          <p:nvPr/>
        </p:nvSpPr>
        <p:spPr>
          <a:xfrm>
            <a:off x="7391833" y="4794504"/>
            <a:ext cx="1185018" cy="588264"/>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st-partial.png"/>
          <p:cNvPicPr>
            <a:picLocks noChangeAspect="1"/>
          </p:cNvPicPr>
          <p:nvPr/>
        </p:nvPicPr>
        <p:blipFill>
          <a:blip r:embed="rId3"/>
          <a:stretch>
            <a:fillRect/>
          </a:stretch>
        </p:blipFill>
        <p:spPr>
          <a:xfrm>
            <a:off x="7847183" y="4951476"/>
            <a:ext cx="274320" cy="274320"/>
          </a:xfrm>
          <a:prstGeom prst="rect">
            <a:avLst/>
          </a:prstGeom>
        </p:spPr>
      </p:pic>
      <p:sp>
        <p:nvSpPr>
          <p:cNvPr id="82" name="Rectangle 81"/>
          <p:cNvSpPr/>
          <p:nvPr/>
        </p:nvSpPr>
        <p:spPr>
          <a:xfrm>
            <a:off x="457200" y="5382768"/>
            <a:ext cx="2194560"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57200" y="5382768"/>
            <a:ext cx="91440" cy="5882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8368" y="5382768"/>
            <a:ext cx="1920240" cy="588264"/>
          </a:xfrm>
          <a:prstGeom prst="rect">
            <a:avLst/>
          </a:prstGeom>
          <a:noFill/>
        </p:spPr>
        <p:txBody>
          <a:bodyPr wrap="square" lIns="73152" rIns="73152" tIns="36576" bIns="36576" anchor="ctr">
            <a:spAutoFit/>
          </a:bodyPr>
          <a:lstStyle/>
          <a:p>
            <a:pPr algn="l"/>
            <a:r>
              <a:rPr sz="1200" b="1" i="0">
                <a:solidFill>
                  <a:srgbClr val="0B1428"/>
                </a:solidFill>
                <a:latin typeface="Calibri"/>
              </a:rPr>
              <a:t>Code Guardian</a:t>
            </a:r>
          </a:p>
        </p:txBody>
      </p:sp>
      <p:sp>
        <p:nvSpPr>
          <p:cNvPr id="85" name="Rectangle 84"/>
          <p:cNvSpPr/>
          <p:nvPr/>
        </p:nvSpPr>
        <p:spPr>
          <a:xfrm>
            <a:off x="2651760" y="5382768"/>
            <a:ext cx="1185018"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st-partial.png"/>
          <p:cNvPicPr>
            <a:picLocks noChangeAspect="1"/>
          </p:cNvPicPr>
          <p:nvPr/>
        </p:nvPicPr>
        <p:blipFill>
          <a:blip r:embed="rId3"/>
          <a:stretch>
            <a:fillRect/>
          </a:stretch>
        </p:blipFill>
        <p:spPr>
          <a:xfrm>
            <a:off x="3107109" y="5539740"/>
            <a:ext cx="274320" cy="274320"/>
          </a:xfrm>
          <a:prstGeom prst="rect">
            <a:avLst/>
          </a:prstGeom>
        </p:spPr>
      </p:pic>
      <p:sp>
        <p:nvSpPr>
          <p:cNvPr id="87" name="Rectangle 86"/>
          <p:cNvSpPr/>
          <p:nvPr/>
        </p:nvSpPr>
        <p:spPr>
          <a:xfrm>
            <a:off x="3836778" y="5382768"/>
            <a:ext cx="1185018"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8" name="Picture 87" descr="st-check.png"/>
          <p:cNvPicPr>
            <a:picLocks noChangeAspect="1"/>
          </p:cNvPicPr>
          <p:nvPr/>
        </p:nvPicPr>
        <p:blipFill>
          <a:blip r:embed="rId2"/>
          <a:stretch>
            <a:fillRect/>
          </a:stretch>
        </p:blipFill>
        <p:spPr>
          <a:xfrm>
            <a:off x="4292127" y="5539740"/>
            <a:ext cx="274320" cy="274320"/>
          </a:xfrm>
          <a:prstGeom prst="rect">
            <a:avLst/>
          </a:prstGeom>
        </p:spPr>
      </p:pic>
      <p:sp>
        <p:nvSpPr>
          <p:cNvPr id="89" name="Rectangle 88"/>
          <p:cNvSpPr/>
          <p:nvPr/>
        </p:nvSpPr>
        <p:spPr>
          <a:xfrm>
            <a:off x="5021796" y="5382768"/>
            <a:ext cx="1185018"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st-check.png"/>
          <p:cNvPicPr>
            <a:picLocks noChangeAspect="1"/>
          </p:cNvPicPr>
          <p:nvPr/>
        </p:nvPicPr>
        <p:blipFill>
          <a:blip r:embed="rId2"/>
          <a:stretch>
            <a:fillRect/>
          </a:stretch>
        </p:blipFill>
        <p:spPr>
          <a:xfrm>
            <a:off x="5477146" y="5539740"/>
            <a:ext cx="274320" cy="274320"/>
          </a:xfrm>
          <a:prstGeom prst="rect">
            <a:avLst/>
          </a:prstGeom>
        </p:spPr>
      </p:pic>
      <p:sp>
        <p:nvSpPr>
          <p:cNvPr id="91" name="Rectangle 90"/>
          <p:cNvSpPr/>
          <p:nvPr/>
        </p:nvSpPr>
        <p:spPr>
          <a:xfrm>
            <a:off x="6206815" y="5382768"/>
            <a:ext cx="1185018"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check.png"/>
          <p:cNvPicPr>
            <a:picLocks noChangeAspect="1"/>
          </p:cNvPicPr>
          <p:nvPr/>
        </p:nvPicPr>
        <p:blipFill>
          <a:blip r:embed="rId2"/>
          <a:stretch>
            <a:fillRect/>
          </a:stretch>
        </p:blipFill>
        <p:spPr>
          <a:xfrm>
            <a:off x="6662164" y="5539740"/>
            <a:ext cx="274320" cy="274320"/>
          </a:xfrm>
          <a:prstGeom prst="rect">
            <a:avLst/>
          </a:prstGeom>
        </p:spPr>
      </p:pic>
      <p:sp>
        <p:nvSpPr>
          <p:cNvPr id="93" name="Rectangle 92"/>
          <p:cNvSpPr/>
          <p:nvPr/>
        </p:nvSpPr>
        <p:spPr>
          <a:xfrm>
            <a:off x="7391833" y="5382768"/>
            <a:ext cx="1185018" cy="588264"/>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4" name="Picture 93" descr="st-check.png"/>
          <p:cNvPicPr>
            <a:picLocks noChangeAspect="1"/>
          </p:cNvPicPr>
          <p:nvPr/>
        </p:nvPicPr>
        <p:blipFill>
          <a:blip r:embed="rId2"/>
          <a:stretch>
            <a:fillRect/>
          </a:stretch>
        </p:blipFill>
        <p:spPr>
          <a:xfrm>
            <a:off x="7847183" y="5539740"/>
            <a:ext cx="274320" cy="274320"/>
          </a:xfrm>
          <a:prstGeom prst="rect">
            <a:avLst/>
          </a:prstGeom>
        </p:spPr>
      </p:pic>
      <p:sp>
        <p:nvSpPr>
          <p:cNvPr id="95" name="TextBox 94"/>
          <p:cNvSpPr txBox="1"/>
          <p:nvPr/>
        </p:nvSpPr>
        <p:spPr>
          <a:xfrm>
            <a:off x="457200" y="6025896"/>
            <a:ext cx="8119652" cy="365760"/>
          </a:xfrm>
          <a:prstGeom prst="rect">
            <a:avLst/>
          </a:prstGeom>
          <a:noFill/>
        </p:spPr>
        <p:txBody>
          <a:bodyPr wrap="square" lIns="73152" rIns="73152" tIns="36576" bIns="36576" anchor="ctr">
            <a:spAutoFit/>
          </a:bodyPr>
          <a:lstStyle/>
          <a:p>
            <a:pPr algn="l"/>
            <a:r>
              <a:rPr sz="900" b="0" i="1">
                <a:solidFill>
                  <a:srgbClr val="5B657A"/>
                </a:solidFill>
                <a:latin typeface="Calibri"/>
              </a:rPr>
              <a:t>Green check = meets the pre-registered threshold; amber = Medium.   R1 is amber: F1 71 % lands in the Medium band, competitive but not High.</a:t>
            </a:r>
          </a:p>
        </p:txBody>
      </p:sp>
      <p:sp>
        <p:nvSpPr>
          <p:cNvPr id="96" name="Rounded Rectangle 95"/>
          <p:cNvSpPr/>
          <p:nvPr/>
        </p:nvSpPr>
        <p:spPr>
          <a:xfrm>
            <a:off x="8851172" y="1783080"/>
            <a:ext cx="2883322" cy="15544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034052" y="1911096"/>
            <a:ext cx="2517562" cy="274320"/>
          </a:xfrm>
          <a:prstGeom prst="rect">
            <a:avLst/>
          </a:prstGeom>
          <a:noFill/>
        </p:spPr>
        <p:txBody>
          <a:bodyPr wrap="square" lIns="73152" rIns="73152" tIns="36576" bIns="36576" anchor="t">
            <a:spAutoFit/>
          </a:bodyPr>
          <a:lstStyle/>
          <a:p>
            <a:pPr algn="l"/>
            <a:r>
              <a:rPr sz="1000" b="1" i="0">
                <a:solidFill>
                  <a:srgbClr val="FCA311"/>
                </a:solidFill>
                <a:latin typeface="Calibri"/>
              </a:rPr>
              <a:t>LEGEND</a:t>
            </a:r>
          </a:p>
        </p:txBody>
      </p:sp>
      <p:pic>
        <p:nvPicPr>
          <p:cNvPr id="98" name="Picture 97" descr="st-check.png"/>
          <p:cNvPicPr>
            <a:picLocks noChangeAspect="1"/>
          </p:cNvPicPr>
          <p:nvPr/>
        </p:nvPicPr>
        <p:blipFill>
          <a:blip r:embed="rId2"/>
          <a:stretch>
            <a:fillRect/>
          </a:stretch>
        </p:blipFill>
        <p:spPr>
          <a:xfrm>
            <a:off x="9034052" y="2286000"/>
            <a:ext cx="237744" cy="237744"/>
          </a:xfrm>
          <a:prstGeom prst="rect">
            <a:avLst/>
          </a:prstGeom>
        </p:spPr>
      </p:pic>
      <p:sp>
        <p:nvSpPr>
          <p:cNvPr id="99" name="TextBox 98"/>
          <p:cNvSpPr txBox="1"/>
          <p:nvPr/>
        </p:nvSpPr>
        <p:spPr>
          <a:xfrm>
            <a:off x="9381524" y="2258568"/>
            <a:ext cx="2151802" cy="292608"/>
          </a:xfrm>
          <a:prstGeom prst="rect">
            <a:avLst/>
          </a:prstGeom>
          <a:noFill/>
        </p:spPr>
        <p:txBody>
          <a:bodyPr wrap="square" lIns="73152" rIns="73152" tIns="36576" bIns="36576" anchor="ctr">
            <a:spAutoFit/>
          </a:bodyPr>
          <a:lstStyle/>
          <a:p>
            <a:pPr algn="l"/>
            <a:r>
              <a:rPr sz="1100" b="0" i="0">
                <a:solidFill>
                  <a:srgbClr val="1A1F36"/>
                </a:solidFill>
                <a:latin typeface="Calibri"/>
              </a:rPr>
              <a:t>High / Satisfied</a:t>
            </a:r>
          </a:p>
        </p:txBody>
      </p:sp>
      <p:pic>
        <p:nvPicPr>
          <p:cNvPr id="100" name="Picture 99" descr="st-partial.png"/>
          <p:cNvPicPr>
            <a:picLocks noChangeAspect="1"/>
          </p:cNvPicPr>
          <p:nvPr/>
        </p:nvPicPr>
        <p:blipFill>
          <a:blip r:embed="rId3"/>
          <a:stretch>
            <a:fillRect/>
          </a:stretch>
        </p:blipFill>
        <p:spPr>
          <a:xfrm>
            <a:off x="9034052" y="2633472"/>
            <a:ext cx="237744" cy="237744"/>
          </a:xfrm>
          <a:prstGeom prst="rect">
            <a:avLst/>
          </a:prstGeom>
        </p:spPr>
      </p:pic>
      <p:sp>
        <p:nvSpPr>
          <p:cNvPr id="101" name="TextBox 100"/>
          <p:cNvSpPr txBox="1"/>
          <p:nvPr/>
        </p:nvSpPr>
        <p:spPr>
          <a:xfrm>
            <a:off x="9381524" y="2606040"/>
            <a:ext cx="2151802" cy="292608"/>
          </a:xfrm>
          <a:prstGeom prst="rect">
            <a:avLst/>
          </a:prstGeom>
          <a:noFill/>
        </p:spPr>
        <p:txBody>
          <a:bodyPr wrap="square" lIns="73152" rIns="73152" tIns="36576" bIns="36576" anchor="ctr">
            <a:spAutoFit/>
          </a:bodyPr>
          <a:lstStyle/>
          <a:p>
            <a:pPr algn="l"/>
            <a:r>
              <a:rPr sz="1100" b="0" i="0">
                <a:solidFill>
                  <a:srgbClr val="1A1F36"/>
                </a:solidFill>
                <a:latin typeface="Calibri"/>
              </a:rPr>
              <a:t>Partial</a:t>
            </a:r>
          </a:p>
        </p:txBody>
      </p:sp>
      <p:pic>
        <p:nvPicPr>
          <p:cNvPr id="102" name="Picture 101" descr="st-cross.png"/>
          <p:cNvPicPr>
            <a:picLocks noChangeAspect="1"/>
          </p:cNvPicPr>
          <p:nvPr/>
        </p:nvPicPr>
        <p:blipFill>
          <a:blip r:embed="rId4"/>
          <a:stretch>
            <a:fillRect/>
          </a:stretch>
        </p:blipFill>
        <p:spPr>
          <a:xfrm>
            <a:off x="9034052" y="2980944"/>
            <a:ext cx="237744" cy="237744"/>
          </a:xfrm>
          <a:prstGeom prst="rect">
            <a:avLst/>
          </a:prstGeom>
        </p:spPr>
      </p:pic>
      <p:sp>
        <p:nvSpPr>
          <p:cNvPr id="103" name="TextBox 102"/>
          <p:cNvSpPr txBox="1"/>
          <p:nvPr/>
        </p:nvSpPr>
        <p:spPr>
          <a:xfrm>
            <a:off x="9381524" y="2953512"/>
            <a:ext cx="2151802" cy="292608"/>
          </a:xfrm>
          <a:prstGeom prst="rect">
            <a:avLst/>
          </a:prstGeom>
          <a:noFill/>
        </p:spPr>
        <p:txBody>
          <a:bodyPr wrap="square" lIns="73152" rIns="73152" tIns="36576" bIns="36576" anchor="ctr">
            <a:spAutoFit/>
          </a:bodyPr>
          <a:lstStyle/>
          <a:p>
            <a:pPr algn="l"/>
            <a:r>
              <a:rPr sz="1100" b="0" i="0">
                <a:solidFill>
                  <a:srgbClr val="1A1F36"/>
                </a:solidFill>
                <a:latin typeface="Calibri"/>
              </a:rPr>
              <a:t>Not satisfied</a:t>
            </a:r>
          </a:p>
        </p:txBody>
      </p:sp>
      <p:sp>
        <p:nvSpPr>
          <p:cNvPr id="104" name="Rounded Rectangle 103"/>
          <p:cNvSpPr/>
          <p:nvPr/>
        </p:nvSpPr>
        <p:spPr>
          <a:xfrm>
            <a:off x="8851172" y="3538728"/>
            <a:ext cx="2883322" cy="2432304"/>
          </a:xfrm>
          <a:prstGeom prst="roundRect">
            <a:avLst>
              <a:gd name="adj" fmla="val 6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052340" y="3739896"/>
            <a:ext cx="2480986" cy="320040"/>
          </a:xfrm>
          <a:prstGeom prst="rect">
            <a:avLst/>
          </a:prstGeom>
          <a:noFill/>
        </p:spPr>
        <p:txBody>
          <a:bodyPr wrap="square" lIns="73152" rIns="73152" tIns="36576" bIns="36576" anchor="t">
            <a:spAutoFit/>
          </a:bodyPr>
          <a:lstStyle/>
          <a:p>
            <a:pPr algn="l"/>
            <a:r>
              <a:rPr sz="1200" b="1" i="0">
                <a:solidFill>
                  <a:srgbClr val="FFFFFF"/>
                </a:solidFill>
                <a:latin typeface="Calibri"/>
              </a:rPr>
              <a:t>GAP CLOSED</a:t>
            </a:r>
          </a:p>
        </p:txBody>
      </p:sp>
      <p:sp>
        <p:nvSpPr>
          <p:cNvPr id="106" name="TextBox 105"/>
          <p:cNvSpPr txBox="1"/>
          <p:nvPr/>
        </p:nvSpPr>
        <p:spPr>
          <a:xfrm>
            <a:off x="9052340" y="4160520"/>
            <a:ext cx="2480986" cy="1609344"/>
          </a:xfrm>
          <a:prstGeom prst="rect">
            <a:avLst/>
          </a:prstGeom>
          <a:noFill/>
        </p:spPr>
        <p:txBody>
          <a:bodyPr wrap="square" lIns="73152" rIns="73152" tIns="36576" bIns="36576" anchor="ctr">
            <a:spAutoFit/>
          </a:bodyPr>
          <a:lstStyle/>
          <a:p>
            <a:pPr algn="l"/>
            <a:r>
              <a:rPr sz="1300" b="1" i="0">
                <a:solidFill>
                  <a:srgbClr val="FFFFFF"/>
                </a:solidFill>
                <a:latin typeface="Calibri"/>
              </a:rPr>
              <a:t>The only approach to bring privacy + repair + IDE-grade latency together in one local tool, with competitive detection accuracy.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Limitations &amp; Future Work</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22 / 25</a:t>
            </a:r>
          </a:p>
        </p:txBody>
      </p:sp>
      <p:sp>
        <p:nvSpPr>
          <p:cNvPr id="10" name="TextBox 9"/>
          <p:cNvSpPr txBox="1"/>
          <p:nvPr/>
        </p:nvSpPr>
        <p:spPr>
          <a:xfrm>
            <a:off x="457200" y="1783080"/>
            <a:ext cx="5455767" cy="457200"/>
          </a:xfrm>
          <a:prstGeom prst="rect">
            <a:avLst/>
          </a:prstGeom>
          <a:noFill/>
        </p:spPr>
        <p:txBody>
          <a:bodyPr wrap="square" lIns="73152" rIns="73152" tIns="36576" bIns="36576" anchor="ctr">
            <a:spAutoFit/>
          </a:bodyPr>
          <a:lstStyle/>
          <a:p>
            <a:pPr algn="l"/>
            <a:r>
              <a:rPr sz="1600" b="1" i="0">
                <a:solidFill>
                  <a:srgbClr val="C9184A"/>
                </a:solidFill>
                <a:latin typeface="Calibri"/>
              </a:rPr>
              <a:t>Current Limitations</a:t>
            </a:r>
          </a:p>
        </p:txBody>
      </p:sp>
      <p:sp>
        <p:nvSpPr>
          <p:cNvPr id="11" name="Rounded Rectangle 10"/>
          <p:cNvSpPr/>
          <p:nvPr/>
        </p:nvSpPr>
        <p:spPr>
          <a:xfrm>
            <a:off x="457200" y="2286000"/>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286000"/>
            <a:ext cx="82296" cy="740664"/>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ser-red.png"/>
          <p:cNvPicPr>
            <a:picLocks noChangeAspect="1"/>
          </p:cNvPicPr>
          <p:nvPr/>
        </p:nvPicPr>
        <p:blipFill>
          <a:blip r:embed="rId2"/>
          <a:stretch>
            <a:fillRect/>
          </a:stretch>
        </p:blipFill>
        <p:spPr>
          <a:xfrm>
            <a:off x="621792" y="2519172"/>
            <a:ext cx="274320" cy="274320"/>
          </a:xfrm>
          <a:prstGeom prst="rect">
            <a:avLst/>
          </a:prstGeom>
        </p:spPr>
      </p:pic>
      <p:sp>
        <p:nvSpPr>
          <p:cNvPr id="14" name="TextBox 13"/>
          <p:cNvSpPr txBox="1"/>
          <p:nvPr/>
        </p:nvSpPr>
        <p:spPr>
          <a:xfrm>
            <a:off x="1115568" y="2350008"/>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Single-reviewer manual review (n = 25)</a:t>
            </a:r>
          </a:p>
        </p:txBody>
      </p:sp>
      <p:sp>
        <p:nvSpPr>
          <p:cNvPr id="15" name="TextBox 14"/>
          <p:cNvSpPr txBox="1"/>
          <p:nvPr/>
        </p:nvSpPr>
        <p:spPr>
          <a:xfrm>
            <a:off x="1115568" y="2633472"/>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Headline R3 is the objective auto-applicable rate; inter-rater κ is future work.</a:t>
            </a:r>
          </a:p>
        </p:txBody>
      </p:sp>
      <p:sp>
        <p:nvSpPr>
          <p:cNvPr id="16" name="Rounded Rectangle 15"/>
          <p:cNvSpPr/>
          <p:nvPr/>
        </p:nvSpPr>
        <p:spPr>
          <a:xfrm>
            <a:off x="457200" y="3118104"/>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118104"/>
            <a:ext cx="82296" cy="740664"/>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red.png"/>
          <p:cNvPicPr>
            <a:picLocks noChangeAspect="1"/>
          </p:cNvPicPr>
          <p:nvPr/>
        </p:nvPicPr>
        <p:blipFill>
          <a:blip r:embed="rId3"/>
          <a:stretch>
            <a:fillRect/>
          </a:stretch>
        </p:blipFill>
        <p:spPr>
          <a:xfrm>
            <a:off x="621792" y="3351276"/>
            <a:ext cx="274320" cy="274320"/>
          </a:xfrm>
          <a:prstGeom prst="rect">
            <a:avLst/>
          </a:prstGeom>
        </p:spPr>
      </p:pic>
      <p:sp>
        <p:nvSpPr>
          <p:cNvPr id="19" name="TextBox 18"/>
          <p:cNvSpPr txBox="1"/>
          <p:nvPr/>
        </p:nvSpPr>
        <p:spPr>
          <a:xfrm>
            <a:off x="1115568" y="3182112"/>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Curated 101-case corpus</a:t>
            </a:r>
          </a:p>
        </p:txBody>
      </p:sp>
      <p:sp>
        <p:nvSpPr>
          <p:cNvPr id="20" name="TextBox 19"/>
          <p:cNvSpPr txBox="1"/>
          <p:nvPr/>
        </p:nvSpPr>
        <p:spPr>
          <a:xfrm>
            <a:off x="1115568" y="3465576"/>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Offset by held-out 71 / 30 split, 15-case external set, whole-project NodeGoat run.</a:t>
            </a:r>
          </a:p>
        </p:txBody>
      </p:sp>
      <p:sp>
        <p:nvSpPr>
          <p:cNvPr id="21" name="Rounded Rectangle 20"/>
          <p:cNvSpPr/>
          <p:nvPr/>
        </p:nvSpPr>
        <p:spPr>
          <a:xfrm>
            <a:off x="457200" y="3950208"/>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950208"/>
            <a:ext cx="82296" cy="740664"/>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globe-red.png"/>
          <p:cNvPicPr>
            <a:picLocks noChangeAspect="1"/>
          </p:cNvPicPr>
          <p:nvPr/>
        </p:nvPicPr>
        <p:blipFill>
          <a:blip r:embed="rId4"/>
          <a:stretch>
            <a:fillRect/>
          </a:stretch>
        </p:blipFill>
        <p:spPr>
          <a:xfrm>
            <a:off x="621792" y="4183380"/>
            <a:ext cx="274320" cy="274320"/>
          </a:xfrm>
          <a:prstGeom prst="rect">
            <a:avLst/>
          </a:prstGeom>
        </p:spPr>
      </p:pic>
      <p:sp>
        <p:nvSpPr>
          <p:cNvPr id="24" name="TextBox 23"/>
          <p:cNvSpPr txBox="1"/>
          <p:nvPr/>
        </p:nvSpPr>
        <p:spPr>
          <a:xfrm>
            <a:off x="1115568" y="4014216"/>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One real-world project end-to-end</a:t>
            </a:r>
          </a:p>
        </p:txBody>
      </p:sp>
      <p:sp>
        <p:nvSpPr>
          <p:cNvPr id="25" name="TextBox 24"/>
          <p:cNvSpPr txBox="1"/>
          <p:nvPr/>
        </p:nvSpPr>
        <p:spPr>
          <a:xfrm>
            <a:off x="1115568" y="4297680"/>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NodeGoat only  ·  multi-project validation pending.</a:t>
            </a:r>
          </a:p>
        </p:txBody>
      </p:sp>
      <p:sp>
        <p:nvSpPr>
          <p:cNvPr id="26" name="Rounded Rectangle 25"/>
          <p:cNvSpPr/>
          <p:nvPr/>
        </p:nvSpPr>
        <p:spPr>
          <a:xfrm>
            <a:off x="457200" y="4782312"/>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4782312"/>
            <a:ext cx="82296" cy="740664"/>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efresh-red.png"/>
          <p:cNvPicPr>
            <a:picLocks noChangeAspect="1"/>
          </p:cNvPicPr>
          <p:nvPr/>
        </p:nvPicPr>
        <p:blipFill>
          <a:blip r:embed="rId5"/>
          <a:stretch>
            <a:fillRect/>
          </a:stretch>
        </p:blipFill>
        <p:spPr>
          <a:xfrm>
            <a:off x="621792" y="5015484"/>
            <a:ext cx="274320" cy="274320"/>
          </a:xfrm>
          <a:prstGeom prst="rect">
            <a:avLst/>
          </a:prstGeom>
        </p:spPr>
      </p:pic>
      <p:sp>
        <p:nvSpPr>
          <p:cNvPr id="29" name="TextBox 28"/>
          <p:cNvSpPr txBox="1"/>
          <p:nvPr/>
        </p:nvSpPr>
        <p:spPr>
          <a:xfrm>
            <a:off x="1115568" y="4846320"/>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Consensus filter inert under determinism</a:t>
            </a:r>
          </a:p>
        </p:txBody>
      </p:sp>
      <p:sp>
        <p:nvSpPr>
          <p:cNvPr id="30" name="TextBox 29"/>
          <p:cNvSpPr txBox="1"/>
          <p:nvPr/>
        </p:nvSpPr>
        <p:spPr>
          <a:xfrm>
            <a:off x="1115568" y="5129784"/>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Three seed-42 runs are byte-identical; a real signal needs seed rotation.</a:t>
            </a:r>
          </a:p>
        </p:txBody>
      </p:sp>
      <p:sp>
        <p:nvSpPr>
          <p:cNvPr id="31" name="Rounded Rectangle 30"/>
          <p:cNvSpPr/>
          <p:nvPr/>
        </p:nvSpPr>
        <p:spPr>
          <a:xfrm>
            <a:off x="457200" y="5614416"/>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5614416"/>
            <a:ext cx="82296" cy="740664"/>
          </a:xfrm>
          <a:prstGeom prst="rect">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loud-red.png"/>
          <p:cNvPicPr>
            <a:picLocks noChangeAspect="1"/>
          </p:cNvPicPr>
          <p:nvPr/>
        </p:nvPicPr>
        <p:blipFill>
          <a:blip r:embed="rId6"/>
          <a:stretch>
            <a:fillRect/>
          </a:stretch>
        </p:blipFill>
        <p:spPr>
          <a:xfrm>
            <a:off x="621792" y="5847588"/>
            <a:ext cx="274320" cy="274320"/>
          </a:xfrm>
          <a:prstGeom prst="rect">
            <a:avLst/>
          </a:prstGeom>
        </p:spPr>
      </p:pic>
      <p:sp>
        <p:nvSpPr>
          <p:cNvPr id="34" name="TextBox 33"/>
          <p:cNvSpPr txBox="1"/>
          <p:nvPr/>
        </p:nvSpPr>
        <p:spPr>
          <a:xfrm>
            <a:off x="1115568" y="5678424"/>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No cloud-LLM baseline</a:t>
            </a:r>
          </a:p>
        </p:txBody>
      </p:sp>
      <p:sp>
        <p:nvSpPr>
          <p:cNvPr id="35" name="TextBox 34"/>
          <p:cNvSpPr txBox="1"/>
          <p:nvPr/>
        </p:nvSpPr>
        <p:spPr>
          <a:xfrm>
            <a:off x="1115568" y="5961888"/>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Excluded by the privacy threat model  ·  3 SAST tools set the floor.</a:t>
            </a:r>
          </a:p>
        </p:txBody>
      </p:sp>
      <p:sp>
        <p:nvSpPr>
          <p:cNvPr id="36" name="TextBox 35"/>
          <p:cNvSpPr txBox="1"/>
          <p:nvPr/>
        </p:nvSpPr>
        <p:spPr>
          <a:xfrm>
            <a:off x="6278727" y="1783080"/>
            <a:ext cx="5455767" cy="457200"/>
          </a:xfrm>
          <a:prstGeom prst="rect">
            <a:avLst/>
          </a:prstGeom>
          <a:noFill/>
        </p:spPr>
        <p:txBody>
          <a:bodyPr wrap="square" lIns="73152" rIns="73152" tIns="36576" bIns="36576" anchor="ctr">
            <a:spAutoFit/>
          </a:bodyPr>
          <a:lstStyle/>
          <a:p>
            <a:pPr algn="l"/>
            <a:r>
              <a:rPr sz="1600" b="1" i="0">
                <a:solidFill>
                  <a:srgbClr val="FCA311"/>
                </a:solidFill>
                <a:latin typeface="Calibri"/>
              </a:rPr>
              <a:t>Future Work</a:t>
            </a:r>
          </a:p>
        </p:txBody>
      </p:sp>
      <p:sp>
        <p:nvSpPr>
          <p:cNvPr id="37" name="Rounded Rectangle 36"/>
          <p:cNvSpPr/>
          <p:nvPr/>
        </p:nvSpPr>
        <p:spPr>
          <a:xfrm>
            <a:off x="6278727" y="2286000"/>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78727" y="2286000"/>
            <a:ext cx="82296" cy="740664"/>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dice-accent.png"/>
          <p:cNvPicPr>
            <a:picLocks noChangeAspect="1"/>
          </p:cNvPicPr>
          <p:nvPr/>
        </p:nvPicPr>
        <p:blipFill>
          <a:blip r:embed="rId7"/>
          <a:stretch>
            <a:fillRect/>
          </a:stretch>
        </p:blipFill>
        <p:spPr>
          <a:xfrm>
            <a:off x="6443319" y="2519172"/>
            <a:ext cx="274320" cy="274320"/>
          </a:xfrm>
          <a:prstGeom prst="rect">
            <a:avLst/>
          </a:prstGeom>
        </p:spPr>
      </p:pic>
      <p:sp>
        <p:nvSpPr>
          <p:cNvPr id="40" name="TextBox 39"/>
          <p:cNvSpPr txBox="1"/>
          <p:nvPr/>
        </p:nvSpPr>
        <p:spPr>
          <a:xfrm>
            <a:off x="6937095" y="2350008"/>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Seed rotation</a:t>
            </a:r>
          </a:p>
        </p:txBody>
      </p:sp>
      <p:sp>
        <p:nvSpPr>
          <p:cNvPr id="41" name="TextBox 40"/>
          <p:cNvSpPr txBox="1"/>
          <p:nvPr/>
        </p:nvSpPr>
        <p:spPr>
          <a:xfrm>
            <a:off x="6937095" y="2633472"/>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Genuine consensus signal beyond the deterministic-decoding floor.</a:t>
            </a:r>
          </a:p>
        </p:txBody>
      </p:sp>
      <p:sp>
        <p:nvSpPr>
          <p:cNvPr id="42" name="Rounded Rectangle 41"/>
          <p:cNvSpPr/>
          <p:nvPr/>
        </p:nvSpPr>
        <p:spPr>
          <a:xfrm>
            <a:off x="6278727" y="3118104"/>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78727" y="3118104"/>
            <a:ext cx="82296" cy="740664"/>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users-accent.png"/>
          <p:cNvPicPr>
            <a:picLocks noChangeAspect="1"/>
          </p:cNvPicPr>
          <p:nvPr/>
        </p:nvPicPr>
        <p:blipFill>
          <a:blip r:embed="rId8"/>
          <a:stretch>
            <a:fillRect/>
          </a:stretch>
        </p:blipFill>
        <p:spPr>
          <a:xfrm>
            <a:off x="6443319" y="3351276"/>
            <a:ext cx="274320" cy="274320"/>
          </a:xfrm>
          <a:prstGeom prst="rect">
            <a:avLst/>
          </a:prstGeom>
        </p:spPr>
      </p:pic>
      <p:sp>
        <p:nvSpPr>
          <p:cNvPr id="45" name="TextBox 44"/>
          <p:cNvSpPr txBox="1"/>
          <p:nvPr/>
        </p:nvSpPr>
        <p:spPr>
          <a:xfrm>
            <a:off x="6937095" y="3182112"/>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Inter-rater agreement</a:t>
            </a:r>
          </a:p>
        </p:txBody>
      </p:sp>
      <p:sp>
        <p:nvSpPr>
          <p:cNvPr id="46" name="TextBox 45"/>
          <p:cNvSpPr txBox="1"/>
          <p:nvPr/>
        </p:nvSpPr>
        <p:spPr>
          <a:xfrm>
            <a:off x="6937095" y="3465576"/>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Second reviewer on the 25-sample subset for a κ statistic.</a:t>
            </a:r>
          </a:p>
        </p:txBody>
      </p:sp>
      <p:sp>
        <p:nvSpPr>
          <p:cNvPr id="47" name="Rounded Rectangle 46"/>
          <p:cNvSpPr/>
          <p:nvPr/>
        </p:nvSpPr>
        <p:spPr>
          <a:xfrm>
            <a:off x="6278727" y="3950208"/>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278727" y="3950208"/>
            <a:ext cx="82296" cy="740664"/>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building-accent.png"/>
          <p:cNvPicPr>
            <a:picLocks noChangeAspect="1"/>
          </p:cNvPicPr>
          <p:nvPr/>
        </p:nvPicPr>
        <p:blipFill>
          <a:blip r:embed="rId9"/>
          <a:stretch>
            <a:fillRect/>
          </a:stretch>
        </p:blipFill>
        <p:spPr>
          <a:xfrm>
            <a:off x="6443319" y="4183380"/>
            <a:ext cx="274320" cy="274320"/>
          </a:xfrm>
          <a:prstGeom prst="rect">
            <a:avLst/>
          </a:prstGeom>
        </p:spPr>
      </p:pic>
      <p:sp>
        <p:nvSpPr>
          <p:cNvPr id="50" name="TextBox 49"/>
          <p:cNvSpPr txBox="1"/>
          <p:nvPr/>
        </p:nvSpPr>
        <p:spPr>
          <a:xfrm>
            <a:off x="6937095" y="4014216"/>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Multi-project real-world validation</a:t>
            </a:r>
          </a:p>
        </p:txBody>
      </p:sp>
      <p:sp>
        <p:nvSpPr>
          <p:cNvPr id="51" name="TextBox 50"/>
          <p:cNvSpPr txBox="1"/>
          <p:nvPr/>
        </p:nvSpPr>
        <p:spPr>
          <a:xfrm>
            <a:off x="6937095" y="4297680"/>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Measured recall beyond NodeGoat, across diverse production codebases.</a:t>
            </a:r>
          </a:p>
        </p:txBody>
      </p:sp>
      <p:sp>
        <p:nvSpPr>
          <p:cNvPr id="52" name="Rounded Rectangle 51"/>
          <p:cNvSpPr/>
          <p:nvPr/>
        </p:nvSpPr>
        <p:spPr>
          <a:xfrm>
            <a:off x="6278727" y="4782312"/>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78727" y="4782312"/>
            <a:ext cx="82296" cy="740664"/>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bolt-accent.png"/>
          <p:cNvPicPr>
            <a:picLocks noChangeAspect="1"/>
          </p:cNvPicPr>
          <p:nvPr/>
        </p:nvPicPr>
        <p:blipFill>
          <a:blip r:embed="rId10"/>
          <a:stretch>
            <a:fillRect/>
          </a:stretch>
        </p:blipFill>
        <p:spPr>
          <a:xfrm>
            <a:off x="6443319" y="5015484"/>
            <a:ext cx="274320" cy="274320"/>
          </a:xfrm>
          <a:prstGeom prst="rect">
            <a:avLst/>
          </a:prstGeom>
        </p:spPr>
      </p:pic>
      <p:sp>
        <p:nvSpPr>
          <p:cNvPr id="55" name="TextBox 54"/>
          <p:cNvSpPr txBox="1"/>
          <p:nvPr/>
        </p:nvSpPr>
        <p:spPr>
          <a:xfrm>
            <a:off x="6937095" y="4846320"/>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Streaming partial results</a:t>
            </a:r>
          </a:p>
        </p:txBody>
      </p:sp>
      <p:sp>
        <p:nvSpPr>
          <p:cNvPr id="56" name="TextBox 55"/>
          <p:cNvSpPr txBox="1"/>
          <p:nvPr/>
        </p:nvSpPr>
        <p:spPr>
          <a:xfrm>
            <a:off x="6937095" y="5129784"/>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Surface first-token findings to break into the real-time band.</a:t>
            </a:r>
          </a:p>
        </p:txBody>
      </p:sp>
      <p:sp>
        <p:nvSpPr>
          <p:cNvPr id="57" name="Rounded Rectangle 56"/>
          <p:cNvSpPr/>
          <p:nvPr/>
        </p:nvSpPr>
        <p:spPr>
          <a:xfrm>
            <a:off x="6278727" y="5614416"/>
            <a:ext cx="5455767" cy="740664"/>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78727" y="5614416"/>
            <a:ext cx="82296" cy="740664"/>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target-accent.png"/>
          <p:cNvPicPr>
            <a:picLocks noChangeAspect="1"/>
          </p:cNvPicPr>
          <p:nvPr/>
        </p:nvPicPr>
        <p:blipFill>
          <a:blip r:embed="rId11"/>
          <a:stretch>
            <a:fillRect/>
          </a:stretch>
        </p:blipFill>
        <p:spPr>
          <a:xfrm>
            <a:off x="6443319" y="5847588"/>
            <a:ext cx="274320" cy="274320"/>
          </a:xfrm>
          <a:prstGeom prst="rect">
            <a:avLst/>
          </a:prstGeom>
        </p:spPr>
      </p:pic>
      <p:sp>
        <p:nvSpPr>
          <p:cNvPr id="60" name="TextBox 59"/>
          <p:cNvSpPr txBox="1"/>
          <p:nvPr/>
        </p:nvSpPr>
        <p:spPr>
          <a:xfrm>
            <a:off x="6937095" y="5678424"/>
            <a:ext cx="4678527" cy="301752"/>
          </a:xfrm>
          <a:prstGeom prst="rect">
            <a:avLst/>
          </a:prstGeom>
          <a:noFill/>
        </p:spPr>
        <p:txBody>
          <a:bodyPr wrap="square" lIns="73152" rIns="73152" tIns="36576" bIns="36576" anchor="t">
            <a:spAutoFit/>
          </a:bodyPr>
          <a:lstStyle/>
          <a:p>
            <a:pPr algn="l"/>
            <a:r>
              <a:rPr sz="1200" b="1" i="0">
                <a:solidFill>
                  <a:srgbClr val="0B1428"/>
                </a:solidFill>
                <a:latin typeface="Calibri"/>
              </a:rPr>
              <a:t>Adaptive RAG gating</a:t>
            </a:r>
          </a:p>
        </p:txBody>
      </p:sp>
      <p:sp>
        <p:nvSpPr>
          <p:cNvPr id="61" name="TextBox 60"/>
          <p:cNvSpPr txBox="1"/>
          <p:nvPr/>
        </p:nvSpPr>
        <p:spPr>
          <a:xfrm>
            <a:off x="6937095" y="5961888"/>
            <a:ext cx="4678527" cy="420624"/>
          </a:xfrm>
          <a:prstGeom prst="rect">
            <a:avLst/>
          </a:prstGeom>
          <a:noFill/>
        </p:spPr>
        <p:txBody>
          <a:bodyPr wrap="square" lIns="73152" rIns="73152" tIns="36576" bIns="36576" anchor="t">
            <a:spAutoFit/>
          </a:bodyPr>
          <a:lstStyle/>
          <a:p>
            <a:pPr algn="l"/>
            <a:r>
              <a:rPr sz="1000" b="0" i="0">
                <a:solidFill>
                  <a:srgbClr val="1A1F36"/>
                </a:solidFill>
                <a:latin typeface="Calibri"/>
              </a:rPr>
              <a:t>Per-model RAG enable/disable driven by slide 16's finding.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Contributions of This Thesis</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23 / 25</a:t>
            </a:r>
          </a:p>
        </p:txBody>
      </p:sp>
      <p:sp>
        <p:nvSpPr>
          <p:cNvPr id="10" name="Rounded Rectangle 9"/>
          <p:cNvSpPr/>
          <p:nvPr/>
        </p:nvSpPr>
        <p:spPr>
          <a:xfrm>
            <a:off x="457200" y="1783080"/>
            <a:ext cx="11277295" cy="804672"/>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91440" cy="8046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wrench-navy.png"/>
          <p:cNvPicPr>
            <a:picLocks noChangeAspect="1"/>
          </p:cNvPicPr>
          <p:nvPr/>
        </p:nvPicPr>
        <p:blipFill>
          <a:blip r:embed="rId2"/>
          <a:stretch>
            <a:fillRect/>
          </a:stretch>
        </p:blipFill>
        <p:spPr>
          <a:xfrm>
            <a:off x="640080" y="2029968"/>
            <a:ext cx="310896" cy="310896"/>
          </a:xfrm>
          <a:prstGeom prst="rect">
            <a:avLst/>
          </a:prstGeom>
        </p:spPr>
      </p:pic>
      <p:sp>
        <p:nvSpPr>
          <p:cNvPr id="13" name="TextBox 12"/>
          <p:cNvSpPr txBox="1"/>
          <p:nvPr/>
        </p:nvSpPr>
        <p:spPr>
          <a:xfrm>
            <a:off x="1234440" y="1856232"/>
            <a:ext cx="4114800" cy="365760"/>
          </a:xfrm>
          <a:prstGeom prst="rect">
            <a:avLst/>
          </a:prstGeom>
          <a:noFill/>
        </p:spPr>
        <p:txBody>
          <a:bodyPr wrap="square" lIns="73152" rIns="73152" tIns="36576" bIns="36576" anchor="t">
            <a:spAutoFit/>
          </a:bodyPr>
          <a:lstStyle/>
          <a:p>
            <a:pPr algn="l"/>
            <a:r>
              <a:rPr sz="1300" b="1" i="0">
                <a:solidFill>
                  <a:srgbClr val="0B1428"/>
                </a:solidFill>
                <a:latin typeface="Calibri"/>
              </a:rPr>
              <a:t>Working VS Code extension</a:t>
            </a:r>
          </a:p>
        </p:txBody>
      </p:sp>
      <p:sp>
        <p:nvSpPr>
          <p:cNvPr id="14" name="TextBox 13"/>
          <p:cNvSpPr txBox="1"/>
          <p:nvPr/>
        </p:nvSpPr>
        <p:spPr>
          <a:xfrm>
            <a:off x="1234440" y="2194560"/>
            <a:ext cx="10362895" cy="438912"/>
          </a:xfrm>
          <a:prstGeom prst="rect">
            <a:avLst/>
          </a:prstGeom>
          <a:noFill/>
        </p:spPr>
        <p:txBody>
          <a:bodyPr wrap="square" lIns="73152" rIns="73152" tIns="36576" bIns="36576" anchor="t">
            <a:spAutoFit/>
          </a:bodyPr>
          <a:lstStyle/>
          <a:p>
            <a:pPr algn="l"/>
            <a:r>
              <a:rPr sz="1100" b="0" i="0">
                <a:solidFill>
                  <a:srgbClr val="1A1F36"/>
                </a:solidFill>
                <a:latin typeface="Calibri"/>
              </a:rPr>
              <a:t>Local LLM + RAG + signed corpus + pinned container, published to the Marketplace.</a:t>
            </a:r>
          </a:p>
        </p:txBody>
      </p:sp>
      <p:sp>
        <p:nvSpPr>
          <p:cNvPr id="15" name="Rounded Rectangle 14"/>
          <p:cNvSpPr/>
          <p:nvPr/>
        </p:nvSpPr>
        <p:spPr>
          <a:xfrm>
            <a:off x="457200" y="2679192"/>
            <a:ext cx="11277295" cy="804672"/>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79192"/>
            <a:ext cx="91440" cy="8046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nk-navy.png"/>
          <p:cNvPicPr>
            <a:picLocks noChangeAspect="1"/>
          </p:cNvPicPr>
          <p:nvPr/>
        </p:nvPicPr>
        <p:blipFill>
          <a:blip r:embed="rId3"/>
          <a:stretch>
            <a:fillRect/>
          </a:stretch>
        </p:blipFill>
        <p:spPr>
          <a:xfrm>
            <a:off x="640080" y="2926080"/>
            <a:ext cx="310896" cy="310896"/>
          </a:xfrm>
          <a:prstGeom prst="rect">
            <a:avLst/>
          </a:prstGeom>
        </p:spPr>
      </p:pic>
      <p:sp>
        <p:nvSpPr>
          <p:cNvPr id="18" name="TextBox 17"/>
          <p:cNvSpPr txBox="1"/>
          <p:nvPr/>
        </p:nvSpPr>
        <p:spPr>
          <a:xfrm>
            <a:off x="1234440" y="2752344"/>
            <a:ext cx="4114800" cy="365760"/>
          </a:xfrm>
          <a:prstGeom prst="rect">
            <a:avLst/>
          </a:prstGeom>
          <a:noFill/>
        </p:spPr>
        <p:txBody>
          <a:bodyPr wrap="square" lIns="73152" rIns="73152" tIns="36576" bIns="36576" anchor="t">
            <a:spAutoFit/>
          </a:bodyPr>
          <a:lstStyle/>
          <a:p>
            <a:pPr algn="l"/>
            <a:r>
              <a:rPr sz="1300" b="1" i="0">
                <a:solidFill>
                  <a:srgbClr val="0B1428"/>
                </a:solidFill>
                <a:latin typeface="Calibri"/>
              </a:rPr>
              <a:t>Two-stage pipeline with structured contracts</a:t>
            </a:r>
          </a:p>
        </p:txBody>
      </p:sp>
      <p:sp>
        <p:nvSpPr>
          <p:cNvPr id="19" name="TextBox 18"/>
          <p:cNvSpPr txBox="1"/>
          <p:nvPr/>
        </p:nvSpPr>
        <p:spPr>
          <a:xfrm>
            <a:off x="1234440" y="3090672"/>
            <a:ext cx="10362895" cy="438912"/>
          </a:xfrm>
          <a:prstGeom prst="rect">
            <a:avLst/>
          </a:prstGeom>
          <a:noFill/>
        </p:spPr>
        <p:txBody>
          <a:bodyPr wrap="square" lIns="73152" rIns="73152" tIns="36576" bIns="36576" anchor="t">
            <a:spAutoFit/>
          </a:bodyPr>
          <a:lstStyle/>
          <a:p>
            <a:pPr algn="l"/>
            <a:r>
              <a:rPr sz="1100" b="0" i="0">
                <a:solidFill>
                  <a:srgbClr val="1A1F36"/>
                </a:solidFill>
                <a:latin typeface="Calibri"/>
              </a:rPr>
              <a:t>Detection (JSON-mode) + Repair ({ code, language }), schema-pinned at every boundary.</a:t>
            </a:r>
          </a:p>
        </p:txBody>
      </p:sp>
      <p:sp>
        <p:nvSpPr>
          <p:cNvPr id="20" name="Rounded Rectangle 19"/>
          <p:cNvSpPr/>
          <p:nvPr/>
        </p:nvSpPr>
        <p:spPr>
          <a:xfrm>
            <a:off x="457200" y="3575304"/>
            <a:ext cx="11277295" cy="804672"/>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91440" cy="8046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archart-navy.png"/>
          <p:cNvPicPr>
            <a:picLocks noChangeAspect="1"/>
          </p:cNvPicPr>
          <p:nvPr/>
        </p:nvPicPr>
        <p:blipFill>
          <a:blip r:embed="rId4"/>
          <a:stretch>
            <a:fillRect/>
          </a:stretch>
        </p:blipFill>
        <p:spPr>
          <a:xfrm>
            <a:off x="640080" y="3822192"/>
            <a:ext cx="310896" cy="310896"/>
          </a:xfrm>
          <a:prstGeom prst="rect">
            <a:avLst/>
          </a:prstGeom>
        </p:spPr>
      </p:pic>
      <p:sp>
        <p:nvSpPr>
          <p:cNvPr id="23" name="TextBox 22"/>
          <p:cNvSpPr txBox="1"/>
          <p:nvPr/>
        </p:nvSpPr>
        <p:spPr>
          <a:xfrm>
            <a:off x="1234440" y="3648456"/>
            <a:ext cx="4114800" cy="365760"/>
          </a:xfrm>
          <a:prstGeom prst="rect">
            <a:avLst/>
          </a:prstGeom>
          <a:noFill/>
        </p:spPr>
        <p:txBody>
          <a:bodyPr wrap="square" lIns="73152" rIns="73152" tIns="36576" bIns="36576" anchor="t">
            <a:spAutoFit/>
          </a:bodyPr>
          <a:lstStyle/>
          <a:p>
            <a:pPr algn="l"/>
            <a:r>
              <a:rPr sz="1300" b="1" i="0">
                <a:solidFill>
                  <a:srgbClr val="0B1428"/>
                </a:solidFill>
                <a:latin typeface="Calibri"/>
              </a:rPr>
              <a:t>Empirical study</a:t>
            </a:r>
          </a:p>
        </p:txBody>
      </p:sp>
      <p:sp>
        <p:nvSpPr>
          <p:cNvPr id="24" name="TextBox 23"/>
          <p:cNvSpPr txBox="1"/>
          <p:nvPr/>
        </p:nvSpPr>
        <p:spPr>
          <a:xfrm>
            <a:off x="1234440" y="3986784"/>
            <a:ext cx="10362895" cy="438912"/>
          </a:xfrm>
          <a:prstGeom prst="rect">
            <a:avLst/>
          </a:prstGeom>
          <a:noFill/>
        </p:spPr>
        <p:txBody>
          <a:bodyPr wrap="square" lIns="73152" rIns="73152" tIns="36576" bIns="36576" anchor="t">
            <a:spAutoFit/>
          </a:bodyPr>
          <a:lstStyle/>
          <a:p>
            <a:pPr algn="l"/>
            <a:r>
              <a:rPr sz="1100" b="0" i="0">
                <a:solidFill>
                  <a:srgbClr val="1A1F36"/>
                </a:solidFill>
                <a:latin typeface="Calibri"/>
              </a:rPr>
              <a:t>5 models × 2 modes + 3 SAST baselines · 303 invocations per config · CWE-mapped JS/TS corpus.</a:t>
            </a:r>
          </a:p>
        </p:txBody>
      </p:sp>
      <p:sp>
        <p:nvSpPr>
          <p:cNvPr id="25" name="Rounded Rectangle 24"/>
          <p:cNvSpPr/>
          <p:nvPr/>
        </p:nvSpPr>
        <p:spPr>
          <a:xfrm>
            <a:off x="457200" y="4471416"/>
            <a:ext cx="11277295" cy="804672"/>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471416"/>
            <a:ext cx="91440" cy="8046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efresh-navy.png"/>
          <p:cNvPicPr>
            <a:picLocks noChangeAspect="1"/>
          </p:cNvPicPr>
          <p:nvPr/>
        </p:nvPicPr>
        <p:blipFill>
          <a:blip r:embed="rId5"/>
          <a:stretch>
            <a:fillRect/>
          </a:stretch>
        </p:blipFill>
        <p:spPr>
          <a:xfrm>
            <a:off x="640080" y="4718304"/>
            <a:ext cx="310896" cy="310896"/>
          </a:xfrm>
          <a:prstGeom prst="rect">
            <a:avLst/>
          </a:prstGeom>
        </p:spPr>
      </p:pic>
      <p:sp>
        <p:nvSpPr>
          <p:cNvPr id="28" name="TextBox 27"/>
          <p:cNvSpPr txBox="1"/>
          <p:nvPr/>
        </p:nvSpPr>
        <p:spPr>
          <a:xfrm>
            <a:off x="1234440" y="4544568"/>
            <a:ext cx="4114800" cy="365760"/>
          </a:xfrm>
          <a:prstGeom prst="rect">
            <a:avLst/>
          </a:prstGeom>
          <a:noFill/>
        </p:spPr>
        <p:txBody>
          <a:bodyPr wrap="square" lIns="73152" rIns="73152" tIns="36576" bIns="36576" anchor="t">
            <a:spAutoFit/>
          </a:bodyPr>
          <a:lstStyle/>
          <a:p>
            <a:pPr algn="l"/>
            <a:r>
              <a:rPr sz="1300" b="1" i="0">
                <a:solidFill>
                  <a:srgbClr val="0B1428"/>
                </a:solidFill>
                <a:latin typeface="Calibri"/>
              </a:rPr>
              <a:t>Reproducibility infrastructure</a:t>
            </a:r>
          </a:p>
        </p:txBody>
      </p:sp>
      <p:sp>
        <p:nvSpPr>
          <p:cNvPr id="29" name="TextBox 28"/>
          <p:cNvSpPr txBox="1"/>
          <p:nvPr/>
        </p:nvSpPr>
        <p:spPr>
          <a:xfrm>
            <a:off x="1234440" y="4882896"/>
            <a:ext cx="10362895" cy="438912"/>
          </a:xfrm>
          <a:prstGeom prst="rect">
            <a:avLst/>
          </a:prstGeom>
          <a:noFill/>
        </p:spPr>
        <p:txBody>
          <a:bodyPr wrap="square" lIns="73152" rIns="73152" tIns="36576" bIns="36576" anchor="t">
            <a:spAutoFit/>
          </a:bodyPr>
          <a:lstStyle/>
          <a:p>
            <a:pPr algn="l"/>
            <a:r>
              <a:rPr sz="1100" b="0" i="0">
                <a:solidFill>
                  <a:srgbClr val="1A1F36"/>
                </a:solidFill>
                <a:latin typeface="Calibri"/>
              </a:rPr>
              <a:t>Byte-identical runs, Ed25519-signed manifest, pinned Node 20.19.0-alpine container.</a:t>
            </a:r>
          </a:p>
        </p:txBody>
      </p:sp>
      <p:sp>
        <p:nvSpPr>
          <p:cNvPr id="30" name="Rounded Rectangle 29"/>
          <p:cNvSpPr/>
          <p:nvPr/>
        </p:nvSpPr>
        <p:spPr>
          <a:xfrm>
            <a:off x="457200" y="5367528"/>
            <a:ext cx="11277295" cy="804672"/>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5367528"/>
            <a:ext cx="91440" cy="80467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uler-navy.png"/>
          <p:cNvPicPr>
            <a:picLocks noChangeAspect="1"/>
          </p:cNvPicPr>
          <p:nvPr/>
        </p:nvPicPr>
        <p:blipFill>
          <a:blip r:embed="rId6"/>
          <a:stretch>
            <a:fillRect/>
          </a:stretch>
        </p:blipFill>
        <p:spPr>
          <a:xfrm>
            <a:off x="640080" y="5614416"/>
            <a:ext cx="310896" cy="310896"/>
          </a:xfrm>
          <a:prstGeom prst="rect">
            <a:avLst/>
          </a:prstGeom>
        </p:spPr>
      </p:pic>
      <p:sp>
        <p:nvSpPr>
          <p:cNvPr id="33" name="TextBox 32"/>
          <p:cNvSpPr txBox="1"/>
          <p:nvPr/>
        </p:nvSpPr>
        <p:spPr>
          <a:xfrm>
            <a:off x="1234440" y="5440680"/>
            <a:ext cx="4114800" cy="365760"/>
          </a:xfrm>
          <a:prstGeom prst="rect">
            <a:avLst/>
          </a:prstGeom>
          <a:noFill/>
        </p:spPr>
        <p:txBody>
          <a:bodyPr wrap="square" lIns="73152" rIns="73152" tIns="36576" bIns="36576" anchor="t">
            <a:spAutoFit/>
          </a:bodyPr>
          <a:lstStyle/>
          <a:p>
            <a:pPr algn="l"/>
            <a:r>
              <a:rPr sz="1300" b="1" i="0">
                <a:solidFill>
                  <a:srgbClr val="0B1428"/>
                </a:solidFill>
                <a:latin typeface="Calibri"/>
              </a:rPr>
              <a:t>Statistical discipline</a:t>
            </a:r>
          </a:p>
        </p:txBody>
      </p:sp>
      <p:sp>
        <p:nvSpPr>
          <p:cNvPr id="34" name="TextBox 33"/>
          <p:cNvSpPr txBox="1"/>
          <p:nvPr/>
        </p:nvSpPr>
        <p:spPr>
          <a:xfrm>
            <a:off x="1234440" y="5779008"/>
            <a:ext cx="10362895" cy="438912"/>
          </a:xfrm>
          <a:prstGeom prst="rect">
            <a:avLst/>
          </a:prstGeom>
          <a:noFill/>
        </p:spPr>
        <p:txBody>
          <a:bodyPr wrap="square" lIns="73152" rIns="73152" tIns="36576" bIns="36576" anchor="t">
            <a:spAutoFit/>
          </a:bodyPr>
          <a:lstStyle/>
          <a:p>
            <a:pPr algn="l"/>
            <a:r>
              <a:rPr sz="1100" b="0" i="0">
                <a:solidFill>
                  <a:srgbClr val="1A1F36"/>
                </a:solidFill>
                <a:latin typeface="Calibri"/>
              </a:rPr>
              <a:t>Bonferroni-corrected McNemar, exact-binomial CIs, held-out 71 / 30 split.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9082735" y="201168"/>
            <a:ext cx="2743200" cy="457200"/>
          </a:xfrm>
          <a:prstGeom prst="rect">
            <a:avLst/>
          </a:prstGeom>
          <a:noFill/>
        </p:spPr>
        <p:txBody>
          <a:bodyPr wrap="square" lIns="73152" rIns="73152" tIns="36576" bIns="36576" anchor="t">
            <a:spAutoFit/>
          </a:bodyPr>
          <a:lstStyle/>
          <a:p>
            <a:pPr algn="r"/>
            <a:r>
              <a:rPr sz="1100" b="1" i="0">
                <a:solidFill>
                  <a:srgbClr val="FFFFFF"/>
                </a:solidFill>
                <a:latin typeface="Calibri"/>
              </a:rPr>
              <a:t>CODE GUARDIAN</a:t>
            </a:r>
          </a:p>
        </p:txBody>
      </p:sp>
      <p:sp>
        <p:nvSpPr>
          <p:cNvPr id="6" name="TextBox 5"/>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References</a:t>
            </a:r>
          </a:p>
        </p:txBody>
      </p:sp>
      <p:sp>
        <p:nvSpPr>
          <p:cNvPr id="7" name="Rectangle 6"/>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9" name="TextBox 8"/>
          <p:cNvSpPr txBox="1"/>
          <p:nvPr/>
        </p:nvSpPr>
        <p:spPr>
          <a:xfrm>
            <a:off x="11094415" y="6537960"/>
            <a:ext cx="731520" cy="320040"/>
          </a:xfrm>
          <a:prstGeom prst="rect">
            <a:avLst/>
          </a:prstGeom>
          <a:noFill/>
        </p:spPr>
        <p:txBody>
          <a:bodyPr wrap="square" lIns="73152" rIns="73152" tIns="36576" bIns="36576" anchor="ctr">
            <a:spAutoFit/>
          </a:bodyPr>
          <a:lstStyle/>
          <a:p>
            <a:pPr algn="r"/>
            <a:r>
              <a:rPr sz="900" b="0" i="0">
                <a:solidFill>
                  <a:srgbClr val="5B657A"/>
                </a:solidFill>
                <a:latin typeface="Calibri"/>
              </a:rPr>
              <a:t>24 / 25</a:t>
            </a:r>
          </a:p>
        </p:txBody>
      </p:sp>
      <p:sp>
        <p:nvSpPr>
          <p:cNvPr id="10" name="TextBox 9"/>
          <p:cNvSpPr txBox="1"/>
          <p:nvPr/>
        </p:nvSpPr>
        <p:spPr>
          <a:xfrm>
            <a:off x="457200" y="178308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[1] Touvron, H., et al.: Llama 2: Open foundation and fine-tuned chat models. arXiv:2307.09288 (2023)</a:t>
            </a:r>
          </a:p>
        </p:txBody>
      </p:sp>
      <p:sp>
        <p:nvSpPr>
          <p:cNvPr id="11" name="TextBox 10"/>
          <p:cNvSpPr txBox="1"/>
          <p:nvPr/>
        </p:nvSpPr>
        <p:spPr>
          <a:xfrm>
            <a:off x="457200" y="228600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[2] Lewis, P., et al.: Retrieval-augmented generation for knowledge-intensive NLP tasks. NeurIPS (2020)</a:t>
            </a:r>
          </a:p>
        </p:txBody>
      </p:sp>
      <p:sp>
        <p:nvSpPr>
          <p:cNvPr id="12" name="TextBox 11"/>
          <p:cNvSpPr txBox="1"/>
          <p:nvPr/>
        </p:nvSpPr>
        <p:spPr>
          <a:xfrm>
            <a:off x="457200" y="278892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[3] Li, Z., et al.: IRIS: Using LLMs for context-aware vulnerability detection. ICLR (2025)</a:t>
            </a:r>
          </a:p>
        </p:txBody>
      </p:sp>
      <p:sp>
        <p:nvSpPr>
          <p:cNvPr id="13" name="TextBox 12"/>
          <p:cNvSpPr txBox="1"/>
          <p:nvPr/>
        </p:nvSpPr>
        <p:spPr>
          <a:xfrm>
            <a:off x="457200" y="329184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[4] Islam, N., et al.: SecRepair: LLM-driven security vulnerability repair. NDSS (2024)</a:t>
            </a:r>
          </a:p>
        </p:txBody>
      </p:sp>
      <p:sp>
        <p:nvSpPr>
          <p:cNvPr id="14" name="TextBox 13"/>
          <p:cNvSpPr txBox="1"/>
          <p:nvPr/>
        </p:nvSpPr>
        <p:spPr>
          <a:xfrm>
            <a:off x="457200" y="379476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[5] Kavian, S., et al.: LLMSecGuard: Securing LLM-generated code. EASE (2024)</a:t>
            </a:r>
          </a:p>
        </p:txBody>
      </p:sp>
      <p:sp>
        <p:nvSpPr>
          <p:cNvPr id="15" name="TextBox 14"/>
          <p:cNvSpPr txBox="1"/>
          <p:nvPr/>
        </p:nvSpPr>
        <p:spPr>
          <a:xfrm>
            <a:off x="457200" y="429768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[6] Peng, B., et al.: CWEval: Outcome-driven evaluation of LLM code generation. ACL (2025)</a:t>
            </a:r>
          </a:p>
        </p:txBody>
      </p:sp>
      <p:sp>
        <p:nvSpPr>
          <p:cNvPr id="16" name="TextBox 15"/>
          <p:cNvSpPr txBox="1"/>
          <p:nvPr/>
        </p:nvSpPr>
        <p:spPr>
          <a:xfrm>
            <a:off x="6278727" y="178308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[7] Pearce, H., et al.: SecurityEval dataset: mining vulnerability examples. MSR4P&amp;S (2022)</a:t>
            </a:r>
          </a:p>
        </p:txBody>
      </p:sp>
      <p:sp>
        <p:nvSpPr>
          <p:cNvPr id="17" name="TextBox 16"/>
          <p:cNvSpPr txBox="1"/>
          <p:nvPr/>
        </p:nvSpPr>
        <p:spPr>
          <a:xfrm>
            <a:off x="6278727" y="228600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[8] MITRE: Common Weakness Enumeration (CWE)  ·  https://cwe.mitre.org</a:t>
            </a:r>
          </a:p>
        </p:txBody>
      </p:sp>
      <p:sp>
        <p:nvSpPr>
          <p:cNvPr id="18" name="TextBox 17"/>
          <p:cNvSpPr txBox="1"/>
          <p:nvPr/>
        </p:nvSpPr>
        <p:spPr>
          <a:xfrm>
            <a:off x="6278727" y="278892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[9] OWASP Foundation: OWASP Top 10  ·  https://owasp.org/Top10</a:t>
            </a:r>
          </a:p>
        </p:txBody>
      </p:sp>
      <p:sp>
        <p:nvSpPr>
          <p:cNvPr id="19" name="TextBox 18"/>
          <p:cNvSpPr txBox="1"/>
          <p:nvPr/>
        </p:nvSpPr>
        <p:spPr>
          <a:xfrm>
            <a:off x="6278727" y="329184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[10] Malfa, E.L., Petrov, A., et al.: A taxonomy of evaluation methods for LLMs. arXiv:2402.13887 (2024)</a:t>
            </a:r>
          </a:p>
        </p:txBody>
      </p:sp>
      <p:sp>
        <p:nvSpPr>
          <p:cNvPr id="20" name="TextBox 19"/>
          <p:cNvSpPr txBox="1"/>
          <p:nvPr/>
        </p:nvSpPr>
        <p:spPr>
          <a:xfrm>
            <a:off x="6278727" y="379476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[11] Ollama: Local LLM serving  ·  https://ollama.com</a:t>
            </a:r>
          </a:p>
        </p:txBody>
      </p:sp>
      <p:sp>
        <p:nvSpPr>
          <p:cNvPr id="21" name="TextBox 20"/>
          <p:cNvSpPr txBox="1"/>
          <p:nvPr/>
        </p:nvSpPr>
        <p:spPr>
          <a:xfrm>
            <a:off x="6278727" y="4297680"/>
            <a:ext cx="5455767" cy="548640"/>
          </a:xfrm>
          <a:prstGeom prst="rect">
            <a:avLst/>
          </a:prstGeom>
          <a:noFill/>
        </p:spPr>
        <p:txBody>
          <a:bodyPr wrap="square" lIns="73152" rIns="73152" tIns="36576" bIns="36576" anchor="t">
            <a:spAutoFit/>
          </a:bodyPr>
          <a:lstStyle/>
          <a:p>
            <a:pPr algn="l"/>
            <a:r>
              <a:rPr sz="1000" b="0" i="1">
                <a:solidFill>
                  <a:srgbClr val="1A1F36"/>
                </a:solidFill>
                <a:latin typeface="Calibri"/>
              </a:rPr>
              <a:t>[12] Microsoft: VS Code Extension API  ·  https://code.visualstudio.com/api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640080"/>
            <a:ext cx="36576" cy="457200"/>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94360"/>
            <a:ext cx="7315200" cy="457200"/>
          </a:xfrm>
          <a:prstGeom prst="rect">
            <a:avLst/>
          </a:prstGeom>
          <a:noFill/>
        </p:spPr>
        <p:txBody>
          <a:bodyPr wrap="square" lIns="73152" rIns="73152" tIns="36576" bIns="36576" anchor="t">
            <a:spAutoFit/>
          </a:bodyPr>
          <a:lstStyle/>
          <a:p>
            <a:pPr algn="l"/>
            <a:r>
              <a:rPr sz="1200" b="1" i="0">
                <a:solidFill>
                  <a:srgbClr val="FFFFFF"/>
                </a:solidFill>
                <a:latin typeface="Calibri"/>
              </a:rPr>
              <a:t>TECHNICAL UNIVERSITY OF CHEMNITZ</a:t>
            </a:r>
          </a:p>
        </p:txBody>
      </p:sp>
      <p:sp>
        <p:nvSpPr>
          <p:cNvPr id="5" name="TextBox 4"/>
          <p:cNvSpPr txBox="1"/>
          <p:nvPr/>
        </p:nvSpPr>
        <p:spPr>
          <a:xfrm>
            <a:off x="777240" y="2011680"/>
            <a:ext cx="5943600" cy="1280160"/>
          </a:xfrm>
          <a:prstGeom prst="rect">
            <a:avLst/>
          </a:prstGeom>
          <a:noFill/>
        </p:spPr>
        <p:txBody>
          <a:bodyPr wrap="square" lIns="73152" rIns="73152" tIns="36576" bIns="36576" anchor="t">
            <a:spAutoFit/>
          </a:bodyPr>
          <a:lstStyle/>
          <a:p>
            <a:pPr algn="l"/>
            <a:r>
              <a:rPr sz="7200" b="1" i="0">
                <a:solidFill>
                  <a:srgbClr val="FFFFFF"/>
                </a:solidFill>
                <a:latin typeface="Calibri"/>
              </a:rPr>
              <a:t>Thank You</a:t>
            </a:r>
          </a:p>
        </p:txBody>
      </p:sp>
      <p:sp>
        <p:nvSpPr>
          <p:cNvPr id="6" name="TextBox 5"/>
          <p:cNvSpPr txBox="1"/>
          <p:nvPr/>
        </p:nvSpPr>
        <p:spPr>
          <a:xfrm>
            <a:off x="777240" y="3383280"/>
            <a:ext cx="5943600" cy="731520"/>
          </a:xfrm>
          <a:prstGeom prst="rect">
            <a:avLst/>
          </a:prstGeom>
          <a:noFill/>
        </p:spPr>
        <p:txBody>
          <a:bodyPr wrap="square" lIns="73152" rIns="73152" tIns="36576" bIns="36576" anchor="t">
            <a:spAutoFit/>
          </a:bodyPr>
          <a:lstStyle/>
          <a:p>
            <a:pPr algn="l"/>
            <a:r>
              <a:rPr sz="3000" b="0" i="0">
                <a:solidFill>
                  <a:srgbClr val="C8D0E0"/>
                </a:solidFill>
                <a:latin typeface="Calibri"/>
              </a:rPr>
              <a:t>Questions &amp; Discussion</a:t>
            </a:r>
          </a:p>
        </p:txBody>
      </p:sp>
      <p:sp>
        <p:nvSpPr>
          <p:cNvPr id="7" name="Rounded Rectangle 6"/>
          <p:cNvSpPr/>
          <p:nvPr/>
        </p:nvSpPr>
        <p:spPr>
          <a:xfrm>
            <a:off x="7772400" y="2194560"/>
            <a:ext cx="3474720" cy="2377440"/>
          </a:xfrm>
          <a:prstGeom prst="roundRect">
            <a:avLst>
              <a:gd name="adj" fmla="val 6000"/>
            </a:avLst>
          </a:prstGeom>
          <a:solidFill>
            <a:srgbClr val="0B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194560"/>
            <a:ext cx="3474720" cy="2377440"/>
          </a:xfrm>
          <a:prstGeom prst="rect">
            <a:avLst/>
          </a:prstGeom>
          <a:noFill/>
        </p:spPr>
        <p:txBody>
          <a:bodyPr wrap="square" lIns="73152" rIns="73152" tIns="36576" bIns="36576" anchor="ctr">
            <a:spAutoFit/>
          </a:bodyPr>
          <a:lstStyle/>
          <a:p>
            <a:pPr algn="ctr"/>
            <a:r>
              <a:rPr sz="14000" b="1" i="0">
                <a:solidFill>
                  <a:srgbClr val="FCA311"/>
                </a:solidFill>
                <a:latin typeface="Calibri"/>
              </a:rPr>
              <a:t>?</a:t>
            </a:r>
          </a:p>
        </p:txBody>
      </p:sp>
      <p:sp>
        <p:nvSpPr>
          <p:cNvPr id="9" name="Rounded Rectangle 8"/>
          <p:cNvSpPr/>
          <p:nvPr/>
        </p:nvSpPr>
        <p:spPr>
          <a:xfrm>
            <a:off x="777240" y="4937760"/>
            <a:ext cx="10637215" cy="777240"/>
          </a:xfrm>
          <a:prstGeom prst="roundRect">
            <a:avLst>
              <a:gd name="adj" fmla="val 6000"/>
            </a:avLst>
          </a:prstGeom>
          <a:solidFill>
            <a:srgbClr val="0B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029200"/>
            <a:ext cx="10362895" cy="274320"/>
          </a:xfrm>
          <a:prstGeom prst="rect">
            <a:avLst/>
          </a:prstGeom>
          <a:noFill/>
        </p:spPr>
        <p:txBody>
          <a:bodyPr wrap="square" lIns="73152" rIns="73152" tIns="36576" bIns="36576" anchor="t">
            <a:spAutoFit/>
          </a:bodyPr>
          <a:lstStyle/>
          <a:p>
            <a:pPr algn="l"/>
            <a:r>
              <a:rPr sz="1000" b="1" i="0">
                <a:solidFill>
                  <a:srgbClr val="FCA311"/>
                </a:solidFill>
                <a:latin typeface="Calibri"/>
              </a:rPr>
              <a:t>HEADLINE</a:t>
            </a:r>
          </a:p>
        </p:txBody>
      </p:sp>
      <p:sp>
        <p:nvSpPr>
          <p:cNvPr id="11" name="TextBox 10"/>
          <p:cNvSpPr txBox="1"/>
          <p:nvPr/>
        </p:nvSpPr>
        <p:spPr>
          <a:xfrm>
            <a:off x="914400" y="5257800"/>
            <a:ext cx="10362895" cy="365760"/>
          </a:xfrm>
          <a:prstGeom prst="rect">
            <a:avLst/>
          </a:prstGeom>
          <a:noFill/>
        </p:spPr>
        <p:txBody>
          <a:bodyPr wrap="square" lIns="73152" rIns="73152" tIns="36576" bIns="36576" anchor="t">
            <a:spAutoFit/>
          </a:bodyPr>
          <a:lstStyle/>
          <a:p>
            <a:pPr algn="l"/>
            <a:r>
              <a:rPr sz="1300" b="1" i="0">
                <a:solidFill>
                  <a:srgbClr val="FFFFFF"/>
                </a:solidFill>
                <a:latin typeface="Calibri"/>
              </a:rPr>
              <a:t>F1 71.43 %   ·   Repair 90.32 % auto-applicable   ·   Latency 2.2 s median   ·   leakFreeRate 100 %</a:t>
            </a:r>
          </a:p>
        </p:txBody>
      </p:sp>
      <p:sp>
        <p:nvSpPr>
          <p:cNvPr id="12" name="TextBox 11"/>
          <p:cNvSpPr txBox="1"/>
          <p:nvPr/>
        </p:nvSpPr>
        <p:spPr>
          <a:xfrm>
            <a:off x="777240" y="5989320"/>
            <a:ext cx="4114800" cy="274320"/>
          </a:xfrm>
          <a:prstGeom prst="rect">
            <a:avLst/>
          </a:prstGeom>
          <a:noFill/>
        </p:spPr>
        <p:txBody>
          <a:bodyPr wrap="square" lIns="73152" rIns="73152" tIns="36576" bIns="36576" anchor="t">
            <a:spAutoFit/>
          </a:bodyPr>
          <a:lstStyle/>
          <a:p>
            <a:pPr algn="l"/>
            <a:r>
              <a:rPr sz="1200" b="1" i="0">
                <a:solidFill>
                  <a:srgbClr val="FFFFFF"/>
                </a:solidFill>
                <a:latin typeface="Calibri"/>
              </a:rPr>
              <a:t>Md Hafizur Rahman</a:t>
            </a:r>
          </a:p>
        </p:txBody>
      </p:sp>
      <p:sp>
        <p:nvSpPr>
          <p:cNvPr id="13" name="TextBox 12"/>
          <p:cNvSpPr txBox="1"/>
          <p:nvPr/>
        </p:nvSpPr>
        <p:spPr>
          <a:xfrm>
            <a:off x="777240" y="6245352"/>
            <a:ext cx="4114800" cy="274320"/>
          </a:xfrm>
          <a:prstGeom prst="rect">
            <a:avLst/>
          </a:prstGeom>
          <a:noFill/>
        </p:spPr>
        <p:txBody>
          <a:bodyPr wrap="square" lIns="73152" rIns="73152" tIns="36576" bIns="36576" anchor="t">
            <a:spAutoFit/>
          </a:bodyPr>
          <a:lstStyle/>
          <a:p>
            <a:pPr algn="l"/>
            <a:r>
              <a:rPr sz="1000" b="0" i="0">
                <a:solidFill>
                  <a:srgbClr val="C8D0E0"/>
                </a:solidFill>
                <a:latin typeface="Calibri"/>
              </a:rPr>
              <a:t>M.Sc. Web Engineering  ·  TU Chemnitz</a:t>
            </a:r>
          </a:p>
        </p:txBody>
      </p:sp>
      <p:sp>
        <p:nvSpPr>
          <p:cNvPr id="14" name="TextBox 13"/>
          <p:cNvSpPr txBox="1"/>
          <p:nvPr/>
        </p:nvSpPr>
        <p:spPr>
          <a:xfrm>
            <a:off x="8686800" y="5989320"/>
            <a:ext cx="3200400" cy="274320"/>
          </a:xfrm>
          <a:prstGeom prst="rect">
            <a:avLst/>
          </a:prstGeom>
          <a:noFill/>
        </p:spPr>
        <p:txBody>
          <a:bodyPr wrap="square" lIns="73152" rIns="73152" tIns="36576" bIns="36576" anchor="t">
            <a:spAutoFit/>
          </a:bodyPr>
          <a:lstStyle/>
          <a:p>
            <a:pPr algn="r"/>
            <a:r>
              <a:rPr sz="1000" b="1" i="0">
                <a:solidFill>
                  <a:srgbClr val="FCA311"/>
                </a:solidFill>
                <a:latin typeface="Calibri"/>
              </a:rPr>
              <a:t>DEFENSE  ·  16.06.2026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A1  ·  Full Per-Model Results  ·  Canonical Taxonomy</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ectangle 9"/>
          <p:cNvSpPr/>
          <p:nvPr/>
        </p:nvSpPr>
        <p:spPr>
          <a:xfrm>
            <a:off x="457200" y="1783080"/>
            <a:ext cx="210312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210312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Configuration</a:t>
            </a:r>
          </a:p>
        </p:txBody>
      </p:sp>
      <p:sp>
        <p:nvSpPr>
          <p:cNvPr id="12" name="Rectangle 11"/>
          <p:cNvSpPr/>
          <p:nvPr/>
        </p:nvSpPr>
        <p:spPr>
          <a:xfrm>
            <a:off x="2560320" y="1783080"/>
            <a:ext cx="86868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0" y="1783080"/>
            <a:ext cx="86868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F1</a:t>
            </a:r>
          </a:p>
        </p:txBody>
      </p:sp>
      <p:sp>
        <p:nvSpPr>
          <p:cNvPr id="14" name="Rectangle 13"/>
          <p:cNvSpPr/>
          <p:nvPr/>
        </p:nvSpPr>
        <p:spPr>
          <a:xfrm>
            <a:off x="3429000" y="1783080"/>
            <a:ext cx="86868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1783080"/>
            <a:ext cx="86868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Prec</a:t>
            </a:r>
          </a:p>
        </p:txBody>
      </p:sp>
      <p:sp>
        <p:nvSpPr>
          <p:cNvPr id="16" name="Rectangle 15"/>
          <p:cNvSpPr/>
          <p:nvPr/>
        </p:nvSpPr>
        <p:spPr>
          <a:xfrm>
            <a:off x="4297680" y="1783080"/>
            <a:ext cx="86868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783080"/>
            <a:ext cx="86868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Recall</a:t>
            </a:r>
          </a:p>
        </p:txBody>
      </p:sp>
      <p:sp>
        <p:nvSpPr>
          <p:cNvPr id="18" name="Rectangle 17"/>
          <p:cNvSpPr/>
          <p:nvPr/>
        </p:nvSpPr>
        <p:spPr>
          <a:xfrm>
            <a:off x="5166360" y="1783080"/>
            <a:ext cx="86868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66360" y="1783080"/>
            <a:ext cx="86868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FPR</a:t>
            </a:r>
          </a:p>
        </p:txBody>
      </p:sp>
      <p:sp>
        <p:nvSpPr>
          <p:cNvPr id="20" name="Rectangle 19"/>
          <p:cNvSpPr/>
          <p:nvPr/>
        </p:nvSpPr>
        <p:spPr>
          <a:xfrm>
            <a:off x="6035040" y="1783080"/>
            <a:ext cx="137160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0" y="1783080"/>
            <a:ext cx="137160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Latency p50</a:t>
            </a:r>
          </a:p>
        </p:txBody>
      </p:sp>
      <p:sp>
        <p:nvSpPr>
          <p:cNvPr id="22" name="Rectangle 21"/>
          <p:cNvSpPr/>
          <p:nvPr/>
        </p:nvSpPr>
        <p:spPr>
          <a:xfrm>
            <a:off x="7406640" y="1783080"/>
            <a:ext cx="868680"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1783080"/>
            <a:ext cx="868680" cy="365760"/>
          </a:xfrm>
          <a:prstGeom prst="rect">
            <a:avLst/>
          </a:prstGeom>
          <a:noFill/>
        </p:spPr>
        <p:txBody>
          <a:bodyPr wrap="square" lIns="73152" rIns="73152" tIns="36576" bIns="36576" anchor="ctr">
            <a:spAutoFit/>
          </a:bodyPr>
          <a:lstStyle/>
          <a:p>
            <a:pPr algn="ctr"/>
            <a:r>
              <a:rPr sz="1000" b="1" i="0">
                <a:solidFill>
                  <a:srgbClr val="FFFFFF"/>
                </a:solidFill>
                <a:latin typeface="Calibri"/>
              </a:rPr>
              <a:t>VRAM</a:t>
            </a:r>
          </a:p>
        </p:txBody>
      </p:sp>
      <p:sp>
        <p:nvSpPr>
          <p:cNvPr id="24" name="Rectangle 23"/>
          <p:cNvSpPr/>
          <p:nvPr/>
        </p:nvSpPr>
        <p:spPr>
          <a:xfrm>
            <a:off x="457200" y="2148840"/>
            <a:ext cx="210312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148840"/>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qwen3:8b + RAG</a:t>
            </a:r>
          </a:p>
        </p:txBody>
      </p:sp>
      <p:sp>
        <p:nvSpPr>
          <p:cNvPr id="26" name="Rectangle 25"/>
          <p:cNvSpPr/>
          <p:nvPr/>
        </p:nvSpPr>
        <p:spPr>
          <a:xfrm>
            <a:off x="2560320" y="2148840"/>
            <a:ext cx="86868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60320" y="2148840"/>
            <a:ext cx="86868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71.43</a:t>
            </a:r>
          </a:p>
        </p:txBody>
      </p:sp>
      <p:sp>
        <p:nvSpPr>
          <p:cNvPr id="28" name="Rectangle 27"/>
          <p:cNvSpPr/>
          <p:nvPr/>
        </p:nvSpPr>
        <p:spPr>
          <a:xfrm>
            <a:off x="3429000" y="2148840"/>
            <a:ext cx="86868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29000" y="2148840"/>
            <a:ext cx="86868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72.46</a:t>
            </a:r>
          </a:p>
        </p:txBody>
      </p:sp>
      <p:sp>
        <p:nvSpPr>
          <p:cNvPr id="30" name="Rectangle 29"/>
          <p:cNvSpPr/>
          <p:nvPr/>
        </p:nvSpPr>
        <p:spPr>
          <a:xfrm>
            <a:off x="4297680" y="2148840"/>
            <a:ext cx="86868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80" y="2148840"/>
            <a:ext cx="86868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70.42</a:t>
            </a:r>
          </a:p>
        </p:txBody>
      </p:sp>
      <p:sp>
        <p:nvSpPr>
          <p:cNvPr id="32" name="Rectangle 31"/>
          <p:cNvSpPr/>
          <p:nvPr/>
        </p:nvSpPr>
        <p:spPr>
          <a:xfrm>
            <a:off x="5166360" y="2148840"/>
            <a:ext cx="86868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66360" y="2148840"/>
            <a:ext cx="86868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10.00</a:t>
            </a:r>
          </a:p>
        </p:txBody>
      </p:sp>
      <p:sp>
        <p:nvSpPr>
          <p:cNvPr id="34" name="Rectangle 33"/>
          <p:cNvSpPr/>
          <p:nvPr/>
        </p:nvSpPr>
        <p:spPr>
          <a:xfrm>
            <a:off x="6035040" y="2148840"/>
            <a:ext cx="137160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2148840"/>
            <a:ext cx="137160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2,216 ms</a:t>
            </a:r>
          </a:p>
        </p:txBody>
      </p:sp>
      <p:sp>
        <p:nvSpPr>
          <p:cNvPr id="36" name="Rectangle 35"/>
          <p:cNvSpPr/>
          <p:nvPr/>
        </p:nvSpPr>
        <p:spPr>
          <a:xfrm>
            <a:off x="7406640" y="2148840"/>
            <a:ext cx="868680" cy="292608"/>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0" y="2148840"/>
            <a:ext cx="868680" cy="292608"/>
          </a:xfrm>
          <a:prstGeom prst="rect">
            <a:avLst/>
          </a:prstGeom>
          <a:noFill/>
        </p:spPr>
        <p:txBody>
          <a:bodyPr wrap="square" lIns="73152" rIns="73152" tIns="36576" bIns="36576" anchor="ctr">
            <a:spAutoFit/>
          </a:bodyPr>
          <a:lstStyle/>
          <a:p>
            <a:pPr algn="ctr"/>
            <a:r>
              <a:rPr sz="950" b="1" i="0">
                <a:solidFill>
                  <a:srgbClr val="0B1428"/>
                </a:solidFill>
                <a:latin typeface="Calibri"/>
              </a:rPr>
              <a:t>~6 GB</a:t>
            </a:r>
          </a:p>
        </p:txBody>
      </p:sp>
      <p:sp>
        <p:nvSpPr>
          <p:cNvPr id="38" name="Rectangle 37"/>
          <p:cNvSpPr/>
          <p:nvPr/>
        </p:nvSpPr>
        <p:spPr>
          <a:xfrm>
            <a:off x="457200" y="2441448"/>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2441448"/>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qwen3:8b (no RAG)</a:t>
            </a:r>
          </a:p>
        </p:txBody>
      </p:sp>
      <p:sp>
        <p:nvSpPr>
          <p:cNvPr id="40" name="Rectangle 39"/>
          <p:cNvSpPr/>
          <p:nvPr/>
        </p:nvSpPr>
        <p:spPr>
          <a:xfrm>
            <a:off x="2560320" y="244144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60320" y="244144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67.52</a:t>
            </a:r>
          </a:p>
        </p:txBody>
      </p:sp>
      <p:sp>
        <p:nvSpPr>
          <p:cNvPr id="42" name="Rectangle 41"/>
          <p:cNvSpPr/>
          <p:nvPr/>
        </p:nvSpPr>
        <p:spPr>
          <a:xfrm>
            <a:off x="3429000" y="244144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29000" y="244144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61.63</a:t>
            </a:r>
          </a:p>
        </p:txBody>
      </p:sp>
      <p:sp>
        <p:nvSpPr>
          <p:cNvPr id="44" name="Rectangle 43"/>
          <p:cNvSpPr/>
          <p:nvPr/>
        </p:nvSpPr>
        <p:spPr>
          <a:xfrm>
            <a:off x="4297680" y="244144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97680" y="244144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74.65</a:t>
            </a:r>
          </a:p>
        </p:txBody>
      </p:sp>
      <p:sp>
        <p:nvSpPr>
          <p:cNvPr id="46" name="Rectangle 45"/>
          <p:cNvSpPr/>
          <p:nvPr/>
        </p:nvSpPr>
        <p:spPr>
          <a:xfrm>
            <a:off x="5166360" y="244144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360" y="244144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50.00</a:t>
            </a:r>
          </a:p>
        </p:txBody>
      </p:sp>
      <p:sp>
        <p:nvSpPr>
          <p:cNvPr id="48" name="Rectangle 47"/>
          <p:cNvSpPr/>
          <p:nvPr/>
        </p:nvSpPr>
        <p:spPr>
          <a:xfrm>
            <a:off x="6035040" y="2441448"/>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035040" y="2441448"/>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1,534 ms</a:t>
            </a:r>
          </a:p>
        </p:txBody>
      </p:sp>
      <p:sp>
        <p:nvSpPr>
          <p:cNvPr id="50" name="Rectangle 49"/>
          <p:cNvSpPr/>
          <p:nvPr/>
        </p:nvSpPr>
        <p:spPr>
          <a:xfrm>
            <a:off x="7406640" y="244144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0" y="244144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 GB</a:t>
            </a:r>
          </a:p>
        </p:txBody>
      </p:sp>
      <p:sp>
        <p:nvSpPr>
          <p:cNvPr id="52" name="Rectangle 51"/>
          <p:cNvSpPr/>
          <p:nvPr/>
        </p:nvSpPr>
        <p:spPr>
          <a:xfrm>
            <a:off x="457200" y="2734056"/>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7200" y="2734056"/>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qwen3:4b + RAG</a:t>
            </a:r>
          </a:p>
        </p:txBody>
      </p:sp>
      <p:sp>
        <p:nvSpPr>
          <p:cNvPr id="54" name="Rectangle 53"/>
          <p:cNvSpPr/>
          <p:nvPr/>
        </p:nvSpPr>
        <p:spPr>
          <a:xfrm>
            <a:off x="2560320" y="273405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560320" y="273405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60.92</a:t>
            </a:r>
          </a:p>
        </p:txBody>
      </p:sp>
      <p:sp>
        <p:nvSpPr>
          <p:cNvPr id="56" name="Rectangle 55"/>
          <p:cNvSpPr/>
          <p:nvPr/>
        </p:nvSpPr>
        <p:spPr>
          <a:xfrm>
            <a:off x="3429000" y="273405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429000" y="273405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51.46</a:t>
            </a:r>
          </a:p>
        </p:txBody>
      </p:sp>
      <p:sp>
        <p:nvSpPr>
          <p:cNvPr id="58" name="Rectangle 57"/>
          <p:cNvSpPr/>
          <p:nvPr/>
        </p:nvSpPr>
        <p:spPr>
          <a:xfrm>
            <a:off x="4297680" y="273405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297680" y="273405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74.65</a:t>
            </a:r>
          </a:p>
        </p:txBody>
      </p:sp>
      <p:sp>
        <p:nvSpPr>
          <p:cNvPr id="60" name="Rectangle 59"/>
          <p:cNvSpPr/>
          <p:nvPr/>
        </p:nvSpPr>
        <p:spPr>
          <a:xfrm>
            <a:off x="5166360" y="273405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66360" y="273405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100.00</a:t>
            </a:r>
          </a:p>
        </p:txBody>
      </p:sp>
      <p:sp>
        <p:nvSpPr>
          <p:cNvPr id="62" name="Rectangle 61"/>
          <p:cNvSpPr/>
          <p:nvPr/>
        </p:nvSpPr>
        <p:spPr>
          <a:xfrm>
            <a:off x="6035040" y="2734056"/>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035040" y="2734056"/>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1,328 ms</a:t>
            </a:r>
          </a:p>
        </p:txBody>
      </p:sp>
      <p:sp>
        <p:nvSpPr>
          <p:cNvPr id="64" name="Rectangle 63"/>
          <p:cNvSpPr/>
          <p:nvPr/>
        </p:nvSpPr>
        <p:spPr>
          <a:xfrm>
            <a:off x="7406640" y="273405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06640" y="273405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 GB</a:t>
            </a:r>
          </a:p>
        </p:txBody>
      </p:sp>
      <p:sp>
        <p:nvSpPr>
          <p:cNvPr id="66" name="Rectangle 65"/>
          <p:cNvSpPr/>
          <p:nvPr/>
        </p:nvSpPr>
        <p:spPr>
          <a:xfrm>
            <a:off x="457200" y="3026664"/>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7200" y="3026664"/>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qwen3:4b (no RAG)</a:t>
            </a:r>
          </a:p>
        </p:txBody>
      </p:sp>
      <p:sp>
        <p:nvSpPr>
          <p:cNvPr id="68" name="Rectangle 67"/>
          <p:cNvSpPr/>
          <p:nvPr/>
        </p:nvSpPr>
        <p:spPr>
          <a:xfrm>
            <a:off x="2560320" y="3026664"/>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0" y="302666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66.14</a:t>
            </a:r>
          </a:p>
        </p:txBody>
      </p:sp>
      <p:sp>
        <p:nvSpPr>
          <p:cNvPr id="70" name="Rectangle 69"/>
          <p:cNvSpPr/>
          <p:nvPr/>
        </p:nvSpPr>
        <p:spPr>
          <a:xfrm>
            <a:off x="3429000" y="3026664"/>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29000" y="302666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56.95</a:t>
            </a:r>
          </a:p>
        </p:txBody>
      </p:sp>
      <p:sp>
        <p:nvSpPr>
          <p:cNvPr id="72" name="Rectangle 71"/>
          <p:cNvSpPr/>
          <p:nvPr/>
        </p:nvSpPr>
        <p:spPr>
          <a:xfrm>
            <a:off x="4297680" y="3026664"/>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97680" y="302666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78.87</a:t>
            </a:r>
          </a:p>
        </p:txBody>
      </p:sp>
      <p:sp>
        <p:nvSpPr>
          <p:cNvPr id="74" name="Rectangle 73"/>
          <p:cNvSpPr/>
          <p:nvPr/>
        </p:nvSpPr>
        <p:spPr>
          <a:xfrm>
            <a:off x="5166360" y="3026664"/>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166360" y="302666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90.00</a:t>
            </a:r>
          </a:p>
        </p:txBody>
      </p:sp>
      <p:sp>
        <p:nvSpPr>
          <p:cNvPr id="76" name="Rectangle 75"/>
          <p:cNvSpPr/>
          <p:nvPr/>
        </p:nvSpPr>
        <p:spPr>
          <a:xfrm>
            <a:off x="6035040" y="3026664"/>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035040" y="3026664"/>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1,305 ms</a:t>
            </a:r>
          </a:p>
        </p:txBody>
      </p:sp>
      <p:sp>
        <p:nvSpPr>
          <p:cNvPr id="78" name="Rectangle 77"/>
          <p:cNvSpPr/>
          <p:nvPr/>
        </p:nvSpPr>
        <p:spPr>
          <a:xfrm>
            <a:off x="7406640" y="3026664"/>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06640" y="302666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 GB</a:t>
            </a:r>
          </a:p>
        </p:txBody>
      </p:sp>
      <p:sp>
        <p:nvSpPr>
          <p:cNvPr id="80" name="Rectangle 79"/>
          <p:cNvSpPr/>
          <p:nvPr/>
        </p:nvSpPr>
        <p:spPr>
          <a:xfrm>
            <a:off x="457200" y="3319272"/>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57200" y="3319272"/>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gemma3:4b + RAG</a:t>
            </a:r>
          </a:p>
        </p:txBody>
      </p:sp>
      <p:sp>
        <p:nvSpPr>
          <p:cNvPr id="82" name="Rectangle 81"/>
          <p:cNvSpPr/>
          <p:nvPr/>
        </p:nvSpPr>
        <p:spPr>
          <a:xfrm>
            <a:off x="2560320" y="3319272"/>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560320" y="331927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57.14</a:t>
            </a:r>
          </a:p>
        </p:txBody>
      </p:sp>
      <p:sp>
        <p:nvSpPr>
          <p:cNvPr id="84" name="Rectangle 83"/>
          <p:cNvSpPr/>
          <p:nvPr/>
        </p:nvSpPr>
        <p:spPr>
          <a:xfrm>
            <a:off x="3429000" y="3319272"/>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429000" y="331927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46.85</a:t>
            </a:r>
          </a:p>
        </p:txBody>
      </p:sp>
      <p:sp>
        <p:nvSpPr>
          <p:cNvPr id="86" name="Rectangle 85"/>
          <p:cNvSpPr/>
          <p:nvPr/>
        </p:nvSpPr>
        <p:spPr>
          <a:xfrm>
            <a:off x="4297680" y="3319272"/>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331927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73.24</a:t>
            </a:r>
          </a:p>
        </p:txBody>
      </p:sp>
      <p:sp>
        <p:nvSpPr>
          <p:cNvPr id="88" name="Rectangle 87"/>
          <p:cNvSpPr/>
          <p:nvPr/>
        </p:nvSpPr>
        <p:spPr>
          <a:xfrm>
            <a:off x="5166360" y="3319272"/>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166360" y="331927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100.00</a:t>
            </a:r>
          </a:p>
        </p:txBody>
      </p:sp>
      <p:sp>
        <p:nvSpPr>
          <p:cNvPr id="90" name="Rectangle 89"/>
          <p:cNvSpPr/>
          <p:nvPr/>
        </p:nvSpPr>
        <p:spPr>
          <a:xfrm>
            <a:off x="6035040" y="3319272"/>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035040" y="3319272"/>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2,077 ms</a:t>
            </a:r>
          </a:p>
        </p:txBody>
      </p:sp>
      <p:sp>
        <p:nvSpPr>
          <p:cNvPr id="92" name="Rectangle 91"/>
          <p:cNvSpPr/>
          <p:nvPr/>
        </p:nvSpPr>
        <p:spPr>
          <a:xfrm>
            <a:off x="7406640" y="3319272"/>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406640" y="331927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 GB</a:t>
            </a:r>
          </a:p>
        </p:txBody>
      </p:sp>
      <p:sp>
        <p:nvSpPr>
          <p:cNvPr id="94" name="Rectangle 93"/>
          <p:cNvSpPr/>
          <p:nvPr/>
        </p:nvSpPr>
        <p:spPr>
          <a:xfrm>
            <a:off x="457200" y="3611880"/>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457200" y="3611880"/>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gemma3:4b (no RAG)</a:t>
            </a:r>
          </a:p>
        </p:txBody>
      </p:sp>
      <p:sp>
        <p:nvSpPr>
          <p:cNvPr id="96" name="Rectangle 95"/>
          <p:cNvSpPr/>
          <p:nvPr/>
        </p:nvSpPr>
        <p:spPr>
          <a:xfrm>
            <a:off x="2560320" y="3611880"/>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560320" y="361188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57.30</a:t>
            </a:r>
          </a:p>
        </p:txBody>
      </p:sp>
      <p:sp>
        <p:nvSpPr>
          <p:cNvPr id="98" name="Rectangle 97"/>
          <p:cNvSpPr/>
          <p:nvPr/>
        </p:nvSpPr>
        <p:spPr>
          <a:xfrm>
            <a:off x="3429000" y="3611880"/>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3429000" y="361188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46.49</a:t>
            </a:r>
          </a:p>
        </p:txBody>
      </p:sp>
      <p:sp>
        <p:nvSpPr>
          <p:cNvPr id="100" name="Rectangle 99"/>
          <p:cNvSpPr/>
          <p:nvPr/>
        </p:nvSpPr>
        <p:spPr>
          <a:xfrm>
            <a:off x="4297680" y="3611880"/>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297680" y="361188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74.65</a:t>
            </a:r>
          </a:p>
        </p:txBody>
      </p:sp>
      <p:sp>
        <p:nvSpPr>
          <p:cNvPr id="102" name="Rectangle 101"/>
          <p:cNvSpPr/>
          <p:nvPr/>
        </p:nvSpPr>
        <p:spPr>
          <a:xfrm>
            <a:off x="5166360" y="3611880"/>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166360" y="361188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100.00</a:t>
            </a:r>
          </a:p>
        </p:txBody>
      </p:sp>
      <p:sp>
        <p:nvSpPr>
          <p:cNvPr id="104" name="Rectangle 103"/>
          <p:cNvSpPr/>
          <p:nvPr/>
        </p:nvSpPr>
        <p:spPr>
          <a:xfrm>
            <a:off x="6035040" y="3611880"/>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035040" y="3611880"/>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2,550 ms</a:t>
            </a:r>
          </a:p>
        </p:txBody>
      </p:sp>
      <p:sp>
        <p:nvSpPr>
          <p:cNvPr id="106" name="Rectangle 105"/>
          <p:cNvSpPr/>
          <p:nvPr/>
        </p:nvSpPr>
        <p:spPr>
          <a:xfrm>
            <a:off x="7406640" y="3611880"/>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406640" y="361188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 GB</a:t>
            </a:r>
          </a:p>
        </p:txBody>
      </p:sp>
      <p:sp>
        <p:nvSpPr>
          <p:cNvPr id="108" name="Rectangle 107"/>
          <p:cNvSpPr/>
          <p:nvPr/>
        </p:nvSpPr>
        <p:spPr>
          <a:xfrm>
            <a:off x="457200" y="3904488"/>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57200" y="3904488"/>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gemma3:1b + RAG</a:t>
            </a:r>
          </a:p>
        </p:txBody>
      </p:sp>
      <p:sp>
        <p:nvSpPr>
          <p:cNvPr id="110" name="Rectangle 109"/>
          <p:cNvSpPr/>
          <p:nvPr/>
        </p:nvSpPr>
        <p:spPr>
          <a:xfrm>
            <a:off x="2560320" y="3904488"/>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560320" y="390448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36.02</a:t>
            </a:r>
          </a:p>
        </p:txBody>
      </p:sp>
      <p:sp>
        <p:nvSpPr>
          <p:cNvPr id="112" name="Rectangle 111"/>
          <p:cNvSpPr/>
          <p:nvPr/>
        </p:nvSpPr>
        <p:spPr>
          <a:xfrm>
            <a:off x="3429000" y="3904488"/>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3429000" y="390448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32.22</a:t>
            </a:r>
          </a:p>
        </p:txBody>
      </p:sp>
      <p:sp>
        <p:nvSpPr>
          <p:cNvPr id="114" name="Rectangle 113"/>
          <p:cNvSpPr/>
          <p:nvPr/>
        </p:nvSpPr>
        <p:spPr>
          <a:xfrm>
            <a:off x="4297680" y="3904488"/>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4297680" y="390448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40.85</a:t>
            </a:r>
          </a:p>
        </p:txBody>
      </p:sp>
      <p:sp>
        <p:nvSpPr>
          <p:cNvPr id="116" name="Rectangle 115"/>
          <p:cNvSpPr/>
          <p:nvPr/>
        </p:nvSpPr>
        <p:spPr>
          <a:xfrm>
            <a:off x="5166360" y="3904488"/>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166360" y="390448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23.33</a:t>
            </a:r>
          </a:p>
        </p:txBody>
      </p:sp>
      <p:sp>
        <p:nvSpPr>
          <p:cNvPr id="118" name="Rectangle 117"/>
          <p:cNvSpPr/>
          <p:nvPr/>
        </p:nvSpPr>
        <p:spPr>
          <a:xfrm>
            <a:off x="6035040" y="3904488"/>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035040" y="3904488"/>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1,019 ms</a:t>
            </a:r>
          </a:p>
        </p:txBody>
      </p:sp>
      <p:sp>
        <p:nvSpPr>
          <p:cNvPr id="120" name="Rectangle 119"/>
          <p:cNvSpPr/>
          <p:nvPr/>
        </p:nvSpPr>
        <p:spPr>
          <a:xfrm>
            <a:off x="7406640" y="3904488"/>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7406640" y="390448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 GB</a:t>
            </a:r>
          </a:p>
        </p:txBody>
      </p:sp>
      <p:sp>
        <p:nvSpPr>
          <p:cNvPr id="122" name="Rectangle 121"/>
          <p:cNvSpPr/>
          <p:nvPr/>
        </p:nvSpPr>
        <p:spPr>
          <a:xfrm>
            <a:off x="457200" y="4197096"/>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57200" y="4197096"/>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gemma3:1b (no RAG)</a:t>
            </a:r>
          </a:p>
        </p:txBody>
      </p:sp>
      <p:sp>
        <p:nvSpPr>
          <p:cNvPr id="124" name="Rectangle 123"/>
          <p:cNvSpPr/>
          <p:nvPr/>
        </p:nvSpPr>
        <p:spPr>
          <a:xfrm>
            <a:off x="2560320" y="4197096"/>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2560320" y="419709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36.65</a:t>
            </a:r>
          </a:p>
        </p:txBody>
      </p:sp>
      <p:sp>
        <p:nvSpPr>
          <p:cNvPr id="126" name="Rectangle 125"/>
          <p:cNvSpPr/>
          <p:nvPr/>
        </p:nvSpPr>
        <p:spPr>
          <a:xfrm>
            <a:off x="3429000" y="4197096"/>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3429000" y="419709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29.17</a:t>
            </a:r>
          </a:p>
        </p:txBody>
      </p:sp>
      <p:sp>
        <p:nvSpPr>
          <p:cNvPr id="128" name="Rectangle 127"/>
          <p:cNvSpPr/>
          <p:nvPr/>
        </p:nvSpPr>
        <p:spPr>
          <a:xfrm>
            <a:off x="4297680" y="4197096"/>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4297680" y="419709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49.30</a:t>
            </a:r>
          </a:p>
        </p:txBody>
      </p:sp>
      <p:sp>
        <p:nvSpPr>
          <p:cNvPr id="130" name="Rectangle 129"/>
          <p:cNvSpPr/>
          <p:nvPr/>
        </p:nvSpPr>
        <p:spPr>
          <a:xfrm>
            <a:off x="5166360" y="4197096"/>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66360" y="419709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53.33</a:t>
            </a:r>
          </a:p>
        </p:txBody>
      </p:sp>
      <p:sp>
        <p:nvSpPr>
          <p:cNvPr id="132" name="Rectangle 131"/>
          <p:cNvSpPr/>
          <p:nvPr/>
        </p:nvSpPr>
        <p:spPr>
          <a:xfrm>
            <a:off x="6035040" y="4197096"/>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035040" y="4197096"/>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1,215 ms</a:t>
            </a:r>
          </a:p>
        </p:txBody>
      </p:sp>
      <p:sp>
        <p:nvSpPr>
          <p:cNvPr id="134" name="Rectangle 133"/>
          <p:cNvSpPr/>
          <p:nvPr/>
        </p:nvSpPr>
        <p:spPr>
          <a:xfrm>
            <a:off x="7406640" y="4197096"/>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7406640" y="419709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 GB</a:t>
            </a:r>
          </a:p>
        </p:txBody>
      </p:sp>
      <p:sp>
        <p:nvSpPr>
          <p:cNvPr id="136" name="Rectangle 135"/>
          <p:cNvSpPr/>
          <p:nvPr/>
        </p:nvSpPr>
        <p:spPr>
          <a:xfrm>
            <a:off x="457200" y="4489704"/>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457200" y="4489704"/>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codellama + RAG</a:t>
            </a:r>
          </a:p>
        </p:txBody>
      </p:sp>
      <p:sp>
        <p:nvSpPr>
          <p:cNvPr id="138" name="Rectangle 137"/>
          <p:cNvSpPr/>
          <p:nvPr/>
        </p:nvSpPr>
        <p:spPr>
          <a:xfrm>
            <a:off x="2560320" y="4489704"/>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2560320" y="448970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23.17</a:t>
            </a:r>
          </a:p>
        </p:txBody>
      </p:sp>
      <p:sp>
        <p:nvSpPr>
          <p:cNvPr id="140" name="Rectangle 139"/>
          <p:cNvSpPr/>
          <p:nvPr/>
        </p:nvSpPr>
        <p:spPr>
          <a:xfrm>
            <a:off x="3429000" y="4489704"/>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3429000" y="448970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14.79</a:t>
            </a:r>
          </a:p>
        </p:txBody>
      </p:sp>
      <p:sp>
        <p:nvSpPr>
          <p:cNvPr id="142" name="Rectangle 141"/>
          <p:cNvSpPr/>
          <p:nvPr/>
        </p:nvSpPr>
        <p:spPr>
          <a:xfrm>
            <a:off x="4297680" y="4489704"/>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4297680" y="448970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53.52</a:t>
            </a:r>
          </a:p>
        </p:txBody>
      </p:sp>
      <p:sp>
        <p:nvSpPr>
          <p:cNvPr id="144" name="Rectangle 143"/>
          <p:cNvSpPr/>
          <p:nvPr/>
        </p:nvSpPr>
        <p:spPr>
          <a:xfrm>
            <a:off x="5166360" y="4489704"/>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166360" y="448970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100.00</a:t>
            </a:r>
          </a:p>
        </p:txBody>
      </p:sp>
      <p:sp>
        <p:nvSpPr>
          <p:cNvPr id="146" name="Rectangle 145"/>
          <p:cNvSpPr/>
          <p:nvPr/>
        </p:nvSpPr>
        <p:spPr>
          <a:xfrm>
            <a:off x="6035040" y="4489704"/>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035040" y="4489704"/>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3,529 ms</a:t>
            </a:r>
          </a:p>
        </p:txBody>
      </p:sp>
      <p:sp>
        <p:nvSpPr>
          <p:cNvPr id="148" name="Rectangle 147"/>
          <p:cNvSpPr/>
          <p:nvPr/>
        </p:nvSpPr>
        <p:spPr>
          <a:xfrm>
            <a:off x="7406640" y="4489704"/>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406640" y="4489704"/>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 GB</a:t>
            </a:r>
          </a:p>
        </p:txBody>
      </p:sp>
      <p:sp>
        <p:nvSpPr>
          <p:cNvPr id="150" name="Rectangle 149"/>
          <p:cNvSpPr/>
          <p:nvPr/>
        </p:nvSpPr>
        <p:spPr>
          <a:xfrm>
            <a:off x="457200" y="4782312"/>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57200" y="4782312"/>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codellama (no RAG)</a:t>
            </a:r>
          </a:p>
        </p:txBody>
      </p:sp>
      <p:sp>
        <p:nvSpPr>
          <p:cNvPr id="152" name="Rectangle 151"/>
          <p:cNvSpPr/>
          <p:nvPr/>
        </p:nvSpPr>
        <p:spPr>
          <a:xfrm>
            <a:off x="2560320" y="4782312"/>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2560320" y="478231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53.06</a:t>
            </a:r>
          </a:p>
        </p:txBody>
      </p:sp>
      <p:sp>
        <p:nvSpPr>
          <p:cNvPr id="154" name="Rectangle 153"/>
          <p:cNvSpPr/>
          <p:nvPr/>
        </p:nvSpPr>
        <p:spPr>
          <a:xfrm>
            <a:off x="3429000" y="4782312"/>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429000" y="478231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41.60</a:t>
            </a:r>
          </a:p>
        </p:txBody>
      </p:sp>
      <p:sp>
        <p:nvSpPr>
          <p:cNvPr id="156" name="Rectangle 155"/>
          <p:cNvSpPr/>
          <p:nvPr/>
        </p:nvSpPr>
        <p:spPr>
          <a:xfrm>
            <a:off x="4297680" y="4782312"/>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4297680" y="478231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73.24</a:t>
            </a:r>
          </a:p>
        </p:txBody>
      </p:sp>
      <p:sp>
        <p:nvSpPr>
          <p:cNvPr id="158" name="Rectangle 157"/>
          <p:cNvSpPr/>
          <p:nvPr/>
        </p:nvSpPr>
        <p:spPr>
          <a:xfrm>
            <a:off x="5166360" y="4782312"/>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5166360" y="478231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100.00</a:t>
            </a:r>
          </a:p>
        </p:txBody>
      </p:sp>
      <p:sp>
        <p:nvSpPr>
          <p:cNvPr id="160" name="Rectangle 159"/>
          <p:cNvSpPr/>
          <p:nvPr/>
        </p:nvSpPr>
        <p:spPr>
          <a:xfrm>
            <a:off x="6035040" y="4782312"/>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035040" y="4782312"/>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2,024 ms</a:t>
            </a:r>
          </a:p>
        </p:txBody>
      </p:sp>
      <p:sp>
        <p:nvSpPr>
          <p:cNvPr id="162" name="Rectangle 161"/>
          <p:cNvSpPr/>
          <p:nvPr/>
        </p:nvSpPr>
        <p:spPr>
          <a:xfrm>
            <a:off x="7406640" y="4782312"/>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7406640" y="4782312"/>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 GB</a:t>
            </a:r>
          </a:p>
        </p:txBody>
      </p:sp>
      <p:sp>
        <p:nvSpPr>
          <p:cNvPr id="164" name="Rectangle 163"/>
          <p:cNvSpPr/>
          <p:nvPr/>
        </p:nvSpPr>
        <p:spPr>
          <a:xfrm>
            <a:off x="457200" y="5074920"/>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457200" y="5074920"/>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Semgrep (SAST)</a:t>
            </a:r>
          </a:p>
        </p:txBody>
      </p:sp>
      <p:sp>
        <p:nvSpPr>
          <p:cNvPr id="166" name="Rectangle 165"/>
          <p:cNvSpPr/>
          <p:nvPr/>
        </p:nvSpPr>
        <p:spPr>
          <a:xfrm>
            <a:off x="2560320" y="5074920"/>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2560320" y="507492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20.22</a:t>
            </a:r>
          </a:p>
        </p:txBody>
      </p:sp>
      <p:sp>
        <p:nvSpPr>
          <p:cNvPr id="168" name="Rectangle 167"/>
          <p:cNvSpPr/>
          <p:nvPr/>
        </p:nvSpPr>
        <p:spPr>
          <a:xfrm>
            <a:off x="3429000" y="5074920"/>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429000" y="507492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50.00</a:t>
            </a:r>
          </a:p>
        </p:txBody>
      </p:sp>
      <p:sp>
        <p:nvSpPr>
          <p:cNvPr id="170" name="Rectangle 169"/>
          <p:cNvSpPr/>
          <p:nvPr/>
        </p:nvSpPr>
        <p:spPr>
          <a:xfrm>
            <a:off x="4297680" y="5074920"/>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7680" y="507492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12.68</a:t>
            </a:r>
          </a:p>
        </p:txBody>
      </p:sp>
      <p:sp>
        <p:nvSpPr>
          <p:cNvPr id="172" name="Rectangle 171"/>
          <p:cNvSpPr/>
          <p:nvPr/>
        </p:nvSpPr>
        <p:spPr>
          <a:xfrm>
            <a:off x="5166360" y="5074920"/>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5166360" y="507492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6.67</a:t>
            </a:r>
          </a:p>
        </p:txBody>
      </p:sp>
      <p:sp>
        <p:nvSpPr>
          <p:cNvPr id="174" name="Rectangle 173"/>
          <p:cNvSpPr/>
          <p:nvPr/>
        </p:nvSpPr>
        <p:spPr>
          <a:xfrm>
            <a:off x="6035040" y="5074920"/>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035040" y="5074920"/>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63 ms</a:t>
            </a:r>
          </a:p>
        </p:txBody>
      </p:sp>
      <p:sp>
        <p:nvSpPr>
          <p:cNvPr id="176" name="Rectangle 175"/>
          <p:cNvSpPr/>
          <p:nvPr/>
        </p:nvSpPr>
        <p:spPr>
          <a:xfrm>
            <a:off x="7406640" y="5074920"/>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406640" y="5074920"/>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n/a</a:t>
            </a:r>
          </a:p>
        </p:txBody>
      </p:sp>
      <p:sp>
        <p:nvSpPr>
          <p:cNvPr id="178" name="Rectangle 177"/>
          <p:cNvSpPr/>
          <p:nvPr/>
        </p:nvSpPr>
        <p:spPr>
          <a:xfrm>
            <a:off x="457200" y="5367528"/>
            <a:ext cx="210312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57200" y="5367528"/>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CodeQL (SAST)</a:t>
            </a:r>
          </a:p>
        </p:txBody>
      </p:sp>
      <p:sp>
        <p:nvSpPr>
          <p:cNvPr id="180" name="Rectangle 179"/>
          <p:cNvSpPr/>
          <p:nvPr/>
        </p:nvSpPr>
        <p:spPr>
          <a:xfrm>
            <a:off x="2560320" y="536752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2560320" y="536752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10.85</a:t>
            </a:r>
          </a:p>
        </p:txBody>
      </p:sp>
      <p:sp>
        <p:nvSpPr>
          <p:cNvPr id="182" name="Rectangle 181"/>
          <p:cNvSpPr/>
          <p:nvPr/>
        </p:nvSpPr>
        <p:spPr>
          <a:xfrm>
            <a:off x="3429000" y="536752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3429000" y="536752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12.07</a:t>
            </a:r>
          </a:p>
        </p:txBody>
      </p:sp>
      <p:sp>
        <p:nvSpPr>
          <p:cNvPr id="184" name="Rectangle 183"/>
          <p:cNvSpPr/>
          <p:nvPr/>
        </p:nvSpPr>
        <p:spPr>
          <a:xfrm>
            <a:off x="4297680" y="536752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4297680" y="536752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9.86</a:t>
            </a:r>
          </a:p>
        </p:txBody>
      </p:sp>
      <p:sp>
        <p:nvSpPr>
          <p:cNvPr id="186" name="Rectangle 185"/>
          <p:cNvSpPr/>
          <p:nvPr/>
        </p:nvSpPr>
        <p:spPr>
          <a:xfrm>
            <a:off x="5166360" y="536752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5166360" y="536752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53.33</a:t>
            </a:r>
          </a:p>
        </p:txBody>
      </p:sp>
      <p:sp>
        <p:nvSpPr>
          <p:cNvPr id="188" name="Rectangle 187"/>
          <p:cNvSpPr/>
          <p:nvPr/>
        </p:nvSpPr>
        <p:spPr>
          <a:xfrm>
            <a:off x="6035040" y="5367528"/>
            <a:ext cx="137160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6035040" y="5367528"/>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182 ms</a:t>
            </a:r>
          </a:p>
        </p:txBody>
      </p:sp>
      <p:sp>
        <p:nvSpPr>
          <p:cNvPr id="190" name="Rectangle 189"/>
          <p:cNvSpPr/>
          <p:nvPr/>
        </p:nvSpPr>
        <p:spPr>
          <a:xfrm>
            <a:off x="7406640" y="5367528"/>
            <a:ext cx="868680" cy="29260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7406640" y="5367528"/>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n/a</a:t>
            </a:r>
          </a:p>
        </p:txBody>
      </p:sp>
      <p:sp>
        <p:nvSpPr>
          <p:cNvPr id="192" name="Rectangle 191"/>
          <p:cNvSpPr/>
          <p:nvPr/>
        </p:nvSpPr>
        <p:spPr>
          <a:xfrm>
            <a:off x="457200" y="5660136"/>
            <a:ext cx="210312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457200" y="5660136"/>
            <a:ext cx="2103120" cy="292608"/>
          </a:xfrm>
          <a:prstGeom prst="rect">
            <a:avLst/>
          </a:prstGeom>
          <a:noFill/>
        </p:spPr>
        <p:txBody>
          <a:bodyPr wrap="square" lIns="73152" rIns="73152" tIns="36576" bIns="36576" anchor="ctr">
            <a:spAutoFit/>
          </a:bodyPr>
          <a:lstStyle/>
          <a:p>
            <a:pPr algn="l"/>
            <a:r>
              <a:rPr sz="950" b="1" i="0">
                <a:solidFill>
                  <a:srgbClr val="0B1428"/>
                </a:solidFill>
                <a:latin typeface="Calibri"/>
              </a:rPr>
              <a:t>ESLint-security</a:t>
            </a:r>
          </a:p>
        </p:txBody>
      </p:sp>
      <p:sp>
        <p:nvSpPr>
          <p:cNvPr id="194" name="Rectangle 193"/>
          <p:cNvSpPr/>
          <p:nvPr/>
        </p:nvSpPr>
        <p:spPr>
          <a:xfrm>
            <a:off x="2560320" y="566013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2560320" y="566013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0.00</a:t>
            </a:r>
          </a:p>
        </p:txBody>
      </p:sp>
      <p:sp>
        <p:nvSpPr>
          <p:cNvPr id="196" name="Rectangle 195"/>
          <p:cNvSpPr/>
          <p:nvPr/>
        </p:nvSpPr>
        <p:spPr>
          <a:xfrm>
            <a:off x="3429000" y="566013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3429000" y="566013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0.00</a:t>
            </a:r>
          </a:p>
        </p:txBody>
      </p:sp>
      <p:sp>
        <p:nvSpPr>
          <p:cNvPr id="198" name="Rectangle 197"/>
          <p:cNvSpPr/>
          <p:nvPr/>
        </p:nvSpPr>
        <p:spPr>
          <a:xfrm>
            <a:off x="4297680" y="566013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4297680" y="566013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0.00</a:t>
            </a:r>
          </a:p>
        </p:txBody>
      </p:sp>
      <p:sp>
        <p:nvSpPr>
          <p:cNvPr id="200" name="Rectangle 199"/>
          <p:cNvSpPr/>
          <p:nvPr/>
        </p:nvSpPr>
        <p:spPr>
          <a:xfrm>
            <a:off x="5166360" y="566013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5166360" y="566013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0.00</a:t>
            </a:r>
          </a:p>
        </p:txBody>
      </p:sp>
      <p:sp>
        <p:nvSpPr>
          <p:cNvPr id="202" name="Rectangle 201"/>
          <p:cNvSpPr/>
          <p:nvPr/>
        </p:nvSpPr>
        <p:spPr>
          <a:xfrm>
            <a:off x="6035040" y="5660136"/>
            <a:ext cx="137160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6035040" y="5660136"/>
            <a:ext cx="137160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1 ms</a:t>
            </a:r>
          </a:p>
        </p:txBody>
      </p:sp>
      <p:sp>
        <p:nvSpPr>
          <p:cNvPr id="204" name="Rectangle 203"/>
          <p:cNvSpPr/>
          <p:nvPr/>
        </p:nvSpPr>
        <p:spPr>
          <a:xfrm>
            <a:off x="7406640" y="5660136"/>
            <a:ext cx="868680" cy="29260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7406640" y="5660136"/>
            <a:ext cx="868680" cy="292608"/>
          </a:xfrm>
          <a:prstGeom prst="rect">
            <a:avLst/>
          </a:prstGeom>
          <a:noFill/>
        </p:spPr>
        <p:txBody>
          <a:bodyPr wrap="square" lIns="73152" rIns="73152" tIns="36576" bIns="36576" anchor="ctr">
            <a:spAutoFit/>
          </a:bodyPr>
          <a:lstStyle/>
          <a:p>
            <a:pPr algn="ctr"/>
            <a:r>
              <a:rPr sz="950" b="0" i="0">
                <a:solidFill>
                  <a:srgbClr val="0B1428"/>
                </a:solidFill>
                <a:latin typeface="Calibri"/>
              </a:rPr>
              <a:t>n/a</a:t>
            </a:r>
          </a:p>
        </p:txBody>
      </p:sp>
      <p:sp>
        <p:nvSpPr>
          <p:cNvPr id="206" name="TextBox 205"/>
          <p:cNvSpPr txBox="1"/>
          <p:nvPr/>
        </p:nvSpPr>
        <p:spPr>
          <a:xfrm>
            <a:off x="457200" y="5998464"/>
            <a:ext cx="11277295" cy="274320"/>
          </a:xfrm>
          <a:prstGeom prst="rect">
            <a:avLst/>
          </a:prstGeom>
          <a:noFill/>
        </p:spPr>
        <p:txBody>
          <a:bodyPr wrap="square" lIns="73152" rIns="73152" tIns="36576" bIns="36576" anchor="t">
            <a:spAutoFit/>
          </a:bodyPr>
          <a:lstStyle/>
          <a:p>
            <a:pPr algn="l"/>
            <a:r>
              <a:rPr sz="900" b="0" i="1">
                <a:solidFill>
                  <a:srgbClr val="5B657A"/>
                </a:solidFill>
                <a:latin typeface="Calibri"/>
              </a:rPr>
              <a:t>qwen3:8b + RAG headline uses phase1-b3 canonical run; all others use canonical-taxonomy ablation. p95 latencies in source JSON.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A2  ·  Confusion Matrices  ·  qwen3:8b + RAG</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457200" y="1783080"/>
            <a:ext cx="5455767" cy="347472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4998567" cy="365760"/>
          </a:xfrm>
          <a:prstGeom prst="rect">
            <a:avLst/>
          </a:prstGeom>
          <a:noFill/>
        </p:spPr>
        <p:txBody>
          <a:bodyPr wrap="square" lIns="73152" rIns="73152" tIns="36576" bIns="36576" anchor="t">
            <a:spAutoFit/>
          </a:bodyPr>
          <a:lstStyle/>
          <a:p>
            <a:pPr algn="l"/>
            <a:r>
              <a:rPr sz="1400" b="1" i="0">
                <a:solidFill>
                  <a:srgbClr val="14213D"/>
                </a:solidFill>
                <a:latin typeface="Calibri"/>
              </a:rPr>
              <a:t>Full corpus  (n = 101)  ·  case-level majority</a:t>
            </a:r>
          </a:p>
        </p:txBody>
      </p:sp>
      <p:sp>
        <p:nvSpPr>
          <p:cNvPr id="12" name="TextBox 11"/>
          <p:cNvSpPr txBox="1"/>
          <p:nvPr/>
        </p:nvSpPr>
        <p:spPr>
          <a:xfrm>
            <a:off x="1005840" y="2331720"/>
            <a:ext cx="2179243" cy="274320"/>
          </a:xfrm>
          <a:prstGeom prst="rect">
            <a:avLst/>
          </a:prstGeom>
          <a:noFill/>
        </p:spPr>
        <p:txBody>
          <a:bodyPr wrap="square" lIns="73152" rIns="73152" tIns="36576" bIns="36576" anchor="t">
            <a:spAutoFit/>
          </a:bodyPr>
          <a:lstStyle/>
          <a:p>
            <a:pPr algn="ctr"/>
            <a:r>
              <a:rPr sz="1000" b="1" i="0">
                <a:solidFill>
                  <a:srgbClr val="5B657A"/>
                </a:solidFill>
                <a:latin typeface="Calibri"/>
              </a:rPr>
              <a:t>Predicted: Vuln</a:t>
            </a:r>
          </a:p>
        </p:txBody>
      </p:sp>
      <p:sp>
        <p:nvSpPr>
          <p:cNvPr id="13" name="TextBox 12"/>
          <p:cNvSpPr txBox="1"/>
          <p:nvPr/>
        </p:nvSpPr>
        <p:spPr>
          <a:xfrm>
            <a:off x="3185083" y="2331720"/>
            <a:ext cx="2179243" cy="274320"/>
          </a:xfrm>
          <a:prstGeom prst="rect">
            <a:avLst/>
          </a:prstGeom>
          <a:noFill/>
        </p:spPr>
        <p:txBody>
          <a:bodyPr wrap="square" lIns="73152" rIns="73152" tIns="36576" bIns="36576" anchor="t">
            <a:spAutoFit/>
          </a:bodyPr>
          <a:lstStyle/>
          <a:p>
            <a:pPr algn="ctr"/>
            <a:r>
              <a:rPr sz="1000" b="1" i="0">
                <a:solidFill>
                  <a:srgbClr val="5B657A"/>
                </a:solidFill>
                <a:latin typeface="Calibri"/>
              </a:rPr>
              <a:t>Predicted: Safe</a:t>
            </a:r>
          </a:p>
        </p:txBody>
      </p:sp>
      <p:sp>
        <p:nvSpPr>
          <p:cNvPr id="14" name="TextBox 13"/>
          <p:cNvSpPr txBox="1"/>
          <p:nvPr/>
        </p:nvSpPr>
        <p:spPr>
          <a:xfrm>
            <a:off x="502920" y="2651760"/>
            <a:ext cx="502920" cy="914400"/>
          </a:xfrm>
          <a:prstGeom prst="rect">
            <a:avLst/>
          </a:prstGeom>
          <a:noFill/>
        </p:spPr>
        <p:txBody>
          <a:bodyPr wrap="square" lIns="73152" rIns="73152" tIns="36576" bIns="36576" anchor="ctr">
            <a:spAutoFit/>
          </a:bodyPr>
          <a:lstStyle/>
          <a:p>
            <a:pPr algn="ctr"/>
            <a:r>
              <a:rPr sz="1000" b="1" i="0">
                <a:solidFill>
                  <a:srgbClr val="5B657A"/>
                </a:solidFill>
                <a:latin typeface="Calibri"/>
              </a:rPr>
              <a:t>Actual</a:t>
            </a:r>
          </a:p>
          <a:p>
            <a:pPr algn="ctr"/>
            <a:r>
              <a:rPr sz="1000" b="1" i="0">
                <a:solidFill>
                  <a:srgbClr val="5B657A"/>
                </a:solidFill>
                <a:latin typeface="Calibri"/>
              </a:rPr>
              <a:t>Vuln</a:t>
            </a:r>
          </a:p>
        </p:txBody>
      </p:sp>
      <p:sp>
        <p:nvSpPr>
          <p:cNvPr id="15" name="TextBox 14"/>
          <p:cNvSpPr txBox="1"/>
          <p:nvPr/>
        </p:nvSpPr>
        <p:spPr>
          <a:xfrm>
            <a:off x="502920" y="3566160"/>
            <a:ext cx="502920" cy="914400"/>
          </a:xfrm>
          <a:prstGeom prst="rect">
            <a:avLst/>
          </a:prstGeom>
          <a:noFill/>
        </p:spPr>
        <p:txBody>
          <a:bodyPr wrap="square" lIns="73152" rIns="73152" tIns="36576" bIns="36576" anchor="ctr">
            <a:spAutoFit/>
          </a:bodyPr>
          <a:lstStyle/>
          <a:p>
            <a:pPr algn="ctr"/>
            <a:r>
              <a:rPr sz="1000" b="1" i="0">
                <a:solidFill>
                  <a:srgbClr val="5B657A"/>
                </a:solidFill>
                <a:latin typeface="Calibri"/>
              </a:rPr>
              <a:t>Actual</a:t>
            </a:r>
          </a:p>
          <a:p>
            <a:pPr algn="ctr"/>
            <a:r>
              <a:rPr sz="1000" b="1" i="0">
                <a:solidFill>
                  <a:srgbClr val="5B657A"/>
                </a:solidFill>
                <a:latin typeface="Calibri"/>
              </a:rPr>
              <a:t>Safe</a:t>
            </a:r>
          </a:p>
        </p:txBody>
      </p:sp>
      <p:sp>
        <p:nvSpPr>
          <p:cNvPr id="16" name="Rectangle 15"/>
          <p:cNvSpPr/>
          <p:nvPr/>
        </p:nvSpPr>
        <p:spPr>
          <a:xfrm>
            <a:off x="1005840" y="2651760"/>
            <a:ext cx="2179243" cy="914400"/>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6974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50</a:t>
            </a:r>
          </a:p>
        </p:txBody>
      </p:sp>
      <p:sp>
        <p:nvSpPr>
          <p:cNvPr id="18" name="TextBox 17"/>
          <p:cNvSpPr txBox="1"/>
          <p:nvPr/>
        </p:nvSpPr>
        <p:spPr>
          <a:xfrm>
            <a:off x="1005840" y="31546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TP</a:t>
            </a:r>
          </a:p>
        </p:txBody>
      </p:sp>
      <p:sp>
        <p:nvSpPr>
          <p:cNvPr id="19" name="Rectangle 18"/>
          <p:cNvSpPr/>
          <p:nvPr/>
        </p:nvSpPr>
        <p:spPr>
          <a:xfrm>
            <a:off x="3185083" y="2651760"/>
            <a:ext cx="2179243" cy="914400"/>
          </a:xfrm>
          <a:prstGeom prst="rect">
            <a:avLst/>
          </a:prstGeom>
          <a:solidFill>
            <a:srgbClr val="F9E6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85083" y="26974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21</a:t>
            </a:r>
          </a:p>
        </p:txBody>
      </p:sp>
      <p:sp>
        <p:nvSpPr>
          <p:cNvPr id="21" name="TextBox 20"/>
          <p:cNvSpPr txBox="1"/>
          <p:nvPr/>
        </p:nvSpPr>
        <p:spPr>
          <a:xfrm>
            <a:off x="3185083" y="31546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FN</a:t>
            </a:r>
          </a:p>
        </p:txBody>
      </p:sp>
      <p:sp>
        <p:nvSpPr>
          <p:cNvPr id="22" name="Rectangle 21"/>
          <p:cNvSpPr/>
          <p:nvPr/>
        </p:nvSpPr>
        <p:spPr>
          <a:xfrm>
            <a:off x="1005840" y="3566160"/>
            <a:ext cx="2179243" cy="914400"/>
          </a:xfrm>
          <a:prstGeom prst="rect">
            <a:avLst/>
          </a:prstGeom>
          <a:solidFill>
            <a:srgbClr val="F9E6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6118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3</a:t>
            </a:r>
          </a:p>
        </p:txBody>
      </p:sp>
      <p:sp>
        <p:nvSpPr>
          <p:cNvPr id="24" name="TextBox 23"/>
          <p:cNvSpPr txBox="1"/>
          <p:nvPr/>
        </p:nvSpPr>
        <p:spPr>
          <a:xfrm>
            <a:off x="1005840" y="40690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FP</a:t>
            </a:r>
          </a:p>
        </p:txBody>
      </p:sp>
      <p:sp>
        <p:nvSpPr>
          <p:cNvPr id="25" name="Rectangle 24"/>
          <p:cNvSpPr/>
          <p:nvPr/>
        </p:nvSpPr>
        <p:spPr>
          <a:xfrm>
            <a:off x="3185083" y="3566160"/>
            <a:ext cx="2179243" cy="914400"/>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85083" y="36118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27</a:t>
            </a:r>
          </a:p>
        </p:txBody>
      </p:sp>
      <p:sp>
        <p:nvSpPr>
          <p:cNvPr id="27" name="TextBox 26"/>
          <p:cNvSpPr txBox="1"/>
          <p:nvPr/>
        </p:nvSpPr>
        <p:spPr>
          <a:xfrm>
            <a:off x="3185083" y="40690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TN</a:t>
            </a:r>
          </a:p>
        </p:txBody>
      </p:sp>
      <p:sp>
        <p:nvSpPr>
          <p:cNvPr id="28" name="Rounded Rectangle 27"/>
          <p:cNvSpPr/>
          <p:nvPr/>
        </p:nvSpPr>
        <p:spPr>
          <a:xfrm>
            <a:off x="6278727" y="1783080"/>
            <a:ext cx="5455767" cy="347472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07327" y="1920240"/>
            <a:ext cx="4998567" cy="365760"/>
          </a:xfrm>
          <a:prstGeom prst="rect">
            <a:avLst/>
          </a:prstGeom>
          <a:noFill/>
        </p:spPr>
        <p:txBody>
          <a:bodyPr wrap="square" lIns="73152" rIns="73152" tIns="36576" bIns="36576" anchor="t">
            <a:spAutoFit/>
          </a:bodyPr>
          <a:lstStyle/>
          <a:p>
            <a:pPr algn="l"/>
            <a:r>
              <a:rPr sz="1400" b="1" i="0">
                <a:solidFill>
                  <a:srgbClr val="14213D"/>
                </a:solidFill>
                <a:latin typeface="Calibri"/>
              </a:rPr>
              <a:t>Held-out test split  (n = 30)</a:t>
            </a:r>
          </a:p>
        </p:txBody>
      </p:sp>
      <p:sp>
        <p:nvSpPr>
          <p:cNvPr id="30" name="TextBox 29"/>
          <p:cNvSpPr txBox="1"/>
          <p:nvPr/>
        </p:nvSpPr>
        <p:spPr>
          <a:xfrm>
            <a:off x="6827367" y="2331720"/>
            <a:ext cx="2179243" cy="274320"/>
          </a:xfrm>
          <a:prstGeom prst="rect">
            <a:avLst/>
          </a:prstGeom>
          <a:noFill/>
        </p:spPr>
        <p:txBody>
          <a:bodyPr wrap="square" lIns="73152" rIns="73152" tIns="36576" bIns="36576" anchor="t">
            <a:spAutoFit/>
          </a:bodyPr>
          <a:lstStyle/>
          <a:p>
            <a:pPr algn="ctr"/>
            <a:r>
              <a:rPr sz="1000" b="1" i="0">
                <a:solidFill>
                  <a:srgbClr val="5B657A"/>
                </a:solidFill>
                <a:latin typeface="Calibri"/>
              </a:rPr>
              <a:t>Predicted: Vuln</a:t>
            </a:r>
          </a:p>
        </p:txBody>
      </p:sp>
      <p:sp>
        <p:nvSpPr>
          <p:cNvPr id="31" name="TextBox 30"/>
          <p:cNvSpPr txBox="1"/>
          <p:nvPr/>
        </p:nvSpPr>
        <p:spPr>
          <a:xfrm>
            <a:off x="9006611" y="2331720"/>
            <a:ext cx="2179243" cy="274320"/>
          </a:xfrm>
          <a:prstGeom prst="rect">
            <a:avLst/>
          </a:prstGeom>
          <a:noFill/>
        </p:spPr>
        <p:txBody>
          <a:bodyPr wrap="square" lIns="73152" rIns="73152" tIns="36576" bIns="36576" anchor="t">
            <a:spAutoFit/>
          </a:bodyPr>
          <a:lstStyle/>
          <a:p>
            <a:pPr algn="ctr"/>
            <a:r>
              <a:rPr sz="1000" b="1" i="0">
                <a:solidFill>
                  <a:srgbClr val="5B657A"/>
                </a:solidFill>
                <a:latin typeface="Calibri"/>
              </a:rPr>
              <a:t>Predicted: Safe</a:t>
            </a:r>
          </a:p>
        </p:txBody>
      </p:sp>
      <p:sp>
        <p:nvSpPr>
          <p:cNvPr id="32" name="TextBox 31"/>
          <p:cNvSpPr txBox="1"/>
          <p:nvPr/>
        </p:nvSpPr>
        <p:spPr>
          <a:xfrm>
            <a:off x="6324447" y="2651760"/>
            <a:ext cx="502920" cy="914400"/>
          </a:xfrm>
          <a:prstGeom prst="rect">
            <a:avLst/>
          </a:prstGeom>
          <a:noFill/>
        </p:spPr>
        <p:txBody>
          <a:bodyPr wrap="square" lIns="73152" rIns="73152" tIns="36576" bIns="36576" anchor="ctr">
            <a:spAutoFit/>
          </a:bodyPr>
          <a:lstStyle/>
          <a:p>
            <a:pPr algn="ctr"/>
            <a:r>
              <a:rPr sz="1000" b="1" i="0">
                <a:solidFill>
                  <a:srgbClr val="5B657A"/>
                </a:solidFill>
                <a:latin typeface="Calibri"/>
              </a:rPr>
              <a:t>Actual</a:t>
            </a:r>
          </a:p>
          <a:p>
            <a:pPr algn="ctr"/>
            <a:r>
              <a:rPr sz="1000" b="1" i="0">
                <a:solidFill>
                  <a:srgbClr val="5B657A"/>
                </a:solidFill>
                <a:latin typeface="Calibri"/>
              </a:rPr>
              <a:t>Vuln</a:t>
            </a:r>
          </a:p>
        </p:txBody>
      </p:sp>
      <p:sp>
        <p:nvSpPr>
          <p:cNvPr id="33" name="TextBox 32"/>
          <p:cNvSpPr txBox="1"/>
          <p:nvPr/>
        </p:nvSpPr>
        <p:spPr>
          <a:xfrm>
            <a:off x="6324447" y="3566160"/>
            <a:ext cx="502920" cy="914400"/>
          </a:xfrm>
          <a:prstGeom prst="rect">
            <a:avLst/>
          </a:prstGeom>
          <a:noFill/>
        </p:spPr>
        <p:txBody>
          <a:bodyPr wrap="square" lIns="73152" rIns="73152" tIns="36576" bIns="36576" anchor="ctr">
            <a:spAutoFit/>
          </a:bodyPr>
          <a:lstStyle/>
          <a:p>
            <a:pPr algn="ctr"/>
            <a:r>
              <a:rPr sz="1000" b="1" i="0">
                <a:solidFill>
                  <a:srgbClr val="5B657A"/>
                </a:solidFill>
                <a:latin typeface="Calibri"/>
              </a:rPr>
              <a:t>Actual</a:t>
            </a:r>
          </a:p>
          <a:p>
            <a:pPr algn="ctr"/>
            <a:r>
              <a:rPr sz="1000" b="1" i="0">
                <a:solidFill>
                  <a:srgbClr val="5B657A"/>
                </a:solidFill>
                <a:latin typeface="Calibri"/>
              </a:rPr>
              <a:t>Safe</a:t>
            </a:r>
          </a:p>
        </p:txBody>
      </p:sp>
      <p:sp>
        <p:nvSpPr>
          <p:cNvPr id="34" name="Rectangle 33"/>
          <p:cNvSpPr/>
          <p:nvPr/>
        </p:nvSpPr>
        <p:spPr>
          <a:xfrm>
            <a:off x="6827367" y="2651760"/>
            <a:ext cx="2179243" cy="914400"/>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7367" y="26974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11</a:t>
            </a:r>
          </a:p>
        </p:txBody>
      </p:sp>
      <p:sp>
        <p:nvSpPr>
          <p:cNvPr id="36" name="TextBox 35"/>
          <p:cNvSpPr txBox="1"/>
          <p:nvPr/>
        </p:nvSpPr>
        <p:spPr>
          <a:xfrm>
            <a:off x="6827367" y="31546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TP</a:t>
            </a:r>
          </a:p>
        </p:txBody>
      </p:sp>
      <p:sp>
        <p:nvSpPr>
          <p:cNvPr id="37" name="Rectangle 36"/>
          <p:cNvSpPr/>
          <p:nvPr/>
        </p:nvSpPr>
        <p:spPr>
          <a:xfrm>
            <a:off x="9006611" y="2651760"/>
            <a:ext cx="2179243" cy="914400"/>
          </a:xfrm>
          <a:prstGeom prst="rect">
            <a:avLst/>
          </a:prstGeom>
          <a:solidFill>
            <a:srgbClr val="F9E6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611" y="26974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10</a:t>
            </a:r>
          </a:p>
        </p:txBody>
      </p:sp>
      <p:sp>
        <p:nvSpPr>
          <p:cNvPr id="39" name="TextBox 38"/>
          <p:cNvSpPr txBox="1"/>
          <p:nvPr/>
        </p:nvSpPr>
        <p:spPr>
          <a:xfrm>
            <a:off x="9006611" y="31546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FN</a:t>
            </a:r>
          </a:p>
        </p:txBody>
      </p:sp>
      <p:sp>
        <p:nvSpPr>
          <p:cNvPr id="40" name="Rectangle 39"/>
          <p:cNvSpPr/>
          <p:nvPr/>
        </p:nvSpPr>
        <p:spPr>
          <a:xfrm>
            <a:off x="6827367" y="3566160"/>
            <a:ext cx="2179243" cy="914400"/>
          </a:xfrm>
          <a:prstGeom prst="rect">
            <a:avLst/>
          </a:prstGeom>
          <a:solidFill>
            <a:srgbClr val="F9E6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27367" y="36118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0</a:t>
            </a:r>
          </a:p>
        </p:txBody>
      </p:sp>
      <p:sp>
        <p:nvSpPr>
          <p:cNvPr id="42" name="TextBox 41"/>
          <p:cNvSpPr txBox="1"/>
          <p:nvPr/>
        </p:nvSpPr>
        <p:spPr>
          <a:xfrm>
            <a:off x="6827367" y="40690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FP</a:t>
            </a:r>
          </a:p>
        </p:txBody>
      </p:sp>
      <p:sp>
        <p:nvSpPr>
          <p:cNvPr id="43" name="Rectangle 42"/>
          <p:cNvSpPr/>
          <p:nvPr/>
        </p:nvSpPr>
        <p:spPr>
          <a:xfrm>
            <a:off x="9006611" y="3566160"/>
            <a:ext cx="2179243" cy="914400"/>
          </a:xfrm>
          <a:prstGeom prst="rect">
            <a:avLst/>
          </a:prstGeom>
          <a:solidFill>
            <a:srgbClr val="E9F3EA"/>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06611" y="3611880"/>
            <a:ext cx="2179243" cy="365760"/>
          </a:xfrm>
          <a:prstGeom prst="rect">
            <a:avLst/>
          </a:prstGeom>
          <a:noFill/>
        </p:spPr>
        <p:txBody>
          <a:bodyPr wrap="square" lIns="73152" rIns="73152" tIns="36576" bIns="36576" anchor="t">
            <a:spAutoFit/>
          </a:bodyPr>
          <a:lstStyle/>
          <a:p>
            <a:pPr algn="ctr"/>
            <a:r>
              <a:rPr sz="2200" b="1" i="0">
                <a:solidFill>
                  <a:srgbClr val="0B1428"/>
                </a:solidFill>
                <a:latin typeface="Calibri"/>
              </a:rPr>
              <a:t>9</a:t>
            </a:r>
          </a:p>
        </p:txBody>
      </p:sp>
      <p:sp>
        <p:nvSpPr>
          <p:cNvPr id="45" name="TextBox 44"/>
          <p:cNvSpPr txBox="1"/>
          <p:nvPr/>
        </p:nvSpPr>
        <p:spPr>
          <a:xfrm>
            <a:off x="9006611" y="4069080"/>
            <a:ext cx="2179243" cy="274320"/>
          </a:xfrm>
          <a:prstGeom prst="rect">
            <a:avLst/>
          </a:prstGeom>
          <a:noFill/>
        </p:spPr>
        <p:txBody>
          <a:bodyPr wrap="square" lIns="73152" rIns="73152" tIns="36576" bIns="36576" anchor="t">
            <a:spAutoFit/>
          </a:bodyPr>
          <a:lstStyle/>
          <a:p>
            <a:pPr algn="ctr"/>
            <a:r>
              <a:rPr sz="1000" b="0" i="0">
                <a:solidFill>
                  <a:srgbClr val="5B657A"/>
                </a:solidFill>
                <a:latin typeface="Calibri"/>
              </a:rPr>
              <a:t>TN</a:t>
            </a:r>
          </a:p>
        </p:txBody>
      </p:sp>
      <p:sp>
        <p:nvSpPr>
          <p:cNvPr id="46" name="TextBox 45"/>
          <p:cNvSpPr txBox="1"/>
          <p:nvPr/>
        </p:nvSpPr>
        <p:spPr>
          <a:xfrm>
            <a:off x="457200" y="5394960"/>
            <a:ext cx="11277295" cy="274320"/>
          </a:xfrm>
          <a:prstGeom prst="rect">
            <a:avLst/>
          </a:prstGeom>
          <a:noFill/>
        </p:spPr>
        <p:txBody>
          <a:bodyPr wrap="square" lIns="73152" rIns="73152" tIns="36576" bIns="36576" anchor="t">
            <a:spAutoFit/>
          </a:bodyPr>
          <a:lstStyle/>
          <a:p>
            <a:pPr algn="l"/>
            <a:r>
              <a:rPr sz="900" b="0" i="1">
                <a:solidFill>
                  <a:srgbClr val="5B657A"/>
                </a:solidFill>
                <a:latin typeface="Calibri"/>
              </a:rPr>
              <a:t>Sample-level via ≥2/3 majority over 3 deterministic runs (seed=42, T=0).  Precision is finding-level/pooled, so 72.46 % ≠ TP/(TP+FP) here.  Source: phase1-b3 canonical taxonomy.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A3  ·  Why the Single-Reviewer Manual Review Is Bounded</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457200" y="1783080"/>
            <a:ext cx="5524347" cy="15316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 y="1856232"/>
            <a:ext cx="5524347" cy="14584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5158587" cy="365760"/>
          </a:xfrm>
          <a:prstGeom prst="rect">
            <a:avLst/>
          </a:prstGeom>
          <a:noFill/>
        </p:spPr>
        <p:txBody>
          <a:bodyPr wrap="square" lIns="73152" rIns="73152" tIns="36576" bIns="36576" anchor="t">
            <a:spAutoFit/>
          </a:bodyPr>
          <a:lstStyle/>
          <a:p>
            <a:pPr algn="l"/>
            <a:r>
              <a:rPr sz="1300" b="1" i="0">
                <a:solidFill>
                  <a:srgbClr val="0B1428"/>
                </a:solidFill>
                <a:latin typeface="Calibri"/>
              </a:rPr>
              <a:t>Fix provided</a:t>
            </a:r>
          </a:p>
        </p:txBody>
      </p:sp>
      <p:sp>
        <p:nvSpPr>
          <p:cNvPr id="13" name="TextBox 12"/>
          <p:cNvSpPr txBox="1"/>
          <p:nvPr/>
        </p:nvSpPr>
        <p:spPr>
          <a:xfrm>
            <a:off x="640080" y="2286000"/>
            <a:ext cx="5158587" cy="640080"/>
          </a:xfrm>
          <a:prstGeom prst="rect">
            <a:avLst/>
          </a:prstGeom>
          <a:noFill/>
        </p:spPr>
        <p:txBody>
          <a:bodyPr wrap="square" lIns="73152" rIns="73152" tIns="36576" bIns="36576" anchor="t">
            <a:spAutoFit/>
          </a:bodyPr>
          <a:lstStyle/>
          <a:p>
            <a:pPr algn="l"/>
            <a:r>
              <a:rPr sz="3000" b="1" i="0">
                <a:solidFill>
                  <a:srgbClr val="FCA311"/>
                </a:solidFill>
                <a:latin typeface="Calibri"/>
              </a:rPr>
              <a:t>76 %</a:t>
            </a:r>
          </a:p>
        </p:txBody>
      </p:sp>
      <p:sp>
        <p:nvSpPr>
          <p:cNvPr id="14" name="TextBox 13"/>
          <p:cNvSpPr txBox="1"/>
          <p:nvPr/>
        </p:nvSpPr>
        <p:spPr>
          <a:xfrm>
            <a:off x="640080" y="2971800"/>
            <a:ext cx="5158587" cy="160020"/>
          </a:xfrm>
          <a:prstGeom prst="rect">
            <a:avLst/>
          </a:prstGeom>
          <a:noFill/>
        </p:spPr>
        <p:txBody>
          <a:bodyPr wrap="square" lIns="73152" rIns="73152" tIns="36576" bIns="36576" anchor="t">
            <a:spAutoFit/>
          </a:bodyPr>
          <a:lstStyle/>
          <a:p>
            <a:pPr algn="l"/>
            <a:r>
              <a:rPr sz="1000" b="0" i="0">
                <a:solidFill>
                  <a:srgbClr val="1A1F36"/>
                </a:solidFill>
                <a:latin typeface="Calibri"/>
              </a:rPr>
              <a:t>Of 25 reviewed samples, 19 included a repair suggestion.</a:t>
            </a:r>
          </a:p>
        </p:txBody>
      </p:sp>
      <p:sp>
        <p:nvSpPr>
          <p:cNvPr id="15" name="Rounded Rectangle 14"/>
          <p:cNvSpPr/>
          <p:nvPr/>
        </p:nvSpPr>
        <p:spPr>
          <a:xfrm>
            <a:off x="6210147" y="1783080"/>
            <a:ext cx="5524347" cy="15316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0147" y="1856232"/>
            <a:ext cx="5524347" cy="14584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3027" y="1920240"/>
            <a:ext cx="5158587" cy="365760"/>
          </a:xfrm>
          <a:prstGeom prst="rect">
            <a:avLst/>
          </a:prstGeom>
          <a:noFill/>
        </p:spPr>
        <p:txBody>
          <a:bodyPr wrap="square" lIns="73152" rIns="73152" tIns="36576" bIns="36576" anchor="t">
            <a:spAutoFit/>
          </a:bodyPr>
          <a:lstStyle/>
          <a:p>
            <a:pPr algn="l"/>
            <a:r>
              <a:rPr sz="1300" b="1" i="0">
                <a:solidFill>
                  <a:srgbClr val="0B1428"/>
                </a:solidFill>
                <a:latin typeface="Calibri"/>
              </a:rPr>
              <a:t>Semantically correct</a:t>
            </a:r>
          </a:p>
        </p:txBody>
      </p:sp>
      <p:sp>
        <p:nvSpPr>
          <p:cNvPr id="18" name="TextBox 17"/>
          <p:cNvSpPr txBox="1"/>
          <p:nvPr/>
        </p:nvSpPr>
        <p:spPr>
          <a:xfrm>
            <a:off x="6393027" y="2286000"/>
            <a:ext cx="5158587" cy="640080"/>
          </a:xfrm>
          <a:prstGeom prst="rect">
            <a:avLst/>
          </a:prstGeom>
          <a:noFill/>
        </p:spPr>
        <p:txBody>
          <a:bodyPr wrap="square" lIns="73152" rIns="73152" tIns="36576" bIns="36576" anchor="t">
            <a:spAutoFit/>
          </a:bodyPr>
          <a:lstStyle/>
          <a:p>
            <a:pPr algn="l"/>
            <a:r>
              <a:rPr sz="3000" b="1" i="0">
                <a:solidFill>
                  <a:srgbClr val="FCA311"/>
                </a:solidFill>
                <a:latin typeface="Calibri"/>
              </a:rPr>
              <a:t>89.5 %</a:t>
            </a:r>
          </a:p>
        </p:txBody>
      </p:sp>
      <p:sp>
        <p:nvSpPr>
          <p:cNvPr id="19" name="TextBox 18"/>
          <p:cNvSpPr txBox="1"/>
          <p:nvPr/>
        </p:nvSpPr>
        <p:spPr>
          <a:xfrm>
            <a:off x="6393027" y="2971800"/>
            <a:ext cx="5158587" cy="160020"/>
          </a:xfrm>
          <a:prstGeom prst="rect">
            <a:avLst/>
          </a:prstGeom>
          <a:noFill/>
        </p:spPr>
        <p:txBody>
          <a:bodyPr wrap="square" lIns="73152" rIns="73152" tIns="36576" bIns="36576" anchor="t">
            <a:spAutoFit/>
          </a:bodyPr>
          <a:lstStyle/>
          <a:p>
            <a:pPr algn="l"/>
            <a:r>
              <a:rPr sz="1000" b="0" i="0">
                <a:solidFill>
                  <a:srgbClr val="1A1F36"/>
                </a:solidFill>
                <a:latin typeface="Calibri"/>
              </a:rPr>
              <a:t>Fix addresses the CWE (17 of 19 issued fixes).</a:t>
            </a:r>
          </a:p>
        </p:txBody>
      </p:sp>
      <p:sp>
        <p:nvSpPr>
          <p:cNvPr id="20" name="Rounded Rectangle 19"/>
          <p:cNvSpPr/>
          <p:nvPr/>
        </p:nvSpPr>
        <p:spPr>
          <a:xfrm>
            <a:off x="457200" y="3543300"/>
            <a:ext cx="5524347" cy="15316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7200" y="3616452"/>
            <a:ext cx="5524347" cy="14584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680460"/>
            <a:ext cx="5158587" cy="365760"/>
          </a:xfrm>
          <a:prstGeom prst="rect">
            <a:avLst/>
          </a:prstGeom>
          <a:noFill/>
        </p:spPr>
        <p:txBody>
          <a:bodyPr wrap="square" lIns="73152" rIns="73152" tIns="36576" bIns="36576" anchor="t">
            <a:spAutoFit/>
          </a:bodyPr>
          <a:lstStyle/>
          <a:p>
            <a:pPr algn="l"/>
            <a:r>
              <a:rPr sz="1300" b="1" i="0">
                <a:solidFill>
                  <a:srgbClr val="0B1428"/>
                </a:solidFill>
                <a:latin typeface="Calibri"/>
              </a:rPr>
              <a:t>Strategy-aligned</a:t>
            </a:r>
          </a:p>
        </p:txBody>
      </p:sp>
      <p:sp>
        <p:nvSpPr>
          <p:cNvPr id="23" name="TextBox 22"/>
          <p:cNvSpPr txBox="1"/>
          <p:nvPr/>
        </p:nvSpPr>
        <p:spPr>
          <a:xfrm>
            <a:off x="640080" y="4046220"/>
            <a:ext cx="5158587" cy="640080"/>
          </a:xfrm>
          <a:prstGeom prst="rect">
            <a:avLst/>
          </a:prstGeom>
          <a:noFill/>
        </p:spPr>
        <p:txBody>
          <a:bodyPr wrap="square" lIns="73152" rIns="73152" tIns="36576" bIns="36576" anchor="t">
            <a:spAutoFit/>
          </a:bodyPr>
          <a:lstStyle/>
          <a:p>
            <a:pPr algn="l"/>
            <a:r>
              <a:rPr sz="3000" b="1" i="0">
                <a:solidFill>
                  <a:srgbClr val="FCA311"/>
                </a:solidFill>
                <a:latin typeface="Calibri"/>
              </a:rPr>
              <a:t>94.7 %</a:t>
            </a:r>
          </a:p>
        </p:txBody>
      </p:sp>
      <p:sp>
        <p:nvSpPr>
          <p:cNvPr id="24" name="TextBox 23"/>
          <p:cNvSpPr txBox="1"/>
          <p:nvPr/>
        </p:nvSpPr>
        <p:spPr>
          <a:xfrm>
            <a:off x="640080" y="4732020"/>
            <a:ext cx="5158587" cy="160020"/>
          </a:xfrm>
          <a:prstGeom prst="rect">
            <a:avLst/>
          </a:prstGeom>
          <a:noFill/>
        </p:spPr>
        <p:txBody>
          <a:bodyPr wrap="square" lIns="73152" rIns="73152" tIns="36576" bIns="36576" anchor="t">
            <a:spAutoFit/>
          </a:bodyPr>
          <a:lstStyle/>
          <a:p>
            <a:pPr algn="l"/>
            <a:r>
              <a:rPr sz="1000" b="0" i="0">
                <a:solidFill>
                  <a:srgbClr val="1A1F36"/>
                </a:solidFill>
                <a:latin typeface="Calibri"/>
              </a:rPr>
              <a:t>Right repair pattern (parameterized query, escaping, etc.).</a:t>
            </a:r>
          </a:p>
        </p:txBody>
      </p:sp>
      <p:sp>
        <p:nvSpPr>
          <p:cNvPr id="25" name="Rounded Rectangle 24"/>
          <p:cNvSpPr/>
          <p:nvPr/>
        </p:nvSpPr>
        <p:spPr>
          <a:xfrm>
            <a:off x="6210147" y="3543300"/>
            <a:ext cx="5524347" cy="153162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10147" y="3616452"/>
            <a:ext cx="5524347" cy="1458468"/>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3027" y="3680460"/>
            <a:ext cx="5158587" cy="365760"/>
          </a:xfrm>
          <a:prstGeom prst="rect">
            <a:avLst/>
          </a:prstGeom>
          <a:noFill/>
        </p:spPr>
        <p:txBody>
          <a:bodyPr wrap="square" lIns="73152" rIns="73152" tIns="36576" bIns="36576" anchor="t">
            <a:spAutoFit/>
          </a:bodyPr>
          <a:lstStyle/>
          <a:p>
            <a:pPr algn="l"/>
            <a:r>
              <a:rPr sz="1300" b="1" i="0">
                <a:solidFill>
                  <a:srgbClr val="0B1428"/>
                </a:solidFill>
                <a:latin typeface="Calibri"/>
              </a:rPr>
              <a:t>Executable code</a:t>
            </a:r>
          </a:p>
        </p:txBody>
      </p:sp>
      <p:sp>
        <p:nvSpPr>
          <p:cNvPr id="28" name="TextBox 27"/>
          <p:cNvSpPr txBox="1"/>
          <p:nvPr/>
        </p:nvSpPr>
        <p:spPr>
          <a:xfrm>
            <a:off x="6393027" y="4046220"/>
            <a:ext cx="5158587" cy="640080"/>
          </a:xfrm>
          <a:prstGeom prst="rect">
            <a:avLst/>
          </a:prstGeom>
          <a:noFill/>
        </p:spPr>
        <p:txBody>
          <a:bodyPr wrap="square" lIns="73152" rIns="73152" tIns="36576" bIns="36576" anchor="t">
            <a:spAutoFit/>
          </a:bodyPr>
          <a:lstStyle/>
          <a:p>
            <a:pPr algn="l"/>
            <a:r>
              <a:rPr sz="3000" b="1" i="0">
                <a:solidFill>
                  <a:srgbClr val="FCA311"/>
                </a:solidFill>
                <a:latin typeface="Calibri"/>
              </a:rPr>
              <a:t>42.1 %</a:t>
            </a:r>
          </a:p>
        </p:txBody>
      </p:sp>
      <p:sp>
        <p:nvSpPr>
          <p:cNvPr id="29" name="TextBox 28"/>
          <p:cNvSpPr txBox="1"/>
          <p:nvPr/>
        </p:nvSpPr>
        <p:spPr>
          <a:xfrm>
            <a:off x="6393027" y="4732020"/>
            <a:ext cx="5158587" cy="160020"/>
          </a:xfrm>
          <a:prstGeom prst="rect">
            <a:avLst/>
          </a:prstGeom>
          <a:noFill/>
        </p:spPr>
        <p:txBody>
          <a:bodyPr wrap="square" lIns="73152" rIns="73152" tIns="36576" bIns="36576" anchor="t">
            <a:spAutoFit/>
          </a:bodyPr>
          <a:lstStyle/>
          <a:p>
            <a:pPr algn="l"/>
            <a:r>
              <a:rPr sz="1000" b="0" i="0">
                <a:solidFill>
                  <a:srgbClr val="1A1F36"/>
                </a:solidFill>
                <a:latin typeface="Calibri"/>
              </a:rPr>
              <a:t>Patch runs without modification; the rest give prose guidance.</a:t>
            </a:r>
          </a:p>
        </p:txBody>
      </p:sp>
      <p:sp>
        <p:nvSpPr>
          <p:cNvPr id="30" name="Rounded Rectangle 29"/>
          <p:cNvSpPr/>
          <p:nvPr/>
        </p:nvSpPr>
        <p:spPr>
          <a:xfrm>
            <a:off x="457200" y="5166360"/>
            <a:ext cx="11277295" cy="6400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257800"/>
            <a:ext cx="10728655" cy="457200"/>
          </a:xfrm>
          <a:prstGeom prst="rect">
            <a:avLst/>
          </a:prstGeom>
          <a:noFill/>
        </p:spPr>
        <p:txBody>
          <a:bodyPr wrap="square" lIns="73152" rIns="73152" tIns="36576" bIns="36576" anchor="ctr">
            <a:spAutoFit/>
          </a:bodyPr>
          <a:lstStyle/>
          <a:p>
            <a:pPr algn="ctr"/>
            <a:r>
              <a:rPr sz="1200" b="1" i="0">
                <a:solidFill>
                  <a:srgbClr val="FFFFFF"/>
                </a:solidFill>
                <a:latin typeface="Calibri"/>
              </a:rPr>
              <a:t>Inter-rater on the 25-sample subset = future work.  Headline R3 is the fully objective auto-applicable rate (90.32 %, n = 279).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A4  ·  Why a Curated Corpus, Not an Existing Benchmark</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457200" y="1783080"/>
            <a:ext cx="5501487" cy="448056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20240"/>
            <a:ext cx="5044287" cy="365760"/>
          </a:xfrm>
          <a:prstGeom prst="rect">
            <a:avLst/>
          </a:prstGeom>
          <a:noFill/>
        </p:spPr>
        <p:txBody>
          <a:bodyPr wrap="square" lIns="73152" rIns="73152" tIns="36576" bIns="36576" anchor="t">
            <a:spAutoFit/>
          </a:bodyPr>
          <a:lstStyle/>
          <a:p>
            <a:pPr algn="l"/>
            <a:r>
              <a:rPr sz="1100" b="1" i="0">
                <a:solidFill>
                  <a:srgbClr val="FCA311"/>
                </a:solidFill>
                <a:latin typeface="Calibri"/>
              </a:rPr>
              <a:t>WHY EXISTING JS/TS BENCHMARKS DON'T FIT</a:t>
            </a:r>
          </a:p>
        </p:txBody>
      </p:sp>
      <p:sp>
        <p:nvSpPr>
          <p:cNvPr id="12" name="TextBox 11"/>
          <p:cNvSpPr txBox="1"/>
          <p:nvPr/>
        </p:nvSpPr>
        <p:spPr>
          <a:xfrm>
            <a:off x="685800" y="2331720"/>
            <a:ext cx="5044287" cy="274320"/>
          </a:xfrm>
          <a:prstGeom prst="rect">
            <a:avLst/>
          </a:prstGeom>
          <a:noFill/>
        </p:spPr>
        <p:txBody>
          <a:bodyPr wrap="square" lIns="73152" rIns="73152" tIns="36576" bIns="36576" anchor="t">
            <a:spAutoFit/>
          </a:bodyPr>
          <a:lstStyle/>
          <a:p>
            <a:pPr algn="l"/>
            <a:r>
              <a:rPr sz="1200" b="1" i="0">
                <a:solidFill>
                  <a:srgbClr val="14213D"/>
                </a:solidFill>
                <a:latin typeface="Calibri"/>
              </a:rPr>
              <a:t>Juliet (NIST)</a:t>
            </a:r>
          </a:p>
        </p:txBody>
      </p:sp>
      <p:sp>
        <p:nvSpPr>
          <p:cNvPr id="13" name="TextBox 12"/>
          <p:cNvSpPr txBox="1"/>
          <p:nvPr/>
        </p:nvSpPr>
        <p:spPr>
          <a:xfrm>
            <a:off x="685800" y="2606040"/>
            <a:ext cx="5044287" cy="411480"/>
          </a:xfrm>
          <a:prstGeom prst="rect">
            <a:avLst/>
          </a:prstGeom>
          <a:noFill/>
        </p:spPr>
        <p:txBody>
          <a:bodyPr wrap="square" lIns="73152" rIns="73152" tIns="36576" bIns="36576" anchor="t">
            <a:spAutoFit/>
          </a:bodyPr>
          <a:lstStyle/>
          <a:p>
            <a:pPr algn="l"/>
            <a:r>
              <a:rPr sz="1000" b="0" i="0">
                <a:solidFill>
                  <a:srgbClr val="1A1F36"/>
                </a:solidFill>
                <a:latin typeface="Calibri"/>
              </a:rPr>
              <a:t>C / C++ / Java only.  No first-party JS port.</a:t>
            </a:r>
          </a:p>
        </p:txBody>
      </p:sp>
      <p:sp>
        <p:nvSpPr>
          <p:cNvPr id="14" name="TextBox 13"/>
          <p:cNvSpPr txBox="1"/>
          <p:nvPr/>
        </p:nvSpPr>
        <p:spPr>
          <a:xfrm>
            <a:off x="685800" y="3017520"/>
            <a:ext cx="5044287" cy="274320"/>
          </a:xfrm>
          <a:prstGeom prst="rect">
            <a:avLst/>
          </a:prstGeom>
          <a:noFill/>
        </p:spPr>
        <p:txBody>
          <a:bodyPr wrap="square" lIns="73152" rIns="73152" tIns="36576" bIns="36576" anchor="t">
            <a:spAutoFit/>
          </a:bodyPr>
          <a:lstStyle/>
          <a:p>
            <a:pPr algn="l"/>
            <a:r>
              <a:rPr sz="1200" b="1" i="0">
                <a:solidFill>
                  <a:srgbClr val="14213D"/>
                </a:solidFill>
                <a:latin typeface="Calibri"/>
              </a:rPr>
              <a:t>OWASP Benchmark</a:t>
            </a:r>
          </a:p>
        </p:txBody>
      </p:sp>
      <p:sp>
        <p:nvSpPr>
          <p:cNvPr id="15" name="TextBox 14"/>
          <p:cNvSpPr txBox="1"/>
          <p:nvPr/>
        </p:nvSpPr>
        <p:spPr>
          <a:xfrm>
            <a:off x="685800" y="3291840"/>
            <a:ext cx="5044287" cy="411480"/>
          </a:xfrm>
          <a:prstGeom prst="rect">
            <a:avLst/>
          </a:prstGeom>
          <a:noFill/>
        </p:spPr>
        <p:txBody>
          <a:bodyPr wrap="square" lIns="73152" rIns="73152" tIns="36576" bIns="36576" anchor="t">
            <a:spAutoFit/>
          </a:bodyPr>
          <a:lstStyle/>
          <a:p>
            <a:pPr algn="l"/>
            <a:r>
              <a:rPr sz="1000" b="0" i="0">
                <a:solidFill>
                  <a:srgbClr val="1A1F36"/>
                </a:solidFill>
                <a:latin typeface="Calibri"/>
              </a:rPr>
              <a:t>Java only.</a:t>
            </a:r>
          </a:p>
        </p:txBody>
      </p:sp>
      <p:sp>
        <p:nvSpPr>
          <p:cNvPr id="16" name="TextBox 15"/>
          <p:cNvSpPr txBox="1"/>
          <p:nvPr/>
        </p:nvSpPr>
        <p:spPr>
          <a:xfrm>
            <a:off x="685800" y="3703320"/>
            <a:ext cx="5044287" cy="274320"/>
          </a:xfrm>
          <a:prstGeom prst="rect">
            <a:avLst/>
          </a:prstGeom>
          <a:noFill/>
        </p:spPr>
        <p:txBody>
          <a:bodyPr wrap="square" lIns="73152" rIns="73152" tIns="36576" bIns="36576" anchor="t">
            <a:spAutoFit/>
          </a:bodyPr>
          <a:lstStyle/>
          <a:p>
            <a:pPr algn="l"/>
            <a:r>
              <a:rPr sz="1200" b="1" i="0">
                <a:solidFill>
                  <a:srgbClr val="14213D"/>
                </a:solidFill>
                <a:latin typeface="Calibri"/>
              </a:rPr>
              <a:t>SecurityEval (Pearce 2022)</a:t>
            </a:r>
          </a:p>
        </p:txBody>
      </p:sp>
      <p:sp>
        <p:nvSpPr>
          <p:cNvPr id="17" name="TextBox 16"/>
          <p:cNvSpPr txBox="1"/>
          <p:nvPr/>
        </p:nvSpPr>
        <p:spPr>
          <a:xfrm>
            <a:off x="685800" y="3977640"/>
            <a:ext cx="5044287" cy="411480"/>
          </a:xfrm>
          <a:prstGeom prst="rect">
            <a:avLst/>
          </a:prstGeom>
          <a:noFill/>
        </p:spPr>
        <p:txBody>
          <a:bodyPr wrap="square" lIns="73152" rIns="73152" tIns="36576" bIns="36576" anchor="t">
            <a:spAutoFit/>
          </a:bodyPr>
          <a:lstStyle/>
          <a:p>
            <a:pPr algn="l"/>
            <a:r>
              <a:rPr sz="1000" b="0" i="0">
                <a:solidFill>
                  <a:srgbClr val="1A1F36"/>
                </a:solidFill>
                <a:latin typeface="Calibri"/>
              </a:rPr>
              <a:t>Small, partially synthetic.  CWE labelling inconsistent with OWASP Top 10.</a:t>
            </a:r>
          </a:p>
        </p:txBody>
      </p:sp>
      <p:sp>
        <p:nvSpPr>
          <p:cNvPr id="18" name="TextBox 17"/>
          <p:cNvSpPr txBox="1"/>
          <p:nvPr/>
        </p:nvSpPr>
        <p:spPr>
          <a:xfrm>
            <a:off x="685800" y="4389120"/>
            <a:ext cx="5044287" cy="274320"/>
          </a:xfrm>
          <a:prstGeom prst="rect">
            <a:avLst/>
          </a:prstGeom>
          <a:noFill/>
        </p:spPr>
        <p:txBody>
          <a:bodyPr wrap="square" lIns="73152" rIns="73152" tIns="36576" bIns="36576" anchor="t">
            <a:spAutoFit/>
          </a:bodyPr>
          <a:lstStyle/>
          <a:p>
            <a:pPr algn="l"/>
            <a:r>
              <a:rPr sz="1200" b="1" i="0">
                <a:solidFill>
                  <a:srgbClr val="14213D"/>
                </a:solidFill>
                <a:latin typeface="Calibri"/>
              </a:rPr>
              <a:t>CyberSecEval</a:t>
            </a:r>
          </a:p>
        </p:txBody>
      </p:sp>
      <p:sp>
        <p:nvSpPr>
          <p:cNvPr id="19" name="TextBox 18"/>
          <p:cNvSpPr txBox="1"/>
          <p:nvPr/>
        </p:nvSpPr>
        <p:spPr>
          <a:xfrm>
            <a:off x="685800" y="4663440"/>
            <a:ext cx="5044287" cy="411480"/>
          </a:xfrm>
          <a:prstGeom prst="rect">
            <a:avLst/>
          </a:prstGeom>
          <a:noFill/>
        </p:spPr>
        <p:txBody>
          <a:bodyPr wrap="square" lIns="73152" rIns="73152" tIns="36576" bIns="36576" anchor="t">
            <a:spAutoFit/>
          </a:bodyPr>
          <a:lstStyle/>
          <a:p>
            <a:pPr algn="l"/>
            <a:r>
              <a:rPr sz="1000" b="0" i="0">
                <a:solidFill>
                  <a:srgbClr val="1A1F36"/>
                </a:solidFill>
                <a:latin typeface="Calibri"/>
              </a:rPr>
              <a:t>29.3 % of vulnerable samples are reproducible (Peng et al. 2025).</a:t>
            </a:r>
          </a:p>
        </p:txBody>
      </p:sp>
      <p:sp>
        <p:nvSpPr>
          <p:cNvPr id="20" name="TextBox 19"/>
          <p:cNvSpPr txBox="1"/>
          <p:nvPr/>
        </p:nvSpPr>
        <p:spPr>
          <a:xfrm>
            <a:off x="685800" y="5074920"/>
            <a:ext cx="5044287" cy="274320"/>
          </a:xfrm>
          <a:prstGeom prst="rect">
            <a:avLst/>
          </a:prstGeom>
          <a:noFill/>
        </p:spPr>
        <p:txBody>
          <a:bodyPr wrap="square" lIns="73152" rIns="73152" tIns="36576" bIns="36576" anchor="t">
            <a:spAutoFit/>
          </a:bodyPr>
          <a:lstStyle/>
          <a:p>
            <a:pPr algn="l"/>
            <a:r>
              <a:rPr sz="1200" b="1" i="0">
                <a:solidFill>
                  <a:srgbClr val="14213D"/>
                </a:solidFill>
                <a:latin typeface="Calibri"/>
              </a:rPr>
              <a:t>CWEval (Peng 2025)</a:t>
            </a:r>
          </a:p>
        </p:txBody>
      </p:sp>
      <p:sp>
        <p:nvSpPr>
          <p:cNvPr id="21" name="TextBox 20"/>
          <p:cNvSpPr txBox="1"/>
          <p:nvPr/>
        </p:nvSpPr>
        <p:spPr>
          <a:xfrm>
            <a:off x="685800" y="5349240"/>
            <a:ext cx="5044287" cy="411480"/>
          </a:xfrm>
          <a:prstGeom prst="rect">
            <a:avLst/>
          </a:prstGeom>
          <a:noFill/>
        </p:spPr>
        <p:txBody>
          <a:bodyPr wrap="square" lIns="73152" rIns="73152" tIns="36576" bIns="36576" anchor="t">
            <a:spAutoFit/>
          </a:bodyPr>
          <a:lstStyle/>
          <a:p>
            <a:pPr algn="l"/>
            <a:r>
              <a:rPr sz="1000" b="0" i="0">
                <a:solidFill>
                  <a:srgbClr val="1A1F36"/>
                </a:solidFill>
                <a:latin typeface="Calibri"/>
              </a:rPr>
              <a:t>119 curated tasks across 31 CWEs, 5 languages, peer-comparable to 101 cases.</a:t>
            </a:r>
          </a:p>
        </p:txBody>
      </p:sp>
      <p:sp>
        <p:nvSpPr>
          <p:cNvPr id="22" name="Rounded Rectangle 21"/>
          <p:cNvSpPr/>
          <p:nvPr/>
        </p:nvSpPr>
        <p:spPr>
          <a:xfrm>
            <a:off x="6233007" y="1783080"/>
            <a:ext cx="5501487" cy="4480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61607" y="1920240"/>
            <a:ext cx="5044287" cy="365760"/>
          </a:xfrm>
          <a:prstGeom prst="rect">
            <a:avLst/>
          </a:prstGeom>
          <a:noFill/>
        </p:spPr>
        <p:txBody>
          <a:bodyPr wrap="square" lIns="73152" rIns="73152" tIns="36576" bIns="36576" anchor="t">
            <a:spAutoFit/>
          </a:bodyPr>
          <a:lstStyle/>
          <a:p>
            <a:pPr algn="l"/>
            <a:r>
              <a:rPr sz="1100" b="1" i="0">
                <a:solidFill>
                  <a:srgbClr val="FCA311"/>
                </a:solidFill>
                <a:latin typeface="Calibri"/>
              </a:rPr>
              <a:t>SELECTION-BIAS MITIGATIONS IN THIS THESIS</a:t>
            </a:r>
          </a:p>
        </p:txBody>
      </p:sp>
      <p:sp>
        <p:nvSpPr>
          <p:cNvPr id="24" name="TextBox 23"/>
          <p:cNvSpPr txBox="1"/>
          <p:nvPr/>
        </p:nvSpPr>
        <p:spPr>
          <a:xfrm>
            <a:off x="6461607" y="2377440"/>
            <a:ext cx="5044287" cy="274320"/>
          </a:xfrm>
          <a:prstGeom prst="rect">
            <a:avLst/>
          </a:prstGeom>
          <a:noFill/>
        </p:spPr>
        <p:txBody>
          <a:bodyPr wrap="square" lIns="73152" rIns="73152" tIns="36576" bIns="36576" anchor="t">
            <a:spAutoFit/>
          </a:bodyPr>
          <a:lstStyle/>
          <a:p>
            <a:pPr algn="l"/>
            <a:r>
              <a:rPr sz="1200" b="1" i="0">
                <a:solidFill>
                  <a:srgbClr val="FFFFFF"/>
                </a:solidFill>
                <a:latin typeface="Calibri"/>
              </a:rPr>
              <a:t>Held-out 71 / 30 split</a:t>
            </a:r>
          </a:p>
        </p:txBody>
      </p:sp>
      <p:sp>
        <p:nvSpPr>
          <p:cNvPr id="25" name="TextBox 24"/>
          <p:cNvSpPr txBox="1"/>
          <p:nvPr/>
        </p:nvSpPr>
        <p:spPr>
          <a:xfrm>
            <a:off x="6461607" y="2651760"/>
            <a:ext cx="5044287" cy="502920"/>
          </a:xfrm>
          <a:prstGeom prst="rect">
            <a:avLst/>
          </a:prstGeom>
          <a:noFill/>
        </p:spPr>
        <p:txBody>
          <a:bodyPr wrap="square" lIns="73152" rIns="73152" tIns="36576" bIns="36576" anchor="t">
            <a:spAutoFit/>
          </a:bodyPr>
          <a:lstStyle/>
          <a:p>
            <a:pPr algn="l"/>
            <a:r>
              <a:rPr sz="1000" b="0" i="0">
                <a:solidFill>
                  <a:srgbClr val="C8D0E0"/>
                </a:solidFill>
                <a:latin typeface="Calibri"/>
              </a:rPr>
              <a:t>Frozen TEST set keeps threshold tuning out of headline numbers.</a:t>
            </a:r>
          </a:p>
        </p:txBody>
      </p:sp>
      <p:sp>
        <p:nvSpPr>
          <p:cNvPr id="26" name="TextBox 25"/>
          <p:cNvSpPr txBox="1"/>
          <p:nvPr/>
        </p:nvSpPr>
        <p:spPr>
          <a:xfrm>
            <a:off x="6461607" y="3246120"/>
            <a:ext cx="5044287" cy="274320"/>
          </a:xfrm>
          <a:prstGeom prst="rect">
            <a:avLst/>
          </a:prstGeom>
          <a:noFill/>
        </p:spPr>
        <p:txBody>
          <a:bodyPr wrap="square" lIns="73152" rIns="73152" tIns="36576" bIns="36576" anchor="t">
            <a:spAutoFit/>
          </a:bodyPr>
          <a:lstStyle/>
          <a:p>
            <a:pPr algn="l"/>
            <a:r>
              <a:rPr sz="1200" b="1" i="0">
                <a:solidFill>
                  <a:srgbClr val="FFFFFF"/>
                </a:solidFill>
                <a:latin typeface="Calibri"/>
              </a:rPr>
              <a:t>15-case external corpus</a:t>
            </a:r>
          </a:p>
        </p:txBody>
      </p:sp>
      <p:sp>
        <p:nvSpPr>
          <p:cNvPr id="27" name="TextBox 26"/>
          <p:cNvSpPr txBox="1"/>
          <p:nvPr/>
        </p:nvSpPr>
        <p:spPr>
          <a:xfrm>
            <a:off x="6461607" y="3520440"/>
            <a:ext cx="5044287" cy="502920"/>
          </a:xfrm>
          <a:prstGeom prst="rect">
            <a:avLst/>
          </a:prstGeom>
          <a:noFill/>
        </p:spPr>
        <p:txBody>
          <a:bodyPr wrap="square" lIns="73152" rIns="73152" tIns="36576" bIns="36576" anchor="t">
            <a:spAutoFit/>
          </a:bodyPr>
          <a:lstStyle/>
          <a:p>
            <a:pPr algn="l"/>
            <a:r>
              <a:rPr sz="1000" b="0" i="0">
                <a:solidFill>
                  <a:srgbClr val="C8D0E0"/>
                </a:solidFill>
                <a:latin typeface="Calibri"/>
              </a:rPr>
              <a:t>NodeGoat, Juice Shop, 3 named CVEs, independent of the curator.</a:t>
            </a:r>
          </a:p>
        </p:txBody>
      </p:sp>
      <p:sp>
        <p:nvSpPr>
          <p:cNvPr id="28" name="TextBox 27"/>
          <p:cNvSpPr txBox="1"/>
          <p:nvPr/>
        </p:nvSpPr>
        <p:spPr>
          <a:xfrm>
            <a:off x="6461607" y="4114800"/>
            <a:ext cx="5044287" cy="274320"/>
          </a:xfrm>
          <a:prstGeom prst="rect">
            <a:avLst/>
          </a:prstGeom>
          <a:noFill/>
        </p:spPr>
        <p:txBody>
          <a:bodyPr wrap="square" lIns="73152" rIns="73152" tIns="36576" bIns="36576" anchor="t">
            <a:spAutoFit/>
          </a:bodyPr>
          <a:lstStyle/>
          <a:p>
            <a:pPr algn="l"/>
            <a:r>
              <a:rPr sz="1200" b="1" i="0">
                <a:solidFill>
                  <a:srgbClr val="FFFFFF"/>
                </a:solidFill>
                <a:latin typeface="Calibri"/>
              </a:rPr>
              <a:t>Whole-project NodeGoat run</a:t>
            </a:r>
          </a:p>
        </p:txBody>
      </p:sp>
      <p:sp>
        <p:nvSpPr>
          <p:cNvPr id="29" name="TextBox 28"/>
          <p:cNvSpPr txBox="1"/>
          <p:nvPr/>
        </p:nvSpPr>
        <p:spPr>
          <a:xfrm>
            <a:off x="6461607" y="4389120"/>
            <a:ext cx="5044287" cy="502920"/>
          </a:xfrm>
          <a:prstGeom prst="rect">
            <a:avLst/>
          </a:prstGeom>
          <a:noFill/>
        </p:spPr>
        <p:txBody>
          <a:bodyPr wrap="square" lIns="73152" rIns="73152" tIns="36576" bIns="36576" anchor="t">
            <a:spAutoFit/>
          </a:bodyPr>
          <a:lstStyle/>
          <a:p>
            <a:pPr algn="l"/>
            <a:r>
              <a:rPr sz="1000" b="0" i="0">
                <a:solidFill>
                  <a:srgbClr val="C8D0E0"/>
                </a:solidFill>
                <a:latin typeface="Calibri"/>
              </a:rPr>
              <a:t>Project-level recall independent of sample selection.</a:t>
            </a:r>
          </a:p>
        </p:txBody>
      </p:sp>
      <p:sp>
        <p:nvSpPr>
          <p:cNvPr id="30" name="TextBox 29"/>
          <p:cNvSpPr txBox="1"/>
          <p:nvPr/>
        </p:nvSpPr>
        <p:spPr>
          <a:xfrm>
            <a:off x="6461607" y="4983480"/>
            <a:ext cx="5044287" cy="274320"/>
          </a:xfrm>
          <a:prstGeom prst="rect">
            <a:avLst/>
          </a:prstGeom>
          <a:noFill/>
        </p:spPr>
        <p:txBody>
          <a:bodyPr wrap="square" lIns="73152" rIns="73152" tIns="36576" bIns="36576" anchor="t">
            <a:spAutoFit/>
          </a:bodyPr>
          <a:lstStyle/>
          <a:p>
            <a:pPr algn="l"/>
            <a:r>
              <a:rPr sz="1200" b="1" i="0">
                <a:solidFill>
                  <a:srgbClr val="FFFFFF"/>
                </a:solidFill>
                <a:latin typeface="Calibri"/>
              </a:rPr>
              <a:t>Provenance bound into manifest</a:t>
            </a:r>
          </a:p>
        </p:txBody>
      </p:sp>
      <p:sp>
        <p:nvSpPr>
          <p:cNvPr id="31" name="TextBox 30"/>
          <p:cNvSpPr txBox="1"/>
          <p:nvPr/>
        </p:nvSpPr>
        <p:spPr>
          <a:xfrm>
            <a:off x="6461607" y="5257800"/>
            <a:ext cx="5044287" cy="502920"/>
          </a:xfrm>
          <a:prstGeom prst="rect">
            <a:avLst/>
          </a:prstGeom>
          <a:noFill/>
        </p:spPr>
        <p:txBody>
          <a:bodyPr wrap="square" lIns="73152" rIns="73152" tIns="36576" bIns="36576" anchor="t">
            <a:spAutoFit/>
          </a:bodyPr>
          <a:lstStyle/>
          <a:p>
            <a:pPr algn="l"/>
            <a:r>
              <a:rPr sz="1000" b="0" i="0">
                <a:solidFill>
                  <a:srgbClr val="C8D0E0"/>
                </a:solidFill>
                <a:latin typeface="Calibri"/>
              </a:rPr>
              <a:t>Ed25519 signature; corpus cannot be silently rewritten.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A5  ·  Why No Cloud-LLM Baseline</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567230" y="1881554"/>
            <a:ext cx="3630982" cy="3791243"/>
          </a:xfrm>
          <a:prstGeom prst="roundRect">
            <a:avLst>
              <a:gd name="adj" fmla="val 4000"/>
            </a:avLst>
          </a:prstGeom>
          <a:solidFill>
            <a:srgbClr val="ECF6F0"/>
          </a:solidFill>
          <a:ln w="25400">
            <a:solidFill>
              <a:srgbClr val="2E8B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260" y="1966273"/>
            <a:ext cx="3410922" cy="224458"/>
          </a:xfrm>
          <a:prstGeom prst="rect">
            <a:avLst/>
          </a:prstGeom>
          <a:noFill/>
          <a:ln>
            <a:noFill/>
          </a:ln>
          <a:effectLst/>
        </p:spPr>
        <p:txBody>
          <a:bodyPr wrap="square" lIns="12700" rIns="12700" tIns="0" bIns="0" anchor="ctr">
            <a:spAutoFit/>
          </a:bodyPr>
          <a:lstStyle/>
          <a:p>
            <a:pPr algn="ctr"/>
            <a:r>
              <a:rPr sz="911" b="1" i="0">
                <a:solidFill>
                  <a:srgbClr val="2E8B57"/>
                </a:solidFill>
                <a:latin typeface="Calibri"/>
              </a:rPr>
              <a:t>YOUR LAPTOP  ·  privacy boundary</a:t>
            </a:r>
          </a:p>
        </p:txBody>
      </p:sp>
      <p:sp>
        <p:nvSpPr>
          <p:cNvPr id="12" name="Rounded Rectangle 11"/>
          <p:cNvSpPr/>
          <p:nvPr/>
        </p:nvSpPr>
        <p:spPr>
          <a:xfrm>
            <a:off x="842304" y="2423160"/>
            <a:ext cx="2860774" cy="640080"/>
          </a:xfrm>
          <a:prstGeom prst="roundRect">
            <a:avLst>
              <a:gd name="adj" fmla="val 12000"/>
            </a:avLst>
          </a:prstGeom>
          <a:solidFill>
            <a:srgbClr val="14213D"/>
          </a:solidFill>
          <a:ln w="2032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37438" y="2423160"/>
            <a:ext cx="2310625" cy="640080"/>
          </a:xfrm>
          <a:prstGeom prst="rect">
            <a:avLst/>
          </a:prstGeom>
          <a:noFill/>
          <a:ln>
            <a:noFill/>
          </a:ln>
          <a:effectLst/>
        </p:spPr>
        <p:txBody>
          <a:bodyPr wrap="square" lIns="12700" rIns="12700" tIns="0" bIns="0" anchor="ctr">
            <a:spAutoFit/>
          </a:bodyPr>
          <a:lstStyle/>
          <a:p>
            <a:pPr algn="ctr"/>
            <a:r>
              <a:rPr sz="1048" b="1">
                <a:solidFill>
                  <a:srgbClr val="FFFFFF"/>
                </a:solidFill>
                <a:latin typeface="Calibri"/>
              </a:rPr>
              <a:t>Code Guardian</a:t>
            </a:r>
          </a:p>
          <a:p>
            <a:pPr algn="ctr">
              <a:spcBef>
                <a:spcPts val="100"/>
              </a:spcBef>
            </a:pPr>
            <a:r>
              <a:rPr sz="774">
                <a:solidFill>
                  <a:srgbClr val="C2CBDD"/>
                </a:solidFill>
                <a:latin typeface="Calibri"/>
              </a:rPr>
              <a:t>local LLM + RAG</a:t>
            </a:r>
          </a:p>
        </p:txBody>
      </p:sp>
      <p:sp>
        <p:nvSpPr>
          <p:cNvPr id="14" name="Oval 13"/>
          <p:cNvSpPr/>
          <p:nvPr/>
        </p:nvSpPr>
        <p:spPr>
          <a:xfrm>
            <a:off x="1034530" y="2605337"/>
            <a:ext cx="275727" cy="275727"/>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7" b="1">
                <a:solidFill>
                  <a:srgbClr val="FFFFFF"/>
                </a:solidFill>
                <a:latin typeface="Calibri"/>
              </a:rPr>
              <a:t>✓</a:t>
            </a:r>
          </a:p>
        </p:txBody>
      </p:sp>
      <p:sp>
        <p:nvSpPr>
          <p:cNvPr id="15" name="Rounded Rectangle 14"/>
          <p:cNvSpPr/>
          <p:nvPr/>
        </p:nvSpPr>
        <p:spPr>
          <a:xfrm>
            <a:off x="842304" y="3260188"/>
            <a:ext cx="2860774" cy="640080"/>
          </a:xfrm>
          <a:prstGeom prst="roundRect">
            <a:avLst>
              <a:gd name="adj" fmla="val 12000"/>
            </a:avLst>
          </a:prstGeom>
          <a:solidFill>
            <a:srgbClr val="FFFFFF"/>
          </a:solidFill>
          <a:ln w="2032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37438" y="3260188"/>
            <a:ext cx="2310625" cy="640080"/>
          </a:xfrm>
          <a:prstGeom prst="rect">
            <a:avLst/>
          </a:prstGeom>
          <a:noFill/>
          <a:ln>
            <a:noFill/>
          </a:ln>
          <a:effectLst/>
        </p:spPr>
        <p:txBody>
          <a:bodyPr wrap="square" lIns="12700" rIns="12700" tIns="0" bIns="0" anchor="ctr">
            <a:spAutoFit/>
          </a:bodyPr>
          <a:lstStyle/>
          <a:p>
            <a:pPr algn="ctr"/>
            <a:r>
              <a:rPr sz="1048" b="1">
                <a:solidFill>
                  <a:srgbClr val="0B1428"/>
                </a:solidFill>
                <a:latin typeface="Calibri"/>
              </a:rPr>
              <a:t>Local SAST baselines</a:t>
            </a:r>
          </a:p>
          <a:p>
            <a:pPr algn="ctr">
              <a:spcBef>
                <a:spcPts val="100"/>
              </a:spcBef>
            </a:pPr>
            <a:r>
              <a:rPr sz="774">
                <a:solidFill>
                  <a:srgbClr val="5B657A"/>
                </a:solidFill>
                <a:latin typeface="Calibri"/>
              </a:rPr>
              <a:t>Semgrep · CodeQL · ESLint</a:t>
            </a:r>
          </a:p>
        </p:txBody>
      </p:sp>
      <p:sp>
        <p:nvSpPr>
          <p:cNvPr id="17" name="Oval 16"/>
          <p:cNvSpPr/>
          <p:nvPr/>
        </p:nvSpPr>
        <p:spPr>
          <a:xfrm>
            <a:off x="1034530" y="3442365"/>
            <a:ext cx="275727" cy="275727"/>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7" b="1">
                <a:solidFill>
                  <a:srgbClr val="FFFFFF"/>
                </a:solidFill>
                <a:latin typeface="Calibri"/>
              </a:rPr>
              <a:t>✓</a:t>
            </a:r>
          </a:p>
        </p:txBody>
      </p:sp>
      <p:sp>
        <p:nvSpPr>
          <p:cNvPr id="18" name="Rounded Rectangle 17"/>
          <p:cNvSpPr/>
          <p:nvPr/>
        </p:nvSpPr>
        <p:spPr>
          <a:xfrm>
            <a:off x="842304" y="4097215"/>
            <a:ext cx="2860774" cy="640080"/>
          </a:xfrm>
          <a:prstGeom prst="roundRect">
            <a:avLst>
              <a:gd name="adj" fmla="val 12000"/>
            </a:avLst>
          </a:prstGeom>
          <a:solidFill>
            <a:srgbClr val="FFFFFF"/>
          </a:solidFill>
          <a:ln w="20320">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37438" y="4097215"/>
            <a:ext cx="2310625" cy="640080"/>
          </a:xfrm>
          <a:prstGeom prst="rect">
            <a:avLst/>
          </a:prstGeom>
          <a:noFill/>
          <a:ln>
            <a:noFill/>
          </a:ln>
          <a:effectLst/>
        </p:spPr>
        <p:txBody>
          <a:bodyPr wrap="square" lIns="12700" rIns="12700" tIns="0" bIns="0" anchor="ctr">
            <a:spAutoFit/>
          </a:bodyPr>
          <a:lstStyle/>
          <a:p>
            <a:pPr algn="ctr"/>
            <a:r>
              <a:rPr sz="1048" b="1">
                <a:solidFill>
                  <a:srgbClr val="0B1428"/>
                </a:solidFill>
                <a:latin typeface="Calibri"/>
              </a:rPr>
              <a:t>Your code &amp; prompts</a:t>
            </a:r>
          </a:p>
          <a:p>
            <a:pPr algn="ctr">
              <a:spcBef>
                <a:spcPts val="100"/>
              </a:spcBef>
            </a:pPr>
            <a:r>
              <a:rPr sz="774">
                <a:solidFill>
                  <a:srgbClr val="5B657A"/>
                </a:solidFill>
                <a:latin typeface="Calibri"/>
              </a:rPr>
              <a:t>source · embeddings · context</a:t>
            </a:r>
          </a:p>
        </p:txBody>
      </p:sp>
      <p:sp>
        <p:nvSpPr>
          <p:cNvPr id="20" name="Oval 19"/>
          <p:cNvSpPr/>
          <p:nvPr/>
        </p:nvSpPr>
        <p:spPr>
          <a:xfrm>
            <a:off x="1034530" y="4279392"/>
            <a:ext cx="275727" cy="275727"/>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7" b="1">
                <a:solidFill>
                  <a:srgbClr val="FFFFFF"/>
                </a:solidFill>
                <a:latin typeface="Calibri"/>
              </a:rPr>
              <a:t>✓</a:t>
            </a:r>
          </a:p>
        </p:txBody>
      </p:sp>
      <p:sp>
        <p:nvSpPr>
          <p:cNvPr id="21" name="Rounded Rectangle 20"/>
          <p:cNvSpPr/>
          <p:nvPr/>
        </p:nvSpPr>
        <p:spPr>
          <a:xfrm>
            <a:off x="842304" y="4983480"/>
            <a:ext cx="2860774" cy="393895"/>
          </a:xfrm>
          <a:prstGeom prst="roundRect">
            <a:avLst>
              <a:gd name="adj" fmla="val 12000"/>
            </a:avLst>
          </a:prstGeom>
          <a:solidFill>
            <a:srgbClr val="F3E9D8"/>
          </a:solidFill>
          <a:ln w="15240">
            <a:solidFill>
              <a:srgbClr val="5B65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319" y="4983480"/>
            <a:ext cx="2750744" cy="393895"/>
          </a:xfrm>
          <a:prstGeom prst="rect">
            <a:avLst/>
          </a:prstGeom>
          <a:noFill/>
          <a:ln>
            <a:noFill/>
          </a:ln>
          <a:effectLst/>
        </p:spPr>
        <p:txBody>
          <a:bodyPr wrap="square" lIns="12700" rIns="12700" tIns="0" bIns="0" anchor="ctr">
            <a:spAutoFit/>
          </a:bodyPr>
          <a:lstStyle/>
          <a:p>
            <a:pPr algn="ctr"/>
            <a:r>
              <a:rPr sz="866" b="1">
                <a:solidFill>
                  <a:srgbClr val="5B657A"/>
                </a:solidFill>
                <a:latin typeface="Calibri"/>
              </a:rPr>
              <a:t>Only outbound: signed corpus updates</a:t>
            </a:r>
          </a:p>
        </p:txBody>
      </p:sp>
      <p:sp>
        <p:nvSpPr>
          <p:cNvPr id="23" name="Rounded Rectangle 22"/>
          <p:cNvSpPr/>
          <p:nvPr/>
        </p:nvSpPr>
        <p:spPr>
          <a:xfrm>
            <a:off x="4473286" y="4097215"/>
            <a:ext cx="1375372" cy="640080"/>
          </a:xfrm>
          <a:prstGeom prst="roundRect">
            <a:avLst>
              <a:gd name="adj" fmla="val 12000"/>
            </a:avLst>
          </a:prstGeom>
          <a:solidFill>
            <a:srgbClr val="FDE9EE"/>
          </a:solidFill>
          <a:ln w="20320">
            <a:solidFill>
              <a:srgbClr val="C91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8420" y="4097215"/>
            <a:ext cx="825223" cy="640080"/>
          </a:xfrm>
          <a:prstGeom prst="rect">
            <a:avLst/>
          </a:prstGeom>
          <a:noFill/>
          <a:ln>
            <a:noFill/>
          </a:ln>
          <a:effectLst/>
        </p:spPr>
        <p:txBody>
          <a:bodyPr wrap="square" lIns="12700" rIns="12700" tIns="0" bIns="0" anchor="ctr">
            <a:spAutoFit/>
          </a:bodyPr>
          <a:lstStyle/>
          <a:p>
            <a:pPr algn="ctr"/>
            <a:r>
              <a:rPr sz="1002" b="1">
                <a:solidFill>
                  <a:srgbClr val="C9184A"/>
                </a:solidFill>
                <a:latin typeface="Calibri"/>
              </a:rPr>
              <a:t>Cloud LLM</a:t>
            </a:r>
          </a:p>
          <a:p>
            <a:pPr algn="ctr">
              <a:spcBef>
                <a:spcPts val="100"/>
              </a:spcBef>
            </a:pPr>
            <a:r>
              <a:rPr sz="774">
                <a:solidFill>
                  <a:srgbClr val="C9184A"/>
                </a:solidFill>
                <a:latin typeface="Calibri"/>
              </a:rPr>
              <a:t>Copilot · GPT-4</a:t>
            </a:r>
          </a:p>
          <a:p>
            <a:pPr algn="ctr">
              <a:spcBef>
                <a:spcPts val="100"/>
              </a:spcBef>
            </a:pPr>
            <a:r>
              <a:rPr sz="774">
                <a:solidFill>
                  <a:srgbClr val="C9184A"/>
                </a:solidFill>
                <a:latin typeface="Calibri"/>
              </a:rPr>
              <a:t>Claude · Cursor</a:t>
            </a:r>
          </a:p>
        </p:txBody>
      </p:sp>
      <p:sp>
        <p:nvSpPr>
          <p:cNvPr id="25" name="Oval 24"/>
          <p:cNvSpPr/>
          <p:nvPr/>
        </p:nvSpPr>
        <p:spPr>
          <a:xfrm>
            <a:off x="4665512" y="4279392"/>
            <a:ext cx="275727" cy="275727"/>
          </a:xfrm>
          <a:prstGeom prst="ellipse">
            <a:avLst/>
          </a:prstGeom>
          <a:solidFill>
            <a:srgbClr val="C91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7" b="1">
                <a:solidFill>
                  <a:srgbClr val="FFFFFF"/>
                </a:solidFill>
                <a:latin typeface="Calibri"/>
              </a:rPr>
              <a:t>✗</a:t>
            </a:r>
          </a:p>
        </p:txBody>
      </p:sp>
      <p:cxnSp>
        <p:nvCxnSpPr>
          <p:cNvPr id="26" name="Connector 25"/>
          <p:cNvCxnSpPr/>
          <p:nvPr/>
        </p:nvCxnSpPr>
        <p:spPr>
          <a:xfrm>
            <a:off x="3703078" y="4417255"/>
            <a:ext cx="770208" cy="0"/>
          </a:xfrm>
          <a:prstGeom prst="line">
            <a:avLst/>
          </a:prstGeom>
          <a:ln w="22860">
            <a:solidFill>
              <a:srgbClr val="C9184A"/>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538033" y="3982126"/>
            <a:ext cx="1100298" cy="328652"/>
          </a:xfrm>
          <a:prstGeom prst="rect">
            <a:avLst/>
          </a:prstGeom>
          <a:noFill/>
          <a:ln>
            <a:noFill/>
          </a:ln>
          <a:effectLst/>
        </p:spPr>
        <p:txBody>
          <a:bodyPr wrap="square" lIns="12700" rIns="12700" tIns="0" bIns="0" anchor="ctr">
            <a:spAutoFit/>
          </a:bodyPr>
          <a:lstStyle/>
          <a:p>
            <a:pPr algn="ctr"/>
            <a:r>
              <a:rPr sz="729" b="1" i="1">
                <a:solidFill>
                  <a:srgbClr val="C9184A"/>
                </a:solidFill>
                <a:latin typeface="Calibri"/>
              </a:rPr>
              <a:t>requires</a:t>
            </a:r>
          </a:p>
          <a:p>
            <a:pPr algn="ctr"/>
            <a:r>
              <a:rPr sz="729" b="1" i="1">
                <a:solidFill>
                  <a:srgbClr val="C9184A"/>
                </a:solidFill>
                <a:latin typeface="Calibri"/>
              </a:rPr>
              <a:t>code egress</a:t>
            </a:r>
          </a:p>
        </p:txBody>
      </p:sp>
      <p:sp>
        <p:nvSpPr>
          <p:cNvPr id="28" name="TextBox 27"/>
          <p:cNvSpPr txBox="1"/>
          <p:nvPr/>
        </p:nvSpPr>
        <p:spPr>
          <a:xfrm>
            <a:off x="567230" y="5942870"/>
            <a:ext cx="5281428" cy="198409"/>
          </a:xfrm>
          <a:prstGeom prst="rect">
            <a:avLst/>
          </a:prstGeom>
          <a:noFill/>
          <a:ln>
            <a:noFill/>
          </a:ln>
          <a:effectLst/>
        </p:spPr>
        <p:txBody>
          <a:bodyPr wrap="square" lIns="12700" rIns="12700" tIns="0" bIns="0" anchor="ctr">
            <a:spAutoFit/>
          </a:bodyPr>
          <a:lstStyle/>
          <a:p>
            <a:pPr algn="ctr"/>
            <a:r>
              <a:rPr sz="774" b="1" i="0">
                <a:solidFill>
                  <a:srgbClr val="C9184A"/>
                </a:solidFill>
                <a:latin typeface="Calibri"/>
              </a:rPr>
              <a:t>Cloud baselines can't be run without breaking the threat model.</a:t>
            </a:r>
          </a:p>
        </p:txBody>
      </p:sp>
      <p:sp>
        <p:nvSpPr>
          <p:cNvPr id="29" name="Rounded Rectangle 28"/>
          <p:cNvSpPr/>
          <p:nvPr/>
        </p:nvSpPr>
        <p:spPr>
          <a:xfrm>
            <a:off x="6233007" y="1783080"/>
            <a:ext cx="5501487" cy="4480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920240"/>
            <a:ext cx="5044287" cy="365760"/>
          </a:xfrm>
          <a:prstGeom prst="rect">
            <a:avLst/>
          </a:prstGeom>
          <a:noFill/>
        </p:spPr>
        <p:txBody>
          <a:bodyPr wrap="square" lIns="73152" rIns="73152" tIns="36576" bIns="36576" anchor="t">
            <a:spAutoFit/>
          </a:bodyPr>
          <a:lstStyle/>
          <a:p>
            <a:pPr algn="l"/>
            <a:r>
              <a:rPr sz="1100" b="1" i="0">
                <a:solidFill>
                  <a:srgbClr val="FCA311"/>
                </a:solidFill>
                <a:latin typeface="Calibri"/>
              </a:rPr>
              <a:t>ARGUMENT</a:t>
            </a:r>
          </a:p>
        </p:txBody>
      </p:sp>
      <p:sp>
        <p:nvSpPr>
          <p:cNvPr id="31" name="TextBox 30"/>
          <p:cNvSpPr txBox="1"/>
          <p:nvPr/>
        </p:nvSpPr>
        <p:spPr>
          <a:xfrm>
            <a:off x="6461607" y="2331720"/>
            <a:ext cx="5044287" cy="320040"/>
          </a:xfrm>
          <a:prstGeom prst="rect">
            <a:avLst/>
          </a:prstGeom>
          <a:noFill/>
        </p:spPr>
        <p:txBody>
          <a:bodyPr wrap="square" lIns="73152" rIns="73152" tIns="36576" bIns="36576" anchor="t">
            <a:spAutoFit/>
          </a:bodyPr>
          <a:lstStyle/>
          <a:p>
            <a:pPr algn="l"/>
            <a:r>
              <a:rPr sz="1200" b="1" i="0">
                <a:solidFill>
                  <a:srgbClr val="FFFFFF"/>
                </a:solidFill>
                <a:latin typeface="Calibri"/>
              </a:rPr>
              <a:t>Cloud-LLM is the problem statement</a:t>
            </a:r>
          </a:p>
        </p:txBody>
      </p:sp>
      <p:sp>
        <p:nvSpPr>
          <p:cNvPr id="32" name="TextBox 31"/>
          <p:cNvSpPr txBox="1"/>
          <p:nvPr/>
        </p:nvSpPr>
        <p:spPr>
          <a:xfrm>
            <a:off x="6461607" y="2651760"/>
            <a:ext cx="5044287" cy="640080"/>
          </a:xfrm>
          <a:prstGeom prst="rect">
            <a:avLst/>
          </a:prstGeom>
          <a:noFill/>
        </p:spPr>
        <p:txBody>
          <a:bodyPr wrap="square" lIns="73152" rIns="73152" tIns="36576" bIns="36576" anchor="t">
            <a:spAutoFit/>
          </a:bodyPr>
          <a:lstStyle/>
          <a:p>
            <a:pPr algn="l"/>
            <a:r>
              <a:rPr sz="1000" b="0" i="0">
                <a:solidFill>
                  <a:srgbClr val="C8D0E0"/>
                </a:solidFill>
                <a:latin typeface="Calibri"/>
              </a:rPr>
              <a:t>Including it as a baseline contradicts the threat model.</a:t>
            </a:r>
          </a:p>
        </p:txBody>
      </p:sp>
      <p:sp>
        <p:nvSpPr>
          <p:cNvPr id="33" name="TextBox 32"/>
          <p:cNvSpPr txBox="1"/>
          <p:nvPr/>
        </p:nvSpPr>
        <p:spPr>
          <a:xfrm>
            <a:off x="6461607" y="3291840"/>
            <a:ext cx="5044287" cy="320040"/>
          </a:xfrm>
          <a:prstGeom prst="rect">
            <a:avLst/>
          </a:prstGeom>
          <a:noFill/>
        </p:spPr>
        <p:txBody>
          <a:bodyPr wrap="square" lIns="73152" rIns="73152" tIns="36576" bIns="36576" anchor="t">
            <a:spAutoFit/>
          </a:bodyPr>
          <a:lstStyle/>
          <a:p>
            <a:pPr algn="l"/>
            <a:r>
              <a:rPr sz="1200" b="1" i="0">
                <a:solidFill>
                  <a:srgbClr val="FFFFFF"/>
                </a:solidFill>
                <a:latin typeface="Calibri"/>
              </a:rPr>
              <a:t>Floor provided by 3 SAST baselines</a:t>
            </a:r>
          </a:p>
        </p:txBody>
      </p:sp>
      <p:sp>
        <p:nvSpPr>
          <p:cNvPr id="34" name="TextBox 33"/>
          <p:cNvSpPr txBox="1"/>
          <p:nvPr/>
        </p:nvSpPr>
        <p:spPr>
          <a:xfrm>
            <a:off x="6461607" y="3611880"/>
            <a:ext cx="5044287" cy="640080"/>
          </a:xfrm>
          <a:prstGeom prst="rect">
            <a:avLst/>
          </a:prstGeom>
          <a:noFill/>
        </p:spPr>
        <p:txBody>
          <a:bodyPr wrap="square" lIns="73152" rIns="73152" tIns="36576" bIns="36576" anchor="t">
            <a:spAutoFit/>
          </a:bodyPr>
          <a:lstStyle/>
          <a:p>
            <a:pPr algn="l"/>
            <a:r>
              <a:rPr sz="1000" b="0" i="0">
                <a:solidFill>
                  <a:srgbClr val="C8D0E0"/>
                </a:solidFill>
                <a:latin typeface="Calibri"/>
              </a:rPr>
              <a:t>Semgrep, CodeQL, ESLint  ·  all local, all reproducible.</a:t>
            </a:r>
          </a:p>
        </p:txBody>
      </p:sp>
      <p:sp>
        <p:nvSpPr>
          <p:cNvPr id="35" name="TextBox 34"/>
          <p:cNvSpPr txBox="1"/>
          <p:nvPr/>
        </p:nvSpPr>
        <p:spPr>
          <a:xfrm>
            <a:off x="6461607" y="4251960"/>
            <a:ext cx="5044287" cy="320040"/>
          </a:xfrm>
          <a:prstGeom prst="rect">
            <a:avLst/>
          </a:prstGeom>
          <a:noFill/>
        </p:spPr>
        <p:txBody>
          <a:bodyPr wrap="square" lIns="73152" rIns="73152" tIns="36576" bIns="36576" anchor="t">
            <a:spAutoFit/>
          </a:bodyPr>
          <a:lstStyle/>
          <a:p>
            <a:pPr algn="l"/>
            <a:r>
              <a:rPr sz="1200" b="1" i="0">
                <a:solidFill>
                  <a:srgbClr val="FFFFFF"/>
                </a:solidFill>
                <a:latin typeface="Calibri"/>
              </a:rPr>
              <a:t>Frontier cloud will always win raw F1</a:t>
            </a:r>
          </a:p>
        </p:txBody>
      </p:sp>
      <p:sp>
        <p:nvSpPr>
          <p:cNvPr id="36" name="TextBox 35"/>
          <p:cNvSpPr txBox="1"/>
          <p:nvPr/>
        </p:nvSpPr>
        <p:spPr>
          <a:xfrm>
            <a:off x="6461607" y="4572000"/>
            <a:ext cx="5044287" cy="640080"/>
          </a:xfrm>
          <a:prstGeom prst="rect">
            <a:avLst/>
          </a:prstGeom>
          <a:noFill/>
        </p:spPr>
        <p:txBody>
          <a:bodyPr wrap="square" lIns="73152" rIns="73152" tIns="36576" bIns="36576" anchor="t">
            <a:spAutoFit/>
          </a:bodyPr>
          <a:lstStyle/>
          <a:p>
            <a:pPr algn="l"/>
            <a:r>
              <a:rPr sz="1000" b="0" i="0">
                <a:solidFill>
                  <a:srgbClr val="C8D0E0"/>
                </a:solidFill>
                <a:latin typeface="Calibri"/>
              </a:rPr>
              <a:t>The thesis competes on the constraint set:  local, zero-egress, reproducible.</a:t>
            </a:r>
          </a:p>
        </p:txBody>
      </p:sp>
      <p:sp>
        <p:nvSpPr>
          <p:cNvPr id="37" name="TextBox 36"/>
          <p:cNvSpPr txBox="1"/>
          <p:nvPr/>
        </p:nvSpPr>
        <p:spPr>
          <a:xfrm>
            <a:off x="6461607" y="5212080"/>
            <a:ext cx="5044287" cy="320040"/>
          </a:xfrm>
          <a:prstGeom prst="rect">
            <a:avLst/>
          </a:prstGeom>
          <a:noFill/>
        </p:spPr>
        <p:txBody>
          <a:bodyPr wrap="square" lIns="73152" rIns="73152" tIns="36576" bIns="36576" anchor="t">
            <a:spAutoFit/>
          </a:bodyPr>
          <a:lstStyle/>
          <a:p>
            <a:pPr algn="l"/>
            <a:r>
              <a:rPr sz="1200" b="1" i="0">
                <a:solidFill>
                  <a:srgbClr val="FFFFFF"/>
                </a:solidFill>
                <a:latin typeface="Calibri"/>
              </a:rPr>
              <a:t>Post-defense addendum</a:t>
            </a:r>
          </a:p>
        </p:txBody>
      </p:sp>
      <p:sp>
        <p:nvSpPr>
          <p:cNvPr id="38" name="TextBox 37"/>
          <p:cNvSpPr txBox="1"/>
          <p:nvPr/>
        </p:nvSpPr>
        <p:spPr>
          <a:xfrm>
            <a:off x="6461607" y="5532120"/>
            <a:ext cx="5044287" cy="640080"/>
          </a:xfrm>
          <a:prstGeom prst="rect">
            <a:avLst/>
          </a:prstGeom>
          <a:noFill/>
        </p:spPr>
        <p:txBody>
          <a:bodyPr wrap="square" lIns="73152" rIns="73152" tIns="36576" bIns="36576" anchor="t">
            <a:spAutoFit/>
          </a:bodyPr>
          <a:lstStyle/>
          <a:p>
            <a:pPr algn="l"/>
            <a:r>
              <a:rPr sz="1000" b="0" i="0">
                <a:solidFill>
                  <a:srgbClr val="C8D0E0"/>
                </a:solidFill>
                <a:latin typeface="Calibri"/>
              </a:rPr>
              <a:t>A one-paragraph comparison to published GPT-4 numbers on similar JS corpora is straightforward.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A6  ·  Why R2 Reports 100 % Inter-Run Agreement</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457200" y="1783080"/>
            <a:ext cx="3637178" cy="3200400"/>
          </a:xfrm>
          <a:prstGeom prst="roundRect">
            <a:avLst>
              <a:gd name="adj" fmla="val 6000"/>
            </a:avLst>
          </a:prstGeom>
          <a:solidFill>
            <a:srgbClr val="0B1428"/>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74520"/>
            <a:ext cx="3271418" cy="320040"/>
          </a:xfrm>
          <a:prstGeom prst="rect">
            <a:avLst/>
          </a:prstGeom>
          <a:noFill/>
        </p:spPr>
        <p:txBody>
          <a:bodyPr wrap="square" lIns="73152" rIns="73152" tIns="36576" bIns="36576" anchor="t">
            <a:spAutoFit/>
          </a:bodyPr>
          <a:lstStyle/>
          <a:p>
            <a:pPr algn="l"/>
            <a:r>
              <a:rPr sz="1000" b="1" i="0">
                <a:solidFill>
                  <a:srgbClr val="FCA311"/>
                </a:solidFill>
                <a:latin typeface="Calibri"/>
              </a:rPr>
              <a:t>RUN 1</a:t>
            </a:r>
          </a:p>
        </p:txBody>
      </p:sp>
      <p:sp>
        <p:nvSpPr>
          <p:cNvPr id="12" name="TextBox 11"/>
          <p:cNvSpPr txBox="1"/>
          <p:nvPr/>
        </p:nvSpPr>
        <p:spPr>
          <a:xfrm>
            <a:off x="640080" y="2194560"/>
            <a:ext cx="3271418" cy="2743200"/>
          </a:xfrm>
          <a:prstGeom prst="rect">
            <a:avLst/>
          </a:prstGeom>
          <a:noFill/>
        </p:spPr>
        <p:txBody>
          <a:bodyPr wrap="square" lIns="73152" rIns="73152" tIns="36576" bIns="36576" anchor="t">
            <a:spAutoFit/>
          </a:bodyPr>
          <a:lstStyle/>
          <a:p>
            <a:pPr algn="l"/>
            <a:r>
              <a:rPr sz="1100" b="0" i="0">
                <a:solidFill>
                  <a:srgbClr val="FFFFFF"/>
                </a:solidFill>
                <a:latin typeface="Courier New"/>
              </a:rPr>
              <a:t>{</a:t>
            </a:r>
          </a:p>
          <a:p>
            <a:pPr algn="l"/>
            <a:r>
              <a:rPr sz="1100" b="0" i="0">
                <a:solidFill>
                  <a:srgbClr val="FFFFFF"/>
                </a:solidFill>
                <a:latin typeface="Courier New"/>
              </a:rPr>
              <a:t>  "findings": [</a:t>
            </a:r>
          </a:p>
          <a:p>
            <a:pPr algn="l"/>
            <a:r>
              <a:rPr sz="1100" b="0" i="0">
                <a:solidFill>
                  <a:srgbClr val="FFFFFF"/>
                </a:solidFill>
                <a:latin typeface="Courier New"/>
              </a:rPr>
              <a:t>    {</a:t>
            </a:r>
          </a:p>
          <a:p>
            <a:pPr algn="l"/>
            <a:r>
              <a:rPr sz="1100" b="0" i="0">
                <a:solidFill>
                  <a:srgbClr val="FFFFFF"/>
                </a:solidFill>
                <a:latin typeface="Courier New"/>
              </a:rPr>
              <a:t>      "category":</a:t>
            </a:r>
          </a:p>
          <a:p>
            <a:pPr algn="l"/>
            <a:r>
              <a:rPr sz="1100" b="0" i="0">
                <a:solidFill>
                  <a:srgbClr val="FFFFFF"/>
                </a:solidFill>
                <a:latin typeface="Courier New"/>
              </a:rPr>
              <a:t>        "sql-injection",</a:t>
            </a:r>
          </a:p>
          <a:p>
            <a:pPr algn="l"/>
            <a:r>
              <a:rPr sz="1100" b="0" i="0">
                <a:solidFill>
                  <a:srgbClr val="FFFFFF"/>
                </a:solidFill>
                <a:latin typeface="Courier New"/>
              </a:rPr>
              <a:t>      "severity":</a:t>
            </a:r>
          </a:p>
          <a:p>
            <a:pPr algn="l"/>
            <a:r>
              <a:rPr sz="1100" b="0" i="0">
                <a:solidFill>
                  <a:srgbClr val="FFFFFF"/>
                </a:solidFill>
                <a:latin typeface="Courier New"/>
              </a:rPr>
              <a:t>        "high",</a:t>
            </a:r>
          </a:p>
          <a:p>
            <a:pPr algn="l"/>
            <a:r>
              <a:rPr sz="1100" b="0" i="0">
                <a:solidFill>
                  <a:srgbClr val="FFFFFF"/>
                </a:solidFill>
                <a:latin typeface="Courier New"/>
              </a:rPr>
              <a:t>      "line": 42</a:t>
            </a:r>
          </a:p>
          <a:p>
            <a:pPr algn="l"/>
            <a:r>
              <a:rPr sz="1100" b="0" i="0">
                <a:solidFill>
                  <a:srgbClr val="FFFFFF"/>
                </a:solidFill>
                <a:latin typeface="Courier New"/>
              </a:rPr>
              <a:t>    }</a:t>
            </a:r>
          </a:p>
          <a:p>
            <a:pPr algn="l"/>
            <a:r>
              <a:rPr sz="1100" b="0" i="0">
                <a:solidFill>
                  <a:srgbClr val="FFFFFF"/>
                </a:solidFill>
                <a:latin typeface="Courier New"/>
              </a:rPr>
              <a:t>  ]</a:t>
            </a:r>
          </a:p>
          <a:p>
            <a:pPr algn="l"/>
            <a:r>
              <a:rPr sz="1100" b="0" i="0">
                <a:solidFill>
                  <a:srgbClr val="FFFFFF"/>
                </a:solidFill>
                <a:latin typeface="Courier New"/>
              </a:rPr>
              <a:t>}</a:t>
            </a:r>
          </a:p>
        </p:txBody>
      </p:sp>
      <p:sp>
        <p:nvSpPr>
          <p:cNvPr id="13" name="Rounded Rectangle 12"/>
          <p:cNvSpPr/>
          <p:nvPr/>
        </p:nvSpPr>
        <p:spPr>
          <a:xfrm>
            <a:off x="4277258" y="1783080"/>
            <a:ext cx="3637178" cy="3200400"/>
          </a:xfrm>
          <a:prstGeom prst="roundRect">
            <a:avLst>
              <a:gd name="adj" fmla="val 6000"/>
            </a:avLst>
          </a:prstGeom>
          <a:solidFill>
            <a:srgbClr val="0B1428"/>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0138" y="1874520"/>
            <a:ext cx="3271418" cy="320040"/>
          </a:xfrm>
          <a:prstGeom prst="rect">
            <a:avLst/>
          </a:prstGeom>
          <a:noFill/>
        </p:spPr>
        <p:txBody>
          <a:bodyPr wrap="square" lIns="73152" rIns="73152" tIns="36576" bIns="36576" anchor="t">
            <a:spAutoFit/>
          </a:bodyPr>
          <a:lstStyle/>
          <a:p>
            <a:pPr algn="l"/>
            <a:r>
              <a:rPr sz="1000" b="1" i="0">
                <a:solidFill>
                  <a:srgbClr val="FCA311"/>
                </a:solidFill>
                <a:latin typeface="Calibri"/>
              </a:rPr>
              <a:t>RUN 2</a:t>
            </a:r>
          </a:p>
        </p:txBody>
      </p:sp>
      <p:sp>
        <p:nvSpPr>
          <p:cNvPr id="15" name="TextBox 14"/>
          <p:cNvSpPr txBox="1"/>
          <p:nvPr/>
        </p:nvSpPr>
        <p:spPr>
          <a:xfrm>
            <a:off x="4460138" y="2194560"/>
            <a:ext cx="3271418" cy="2743200"/>
          </a:xfrm>
          <a:prstGeom prst="rect">
            <a:avLst/>
          </a:prstGeom>
          <a:noFill/>
        </p:spPr>
        <p:txBody>
          <a:bodyPr wrap="square" lIns="73152" rIns="73152" tIns="36576" bIns="36576" anchor="t">
            <a:spAutoFit/>
          </a:bodyPr>
          <a:lstStyle/>
          <a:p>
            <a:pPr algn="l"/>
            <a:r>
              <a:rPr sz="1100" b="0" i="0">
                <a:solidFill>
                  <a:srgbClr val="FFFFFF"/>
                </a:solidFill>
                <a:latin typeface="Courier New"/>
              </a:rPr>
              <a:t>{</a:t>
            </a:r>
          </a:p>
          <a:p>
            <a:pPr algn="l"/>
            <a:r>
              <a:rPr sz="1100" b="0" i="0">
                <a:solidFill>
                  <a:srgbClr val="FFFFFF"/>
                </a:solidFill>
                <a:latin typeface="Courier New"/>
              </a:rPr>
              <a:t>  "findings": [</a:t>
            </a:r>
          </a:p>
          <a:p>
            <a:pPr algn="l"/>
            <a:r>
              <a:rPr sz="1100" b="0" i="0">
                <a:solidFill>
                  <a:srgbClr val="FFFFFF"/>
                </a:solidFill>
                <a:latin typeface="Courier New"/>
              </a:rPr>
              <a:t>    {</a:t>
            </a:r>
          </a:p>
          <a:p>
            <a:pPr algn="l"/>
            <a:r>
              <a:rPr sz="1100" b="0" i="0">
                <a:solidFill>
                  <a:srgbClr val="FFFFFF"/>
                </a:solidFill>
                <a:latin typeface="Courier New"/>
              </a:rPr>
              <a:t>      "category":</a:t>
            </a:r>
          </a:p>
          <a:p>
            <a:pPr algn="l"/>
            <a:r>
              <a:rPr sz="1100" b="0" i="0">
                <a:solidFill>
                  <a:srgbClr val="FFFFFF"/>
                </a:solidFill>
                <a:latin typeface="Courier New"/>
              </a:rPr>
              <a:t>        "sql-injection",</a:t>
            </a:r>
          </a:p>
          <a:p>
            <a:pPr algn="l"/>
            <a:r>
              <a:rPr sz="1100" b="0" i="0">
                <a:solidFill>
                  <a:srgbClr val="FFFFFF"/>
                </a:solidFill>
                <a:latin typeface="Courier New"/>
              </a:rPr>
              <a:t>      "severity":</a:t>
            </a:r>
          </a:p>
          <a:p>
            <a:pPr algn="l"/>
            <a:r>
              <a:rPr sz="1100" b="0" i="0">
                <a:solidFill>
                  <a:srgbClr val="FFFFFF"/>
                </a:solidFill>
                <a:latin typeface="Courier New"/>
              </a:rPr>
              <a:t>        "high",</a:t>
            </a:r>
          </a:p>
          <a:p>
            <a:pPr algn="l"/>
            <a:r>
              <a:rPr sz="1100" b="0" i="0">
                <a:solidFill>
                  <a:srgbClr val="FFFFFF"/>
                </a:solidFill>
                <a:latin typeface="Courier New"/>
              </a:rPr>
              <a:t>      "line": 42</a:t>
            </a:r>
          </a:p>
          <a:p>
            <a:pPr algn="l"/>
            <a:r>
              <a:rPr sz="1100" b="0" i="0">
                <a:solidFill>
                  <a:srgbClr val="FFFFFF"/>
                </a:solidFill>
                <a:latin typeface="Courier New"/>
              </a:rPr>
              <a:t>    }</a:t>
            </a:r>
          </a:p>
          <a:p>
            <a:pPr algn="l"/>
            <a:r>
              <a:rPr sz="1100" b="0" i="0">
                <a:solidFill>
                  <a:srgbClr val="FFFFFF"/>
                </a:solidFill>
                <a:latin typeface="Courier New"/>
              </a:rPr>
              <a:t>  ]</a:t>
            </a:r>
          </a:p>
          <a:p>
            <a:pPr algn="l"/>
            <a:r>
              <a:rPr sz="1100" b="0" i="0">
                <a:solidFill>
                  <a:srgbClr val="FFFFFF"/>
                </a:solidFill>
                <a:latin typeface="Courier New"/>
              </a:rPr>
              <a:t>}</a:t>
            </a:r>
          </a:p>
        </p:txBody>
      </p:sp>
      <p:sp>
        <p:nvSpPr>
          <p:cNvPr id="16" name="Rounded Rectangle 15"/>
          <p:cNvSpPr/>
          <p:nvPr/>
        </p:nvSpPr>
        <p:spPr>
          <a:xfrm>
            <a:off x="8097316" y="1783080"/>
            <a:ext cx="3637178" cy="3200400"/>
          </a:xfrm>
          <a:prstGeom prst="roundRect">
            <a:avLst>
              <a:gd name="adj" fmla="val 6000"/>
            </a:avLst>
          </a:prstGeom>
          <a:solidFill>
            <a:srgbClr val="0B1428"/>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0196" y="1874520"/>
            <a:ext cx="3271418" cy="320040"/>
          </a:xfrm>
          <a:prstGeom prst="rect">
            <a:avLst/>
          </a:prstGeom>
          <a:noFill/>
        </p:spPr>
        <p:txBody>
          <a:bodyPr wrap="square" lIns="73152" rIns="73152" tIns="36576" bIns="36576" anchor="t">
            <a:spAutoFit/>
          </a:bodyPr>
          <a:lstStyle/>
          <a:p>
            <a:pPr algn="l"/>
            <a:r>
              <a:rPr sz="1000" b="1" i="0">
                <a:solidFill>
                  <a:srgbClr val="FCA311"/>
                </a:solidFill>
                <a:latin typeface="Calibri"/>
              </a:rPr>
              <a:t>RUN 3</a:t>
            </a:r>
          </a:p>
        </p:txBody>
      </p:sp>
      <p:sp>
        <p:nvSpPr>
          <p:cNvPr id="18" name="TextBox 17"/>
          <p:cNvSpPr txBox="1"/>
          <p:nvPr/>
        </p:nvSpPr>
        <p:spPr>
          <a:xfrm>
            <a:off x="8280196" y="2194560"/>
            <a:ext cx="3271418" cy="2743200"/>
          </a:xfrm>
          <a:prstGeom prst="rect">
            <a:avLst/>
          </a:prstGeom>
          <a:noFill/>
        </p:spPr>
        <p:txBody>
          <a:bodyPr wrap="square" lIns="73152" rIns="73152" tIns="36576" bIns="36576" anchor="t">
            <a:spAutoFit/>
          </a:bodyPr>
          <a:lstStyle/>
          <a:p>
            <a:pPr algn="l"/>
            <a:r>
              <a:rPr sz="1100" b="0" i="0">
                <a:solidFill>
                  <a:srgbClr val="FFFFFF"/>
                </a:solidFill>
                <a:latin typeface="Courier New"/>
              </a:rPr>
              <a:t>{</a:t>
            </a:r>
          </a:p>
          <a:p>
            <a:pPr algn="l"/>
            <a:r>
              <a:rPr sz="1100" b="0" i="0">
                <a:solidFill>
                  <a:srgbClr val="FFFFFF"/>
                </a:solidFill>
                <a:latin typeface="Courier New"/>
              </a:rPr>
              <a:t>  "findings": [</a:t>
            </a:r>
          </a:p>
          <a:p>
            <a:pPr algn="l"/>
            <a:r>
              <a:rPr sz="1100" b="0" i="0">
                <a:solidFill>
                  <a:srgbClr val="FFFFFF"/>
                </a:solidFill>
                <a:latin typeface="Courier New"/>
              </a:rPr>
              <a:t>    {</a:t>
            </a:r>
          </a:p>
          <a:p>
            <a:pPr algn="l"/>
            <a:r>
              <a:rPr sz="1100" b="0" i="0">
                <a:solidFill>
                  <a:srgbClr val="FFFFFF"/>
                </a:solidFill>
                <a:latin typeface="Courier New"/>
              </a:rPr>
              <a:t>      "category":</a:t>
            </a:r>
          </a:p>
          <a:p>
            <a:pPr algn="l"/>
            <a:r>
              <a:rPr sz="1100" b="0" i="0">
                <a:solidFill>
                  <a:srgbClr val="FFFFFF"/>
                </a:solidFill>
                <a:latin typeface="Courier New"/>
              </a:rPr>
              <a:t>        "sql-injection",</a:t>
            </a:r>
          </a:p>
          <a:p>
            <a:pPr algn="l"/>
            <a:r>
              <a:rPr sz="1100" b="0" i="0">
                <a:solidFill>
                  <a:srgbClr val="FFFFFF"/>
                </a:solidFill>
                <a:latin typeface="Courier New"/>
              </a:rPr>
              <a:t>      "severity":</a:t>
            </a:r>
          </a:p>
          <a:p>
            <a:pPr algn="l"/>
            <a:r>
              <a:rPr sz="1100" b="0" i="0">
                <a:solidFill>
                  <a:srgbClr val="FFFFFF"/>
                </a:solidFill>
                <a:latin typeface="Courier New"/>
              </a:rPr>
              <a:t>        "high",</a:t>
            </a:r>
          </a:p>
          <a:p>
            <a:pPr algn="l"/>
            <a:r>
              <a:rPr sz="1100" b="0" i="0">
                <a:solidFill>
                  <a:srgbClr val="FFFFFF"/>
                </a:solidFill>
                <a:latin typeface="Courier New"/>
              </a:rPr>
              <a:t>      "line": 42</a:t>
            </a:r>
          </a:p>
          <a:p>
            <a:pPr algn="l"/>
            <a:r>
              <a:rPr sz="1100" b="0" i="0">
                <a:solidFill>
                  <a:srgbClr val="FFFFFF"/>
                </a:solidFill>
                <a:latin typeface="Courier New"/>
              </a:rPr>
              <a:t>    }</a:t>
            </a:r>
          </a:p>
          <a:p>
            <a:pPr algn="l"/>
            <a:r>
              <a:rPr sz="1100" b="0" i="0">
                <a:solidFill>
                  <a:srgbClr val="FFFFFF"/>
                </a:solidFill>
                <a:latin typeface="Courier New"/>
              </a:rPr>
              <a:t>  ]</a:t>
            </a:r>
          </a:p>
          <a:p>
            <a:pPr algn="l"/>
            <a:r>
              <a:rPr sz="1100" b="0" i="0">
                <a:solidFill>
                  <a:srgbClr val="FFFFFF"/>
                </a:solidFill>
                <a:latin typeface="Courier New"/>
              </a:rPr>
              <a:t>}</a:t>
            </a:r>
          </a:p>
        </p:txBody>
      </p:sp>
      <p:sp>
        <p:nvSpPr>
          <p:cNvPr id="19" name="Rounded Rectangle 18"/>
          <p:cNvSpPr/>
          <p:nvPr/>
        </p:nvSpPr>
        <p:spPr>
          <a:xfrm>
            <a:off x="457200" y="5166360"/>
            <a:ext cx="11277295" cy="86868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57800"/>
            <a:ext cx="10728655" cy="274320"/>
          </a:xfrm>
          <a:prstGeom prst="rect">
            <a:avLst/>
          </a:prstGeom>
          <a:noFill/>
        </p:spPr>
        <p:txBody>
          <a:bodyPr wrap="square" lIns="73152" rIns="73152" tIns="36576" bIns="36576" anchor="t">
            <a:spAutoFit/>
          </a:bodyPr>
          <a:lstStyle/>
          <a:p>
            <a:pPr algn="l"/>
            <a:r>
              <a:rPr sz="1000" b="1" i="0">
                <a:solidFill>
                  <a:srgbClr val="FCA311"/>
                </a:solidFill>
                <a:latin typeface="Calibri"/>
              </a:rPr>
              <a:t>WHY THEY'RE IDENTICAL</a:t>
            </a:r>
          </a:p>
        </p:txBody>
      </p:sp>
      <p:sp>
        <p:nvSpPr>
          <p:cNvPr id="21" name="TextBox 20"/>
          <p:cNvSpPr txBox="1"/>
          <p:nvPr/>
        </p:nvSpPr>
        <p:spPr>
          <a:xfrm>
            <a:off x="731520" y="5532120"/>
            <a:ext cx="10728655" cy="457200"/>
          </a:xfrm>
          <a:prstGeom prst="rect">
            <a:avLst/>
          </a:prstGeom>
          <a:noFill/>
        </p:spPr>
        <p:txBody>
          <a:bodyPr wrap="square" lIns="73152" rIns="73152" tIns="36576" bIns="36576" anchor="t">
            <a:spAutoFit/>
          </a:bodyPr>
          <a:lstStyle/>
          <a:p>
            <a:pPr algn="l"/>
            <a:r>
              <a:rPr sz="1200" b="0" i="0">
                <a:solidFill>
                  <a:srgbClr val="FFFFFF"/>
                </a:solidFill>
                <a:latin typeface="Calibri"/>
              </a:rPr>
              <a:t>temperature = 0   ·   seed = 42   ·   format = JSON   ·   fixed prompt.  Byte-identical → consensus signal requires seed rotation (future work).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A7  ·  SAST Baseline Configuration</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ounded Rectangle 9"/>
          <p:cNvSpPr/>
          <p:nvPr/>
        </p:nvSpPr>
        <p:spPr>
          <a:xfrm>
            <a:off x="457200" y="1783080"/>
            <a:ext cx="11277295" cy="8686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91440" cy="868680"/>
          </a:xfrm>
          <a:prstGeom prst="rect">
            <a:avLst/>
          </a:prstGeom>
          <a:solidFill>
            <a:srgbClr val="5B65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783080"/>
            <a:ext cx="1828800" cy="868680"/>
          </a:xfrm>
          <a:prstGeom prst="rect">
            <a:avLst/>
          </a:prstGeom>
          <a:noFill/>
        </p:spPr>
        <p:txBody>
          <a:bodyPr wrap="square" lIns="73152" rIns="73152" tIns="36576" bIns="36576" anchor="ctr">
            <a:spAutoFit/>
          </a:bodyPr>
          <a:lstStyle/>
          <a:p>
            <a:pPr algn="l"/>
            <a:r>
              <a:rPr sz="1500" b="1" i="0">
                <a:solidFill>
                  <a:srgbClr val="0B1428"/>
                </a:solidFill>
                <a:latin typeface="Calibri"/>
              </a:rPr>
              <a:t>Semgrep</a:t>
            </a:r>
          </a:p>
        </p:txBody>
      </p:sp>
      <p:sp>
        <p:nvSpPr>
          <p:cNvPr id="13" name="TextBox 12"/>
          <p:cNvSpPr txBox="1"/>
          <p:nvPr/>
        </p:nvSpPr>
        <p:spPr>
          <a:xfrm>
            <a:off x="2468880" y="1783080"/>
            <a:ext cx="1280160" cy="868680"/>
          </a:xfrm>
          <a:prstGeom prst="rect">
            <a:avLst/>
          </a:prstGeom>
          <a:noFill/>
        </p:spPr>
        <p:txBody>
          <a:bodyPr wrap="square" lIns="73152" rIns="73152" tIns="36576" bIns="36576" anchor="ctr">
            <a:spAutoFit/>
          </a:bodyPr>
          <a:lstStyle/>
          <a:p>
            <a:pPr algn="ctr"/>
            <a:r>
              <a:rPr sz="1500" b="1" i="0">
                <a:solidFill>
                  <a:srgbClr val="C9184A"/>
                </a:solidFill>
                <a:latin typeface="Calibri"/>
              </a:rPr>
              <a:t>20.22 %</a:t>
            </a:r>
          </a:p>
        </p:txBody>
      </p:sp>
      <p:sp>
        <p:nvSpPr>
          <p:cNvPr id="14" name="TextBox 13"/>
          <p:cNvSpPr txBox="1"/>
          <p:nvPr/>
        </p:nvSpPr>
        <p:spPr>
          <a:xfrm>
            <a:off x="3931920" y="1929384"/>
            <a:ext cx="7528256" cy="594360"/>
          </a:xfrm>
          <a:prstGeom prst="rect">
            <a:avLst/>
          </a:prstGeom>
          <a:noFill/>
        </p:spPr>
        <p:txBody>
          <a:bodyPr wrap="square" lIns="73152" rIns="73152" tIns="36576" bIns="36576" anchor="ctr">
            <a:spAutoFit/>
          </a:bodyPr>
          <a:lstStyle/>
          <a:p>
            <a:pPr algn="l"/>
            <a:r>
              <a:rPr sz="1100" b="0" i="0">
                <a:solidFill>
                  <a:srgbClr val="1A1F36"/>
                </a:solidFill>
                <a:latin typeface="Calibri"/>
              </a:rPr>
              <a:t>Registry packs:  p/security-audit · p/javascript ·</a:t>
            </a:r>
          </a:p>
          <a:p>
            <a:pPr algn="l"/>
            <a:r>
              <a:rPr sz="1100" b="0" i="0">
                <a:solidFill>
                  <a:srgbClr val="1A1F36"/>
                </a:solidFill>
                <a:latin typeface="Calibri"/>
              </a:rPr>
              <a:t>p/typescript · p/owasp-top-ten   (--metrics=off)</a:t>
            </a:r>
          </a:p>
        </p:txBody>
      </p:sp>
      <p:sp>
        <p:nvSpPr>
          <p:cNvPr id="15" name="Rounded Rectangle 14"/>
          <p:cNvSpPr/>
          <p:nvPr/>
        </p:nvSpPr>
        <p:spPr>
          <a:xfrm>
            <a:off x="457200" y="2761488"/>
            <a:ext cx="11277295" cy="8686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61488"/>
            <a:ext cx="91440" cy="868680"/>
          </a:xfrm>
          <a:prstGeom prst="rect">
            <a:avLst/>
          </a:prstGeom>
          <a:solidFill>
            <a:srgbClr val="5B65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761488"/>
            <a:ext cx="1828800" cy="868680"/>
          </a:xfrm>
          <a:prstGeom prst="rect">
            <a:avLst/>
          </a:prstGeom>
          <a:noFill/>
        </p:spPr>
        <p:txBody>
          <a:bodyPr wrap="square" lIns="73152" rIns="73152" tIns="36576" bIns="36576" anchor="ctr">
            <a:spAutoFit/>
          </a:bodyPr>
          <a:lstStyle/>
          <a:p>
            <a:pPr algn="l"/>
            <a:r>
              <a:rPr sz="1500" b="1" i="0">
                <a:solidFill>
                  <a:srgbClr val="0B1428"/>
                </a:solidFill>
                <a:latin typeface="Calibri"/>
              </a:rPr>
              <a:t>CodeQL</a:t>
            </a:r>
          </a:p>
        </p:txBody>
      </p:sp>
      <p:sp>
        <p:nvSpPr>
          <p:cNvPr id="18" name="TextBox 17"/>
          <p:cNvSpPr txBox="1"/>
          <p:nvPr/>
        </p:nvSpPr>
        <p:spPr>
          <a:xfrm>
            <a:off x="2468880" y="2761488"/>
            <a:ext cx="1280160" cy="868680"/>
          </a:xfrm>
          <a:prstGeom prst="rect">
            <a:avLst/>
          </a:prstGeom>
          <a:noFill/>
        </p:spPr>
        <p:txBody>
          <a:bodyPr wrap="square" lIns="73152" rIns="73152" tIns="36576" bIns="36576" anchor="ctr">
            <a:spAutoFit/>
          </a:bodyPr>
          <a:lstStyle/>
          <a:p>
            <a:pPr algn="ctr"/>
            <a:r>
              <a:rPr sz="1500" b="1" i="0">
                <a:solidFill>
                  <a:srgbClr val="C9184A"/>
                </a:solidFill>
                <a:latin typeface="Calibri"/>
              </a:rPr>
              <a:t>10.85 %</a:t>
            </a:r>
          </a:p>
        </p:txBody>
      </p:sp>
      <p:sp>
        <p:nvSpPr>
          <p:cNvPr id="19" name="TextBox 18"/>
          <p:cNvSpPr txBox="1"/>
          <p:nvPr/>
        </p:nvSpPr>
        <p:spPr>
          <a:xfrm>
            <a:off x="3931920" y="2907792"/>
            <a:ext cx="7528256" cy="594360"/>
          </a:xfrm>
          <a:prstGeom prst="rect">
            <a:avLst/>
          </a:prstGeom>
          <a:noFill/>
        </p:spPr>
        <p:txBody>
          <a:bodyPr wrap="square" lIns="73152" rIns="73152" tIns="36576" bIns="36576" anchor="ctr">
            <a:spAutoFit/>
          </a:bodyPr>
          <a:lstStyle/>
          <a:p>
            <a:pPr algn="l"/>
            <a:r>
              <a:rPr sz="1100" b="0" i="0">
                <a:solidFill>
                  <a:srgbClr val="1A1F36"/>
                </a:solidFill>
                <a:latin typeface="Calibri"/>
              </a:rPr>
              <a:t>Suite:  javascript-security-and-quality.qls</a:t>
            </a:r>
          </a:p>
          <a:p>
            <a:pPr algn="l"/>
            <a:r>
              <a:rPr sz="1100" b="0" i="0">
                <a:solidFill>
                  <a:srgbClr val="1A1F36"/>
                </a:solidFill>
                <a:latin typeface="Calibri"/>
              </a:rPr>
              <a:t>JavaScript database, default queries</a:t>
            </a:r>
          </a:p>
        </p:txBody>
      </p:sp>
      <p:sp>
        <p:nvSpPr>
          <p:cNvPr id="20" name="Rounded Rectangle 19"/>
          <p:cNvSpPr/>
          <p:nvPr/>
        </p:nvSpPr>
        <p:spPr>
          <a:xfrm>
            <a:off x="457200" y="3739896"/>
            <a:ext cx="11277295" cy="868680"/>
          </a:xfrm>
          <a:prstGeom prst="roundRect">
            <a:avLst>
              <a:gd name="adj" fmla="val 6000"/>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39896"/>
            <a:ext cx="91440" cy="868680"/>
          </a:xfrm>
          <a:prstGeom prst="rect">
            <a:avLst/>
          </a:prstGeom>
          <a:solidFill>
            <a:srgbClr val="5B65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739896"/>
            <a:ext cx="1828800" cy="868680"/>
          </a:xfrm>
          <a:prstGeom prst="rect">
            <a:avLst/>
          </a:prstGeom>
          <a:noFill/>
        </p:spPr>
        <p:txBody>
          <a:bodyPr wrap="square" lIns="73152" rIns="73152" tIns="36576" bIns="36576" anchor="ctr">
            <a:spAutoFit/>
          </a:bodyPr>
          <a:lstStyle/>
          <a:p>
            <a:pPr algn="l"/>
            <a:r>
              <a:rPr sz="1500" b="1" i="0">
                <a:solidFill>
                  <a:srgbClr val="0B1428"/>
                </a:solidFill>
                <a:latin typeface="Calibri"/>
              </a:rPr>
              <a:t>ESLint</a:t>
            </a:r>
          </a:p>
        </p:txBody>
      </p:sp>
      <p:sp>
        <p:nvSpPr>
          <p:cNvPr id="23" name="TextBox 22"/>
          <p:cNvSpPr txBox="1"/>
          <p:nvPr/>
        </p:nvSpPr>
        <p:spPr>
          <a:xfrm>
            <a:off x="2468880" y="3739896"/>
            <a:ext cx="1280160" cy="868680"/>
          </a:xfrm>
          <a:prstGeom prst="rect">
            <a:avLst/>
          </a:prstGeom>
          <a:noFill/>
        </p:spPr>
        <p:txBody>
          <a:bodyPr wrap="square" lIns="73152" rIns="73152" tIns="36576" bIns="36576" anchor="ctr">
            <a:spAutoFit/>
          </a:bodyPr>
          <a:lstStyle/>
          <a:p>
            <a:pPr algn="ctr"/>
            <a:r>
              <a:rPr sz="1500" b="1" i="0">
                <a:solidFill>
                  <a:srgbClr val="C9184A"/>
                </a:solidFill>
                <a:latin typeface="Calibri"/>
              </a:rPr>
              <a:t>0.00 %</a:t>
            </a:r>
          </a:p>
        </p:txBody>
      </p:sp>
      <p:sp>
        <p:nvSpPr>
          <p:cNvPr id="24" name="TextBox 23"/>
          <p:cNvSpPr txBox="1"/>
          <p:nvPr/>
        </p:nvSpPr>
        <p:spPr>
          <a:xfrm>
            <a:off x="3931920" y="3886200"/>
            <a:ext cx="7528256" cy="594360"/>
          </a:xfrm>
          <a:prstGeom prst="rect">
            <a:avLst/>
          </a:prstGeom>
          <a:noFill/>
        </p:spPr>
        <p:txBody>
          <a:bodyPr wrap="square" lIns="73152" rIns="73152" tIns="36576" bIns="36576" anchor="ctr">
            <a:spAutoFit/>
          </a:bodyPr>
          <a:lstStyle/>
          <a:p>
            <a:pPr algn="l"/>
            <a:r>
              <a:rPr sz="1100" b="0" i="0">
                <a:solidFill>
                  <a:srgbClr val="1A1F36"/>
                </a:solidFill>
                <a:latin typeface="Calibri"/>
              </a:rPr>
              <a:t>eslint-plugin-security v4  ·  recommended config</a:t>
            </a:r>
          </a:p>
          <a:p>
            <a:pPr algn="l"/>
            <a:r>
              <a:rPr sz="1100" b="0" i="0">
                <a:solidFill>
                  <a:srgbClr val="1A1F36"/>
                </a:solidFill>
                <a:latin typeface="Calibri"/>
              </a:rPr>
              <a:t>(eslint ^9.21); no rule fired on the corpus</a:t>
            </a:r>
          </a:p>
        </p:txBody>
      </p:sp>
      <p:sp>
        <p:nvSpPr>
          <p:cNvPr id="25" name="Rounded Rectangle 24"/>
          <p:cNvSpPr/>
          <p:nvPr/>
        </p:nvSpPr>
        <p:spPr>
          <a:xfrm>
            <a:off x="457200" y="4809744"/>
            <a:ext cx="11277295" cy="105156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919472"/>
            <a:ext cx="10728655" cy="274320"/>
          </a:xfrm>
          <a:prstGeom prst="rect">
            <a:avLst/>
          </a:prstGeom>
          <a:noFill/>
        </p:spPr>
        <p:txBody>
          <a:bodyPr wrap="square" lIns="73152" rIns="73152" tIns="36576" bIns="36576" anchor="t">
            <a:spAutoFit/>
          </a:bodyPr>
          <a:lstStyle/>
          <a:p>
            <a:pPr algn="l"/>
            <a:r>
              <a:rPr sz="1100" b="1" i="0">
                <a:solidFill>
                  <a:srgbClr val="FCA311"/>
                </a:solidFill>
                <a:latin typeface="Calibri"/>
              </a:rPr>
              <a:t>FAIRNESS CAVEAT</a:t>
            </a:r>
          </a:p>
        </p:txBody>
      </p:sp>
      <p:sp>
        <p:nvSpPr>
          <p:cNvPr id="27" name="TextBox 26"/>
          <p:cNvSpPr txBox="1"/>
          <p:nvPr/>
        </p:nvSpPr>
        <p:spPr>
          <a:xfrm>
            <a:off x="731520" y="5221224"/>
            <a:ext cx="10728655" cy="548640"/>
          </a:xfrm>
          <a:prstGeom prst="rect">
            <a:avLst/>
          </a:prstGeom>
          <a:noFill/>
        </p:spPr>
        <p:txBody>
          <a:bodyPr wrap="square" lIns="73152" rIns="73152" tIns="36576" bIns="36576" anchor="t">
            <a:spAutoFit/>
          </a:bodyPr>
          <a:lstStyle/>
          <a:p>
            <a:pPr algn="l"/>
            <a:r>
              <a:rPr sz="1200" b="0" i="0">
                <a:solidFill>
                  <a:srgbClr val="FFFFFF"/>
                </a:solidFill>
                <a:latin typeface="Calibri"/>
              </a:rPr>
              <a:t>All three were run per-snippet, at the same function-level scope as the LLM, the only scope-parity setting. In full-project deployment they get cross-file data flow, so these recall figures understate their production performance. Read as “SAST under LLM-equivalent scope.”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A8  ·  Requirement Scales: Metrics, Thresholds &amp; Sources</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ectangle 9"/>
          <p:cNvSpPr/>
          <p:nvPr/>
        </p:nvSpPr>
        <p:spPr>
          <a:xfrm>
            <a:off x="457200" y="1783080"/>
            <a:ext cx="1804367"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1804367"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Requirement</a:t>
            </a:r>
          </a:p>
        </p:txBody>
      </p:sp>
      <p:sp>
        <p:nvSpPr>
          <p:cNvPr id="12" name="Rectangle 11"/>
          <p:cNvSpPr/>
          <p:nvPr/>
        </p:nvSpPr>
        <p:spPr>
          <a:xfrm>
            <a:off x="2261567" y="1783080"/>
            <a:ext cx="2481004"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61567" y="1783080"/>
            <a:ext cx="2481004"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Metric(s)</a:t>
            </a:r>
          </a:p>
        </p:txBody>
      </p:sp>
      <p:sp>
        <p:nvSpPr>
          <p:cNvPr id="14" name="Rectangle 13"/>
          <p:cNvSpPr/>
          <p:nvPr/>
        </p:nvSpPr>
        <p:spPr>
          <a:xfrm>
            <a:off x="4742572" y="1783080"/>
            <a:ext cx="4736463"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2572" y="1783080"/>
            <a:ext cx="4736463"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Levels &amp; thresholds</a:t>
            </a:r>
          </a:p>
        </p:txBody>
      </p:sp>
      <p:sp>
        <p:nvSpPr>
          <p:cNvPr id="16" name="Rectangle 15"/>
          <p:cNvSpPr/>
          <p:nvPr/>
        </p:nvSpPr>
        <p:spPr>
          <a:xfrm>
            <a:off x="9479036" y="1783080"/>
            <a:ext cx="2255459"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79036" y="1783080"/>
            <a:ext cx="2255459"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Source</a:t>
            </a:r>
          </a:p>
        </p:txBody>
      </p:sp>
      <p:sp>
        <p:nvSpPr>
          <p:cNvPr id="18" name="Rectangle 17"/>
          <p:cNvSpPr/>
          <p:nvPr/>
        </p:nvSpPr>
        <p:spPr>
          <a:xfrm>
            <a:off x="457200" y="2148840"/>
            <a:ext cx="1804367"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148840"/>
            <a:ext cx="1731215" cy="658368"/>
          </a:xfrm>
          <a:prstGeom prst="rect">
            <a:avLst/>
          </a:prstGeom>
          <a:noFill/>
        </p:spPr>
        <p:txBody>
          <a:bodyPr wrap="square" lIns="73152" rIns="73152" tIns="36576" bIns="36576" anchor="ctr">
            <a:spAutoFit/>
          </a:bodyPr>
          <a:lstStyle/>
          <a:p>
            <a:pPr algn="l"/>
            <a:r>
              <a:rPr sz="1050" b="1" i="0">
                <a:solidFill>
                  <a:srgbClr val="0B1428"/>
                </a:solidFill>
                <a:latin typeface="Calibri"/>
              </a:rPr>
              <a:t>R1 · Accuracy</a:t>
            </a:r>
          </a:p>
        </p:txBody>
      </p:sp>
      <p:sp>
        <p:nvSpPr>
          <p:cNvPr id="20" name="Rectangle 19"/>
          <p:cNvSpPr/>
          <p:nvPr/>
        </p:nvSpPr>
        <p:spPr>
          <a:xfrm>
            <a:off x="2261567" y="2148840"/>
            <a:ext cx="2481004"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98143" y="2148840"/>
            <a:ext cx="2407852" cy="658368"/>
          </a:xfrm>
          <a:prstGeom prst="rect">
            <a:avLst/>
          </a:prstGeom>
          <a:noFill/>
        </p:spPr>
        <p:txBody>
          <a:bodyPr wrap="square" lIns="73152" rIns="73152" tIns="36576" bIns="36576" anchor="ctr">
            <a:spAutoFit/>
          </a:bodyPr>
          <a:lstStyle/>
          <a:p>
            <a:pPr algn="l"/>
            <a:r>
              <a:rPr sz="950" b="0" i="0">
                <a:solidFill>
                  <a:srgbClr val="0B1428"/>
                </a:solidFill>
                <a:latin typeface="Calibri"/>
              </a:rPr>
              <a:t>F1, precision, recall, FPR</a:t>
            </a:r>
          </a:p>
        </p:txBody>
      </p:sp>
      <p:sp>
        <p:nvSpPr>
          <p:cNvPr id="22" name="Rectangle 21"/>
          <p:cNvSpPr/>
          <p:nvPr/>
        </p:nvSpPr>
        <p:spPr>
          <a:xfrm>
            <a:off x="4742572" y="2148840"/>
            <a:ext cx="4736463"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79148" y="2148840"/>
            <a:ext cx="4663311" cy="658368"/>
          </a:xfrm>
          <a:prstGeom prst="rect">
            <a:avLst/>
          </a:prstGeom>
          <a:noFill/>
        </p:spPr>
        <p:txBody>
          <a:bodyPr wrap="square" lIns="73152" rIns="73152" tIns="36576" bIns="36576" anchor="ctr">
            <a:spAutoFit/>
          </a:bodyPr>
          <a:lstStyle/>
          <a:p>
            <a:pPr algn="l"/>
            <a:r>
              <a:rPr sz="950" b="0" i="0">
                <a:solidFill>
                  <a:srgbClr val="0B1428"/>
                </a:solidFill>
                <a:latin typeface="Calibri"/>
              </a:rPr>
              <a:t>High: F1≥.75, P/R≥.70, FPR≤.20  ·  Medium: F1≥.60, FPR≤.40  ·  Low: F1≥.45  ·  Insufficient: F1&lt;.45 or FPR&gt;.70</a:t>
            </a:r>
          </a:p>
        </p:txBody>
      </p:sp>
      <p:sp>
        <p:nvSpPr>
          <p:cNvPr id="24" name="Rectangle 23"/>
          <p:cNvSpPr/>
          <p:nvPr/>
        </p:nvSpPr>
        <p:spPr>
          <a:xfrm>
            <a:off x="9479036" y="2148840"/>
            <a:ext cx="2255459"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15612" y="2148840"/>
            <a:ext cx="2182307" cy="658368"/>
          </a:xfrm>
          <a:prstGeom prst="rect">
            <a:avLst/>
          </a:prstGeom>
          <a:noFill/>
        </p:spPr>
        <p:txBody>
          <a:bodyPr wrap="square" lIns="73152" rIns="73152" tIns="36576" bIns="36576" anchor="ctr">
            <a:spAutoFit/>
          </a:bodyPr>
          <a:lstStyle/>
          <a:p>
            <a:pPr algn="l"/>
            <a:r>
              <a:rPr sz="950" b="0" i="0">
                <a:solidFill>
                  <a:srgbClr val="0B1428"/>
                </a:solidFill>
                <a:latin typeface="Calibri"/>
              </a:rPr>
              <a:t>Johnson 2013;</a:t>
            </a:r>
          </a:p>
          <a:p>
            <a:pPr algn="l"/>
            <a:r>
              <a:rPr sz="950" b="0" i="0">
                <a:solidFill>
                  <a:srgbClr val="0B1428"/>
                </a:solidFill>
                <a:latin typeface="Calibri"/>
              </a:rPr>
              <a:t>Ji 2023</a:t>
            </a:r>
          </a:p>
        </p:txBody>
      </p:sp>
      <p:sp>
        <p:nvSpPr>
          <p:cNvPr id="26" name="Rectangle 25"/>
          <p:cNvSpPr/>
          <p:nvPr/>
        </p:nvSpPr>
        <p:spPr>
          <a:xfrm>
            <a:off x="457200" y="2807208"/>
            <a:ext cx="1804367"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807208"/>
            <a:ext cx="1731215" cy="658368"/>
          </a:xfrm>
          <a:prstGeom prst="rect">
            <a:avLst/>
          </a:prstGeom>
          <a:noFill/>
        </p:spPr>
        <p:txBody>
          <a:bodyPr wrap="square" lIns="73152" rIns="73152" tIns="36576" bIns="36576" anchor="ctr">
            <a:spAutoFit/>
          </a:bodyPr>
          <a:lstStyle/>
          <a:p>
            <a:pPr algn="l"/>
            <a:r>
              <a:rPr sz="1050" b="1" i="0">
                <a:solidFill>
                  <a:srgbClr val="0B1428"/>
                </a:solidFill>
                <a:latin typeface="Calibri"/>
              </a:rPr>
              <a:t>R2 · Consistency</a:t>
            </a:r>
          </a:p>
        </p:txBody>
      </p:sp>
      <p:sp>
        <p:nvSpPr>
          <p:cNvPr id="28" name="Rectangle 27"/>
          <p:cNvSpPr/>
          <p:nvPr/>
        </p:nvSpPr>
        <p:spPr>
          <a:xfrm>
            <a:off x="2261567" y="2807208"/>
            <a:ext cx="2481004"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98143" y="2807208"/>
            <a:ext cx="2407852" cy="658368"/>
          </a:xfrm>
          <a:prstGeom prst="rect">
            <a:avLst/>
          </a:prstGeom>
          <a:noFill/>
        </p:spPr>
        <p:txBody>
          <a:bodyPr wrap="square" lIns="73152" rIns="73152" tIns="36576" bIns="36576" anchor="ctr">
            <a:spAutoFit/>
          </a:bodyPr>
          <a:lstStyle/>
          <a:p>
            <a:pPr algn="l"/>
            <a:r>
              <a:rPr sz="950" b="0" i="0">
                <a:solidFill>
                  <a:srgbClr val="0B1428"/>
                </a:solidFill>
                <a:latin typeface="Calibri"/>
              </a:rPr>
              <a:t>JSON parse rate, inter-run agreement</a:t>
            </a:r>
          </a:p>
        </p:txBody>
      </p:sp>
      <p:sp>
        <p:nvSpPr>
          <p:cNvPr id="30" name="Rectangle 29"/>
          <p:cNvSpPr/>
          <p:nvPr/>
        </p:nvSpPr>
        <p:spPr>
          <a:xfrm>
            <a:off x="4742572" y="2807208"/>
            <a:ext cx="4736463"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9148" y="2807208"/>
            <a:ext cx="4663311" cy="658368"/>
          </a:xfrm>
          <a:prstGeom prst="rect">
            <a:avLst/>
          </a:prstGeom>
          <a:noFill/>
        </p:spPr>
        <p:txBody>
          <a:bodyPr wrap="square" lIns="73152" rIns="73152" tIns="36576" bIns="36576" anchor="ctr">
            <a:spAutoFit/>
          </a:bodyPr>
          <a:lstStyle/>
          <a:p>
            <a:pPr algn="l"/>
            <a:r>
              <a:rPr sz="950" b="0" i="0">
                <a:solidFill>
                  <a:srgbClr val="0B1428"/>
                </a:solidFill>
                <a:latin typeface="Calibri"/>
              </a:rPr>
              <a:t>High: parse≥99%, agreement≥90%  ·  Medium: 95–99%  ·  Low: 85–95%  ·  None: &lt;85%</a:t>
            </a:r>
          </a:p>
        </p:txBody>
      </p:sp>
      <p:sp>
        <p:nvSpPr>
          <p:cNvPr id="32" name="Rectangle 31"/>
          <p:cNvSpPr/>
          <p:nvPr/>
        </p:nvSpPr>
        <p:spPr>
          <a:xfrm>
            <a:off x="9479036" y="2807208"/>
            <a:ext cx="2255459"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15612" y="2807208"/>
            <a:ext cx="2182307" cy="658368"/>
          </a:xfrm>
          <a:prstGeom prst="rect">
            <a:avLst/>
          </a:prstGeom>
          <a:noFill/>
        </p:spPr>
        <p:txBody>
          <a:bodyPr wrap="square" lIns="73152" rIns="73152" tIns="36576" bIns="36576" anchor="ctr">
            <a:spAutoFit/>
          </a:bodyPr>
          <a:lstStyle/>
          <a:p>
            <a:pPr algn="l"/>
            <a:r>
              <a:rPr sz="950" b="0" i="0">
                <a:solidFill>
                  <a:srgbClr val="0B1428"/>
                </a:solidFill>
                <a:latin typeface="Calibri"/>
              </a:rPr>
              <a:t>Harness</a:t>
            </a:r>
          </a:p>
          <a:p>
            <a:pPr algn="l"/>
            <a:r>
              <a:rPr sz="950" b="0" i="0">
                <a:solidFill>
                  <a:srgbClr val="0B1428"/>
                </a:solidFill>
                <a:latin typeface="Calibri"/>
              </a:rPr>
              <a:t>(raw agreement)</a:t>
            </a:r>
          </a:p>
        </p:txBody>
      </p:sp>
      <p:sp>
        <p:nvSpPr>
          <p:cNvPr id="34" name="Rectangle 33"/>
          <p:cNvSpPr/>
          <p:nvPr/>
        </p:nvSpPr>
        <p:spPr>
          <a:xfrm>
            <a:off x="457200" y="3465576"/>
            <a:ext cx="1804367"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65576"/>
            <a:ext cx="1731215" cy="658368"/>
          </a:xfrm>
          <a:prstGeom prst="rect">
            <a:avLst/>
          </a:prstGeom>
          <a:noFill/>
        </p:spPr>
        <p:txBody>
          <a:bodyPr wrap="square" lIns="73152" rIns="73152" tIns="36576" bIns="36576" anchor="ctr">
            <a:spAutoFit/>
          </a:bodyPr>
          <a:lstStyle/>
          <a:p>
            <a:pPr algn="l"/>
            <a:r>
              <a:rPr sz="1050" b="1" i="0">
                <a:solidFill>
                  <a:srgbClr val="0B1428"/>
                </a:solidFill>
                <a:latin typeface="Calibri"/>
              </a:rPr>
              <a:t>R3 · Repair</a:t>
            </a:r>
          </a:p>
        </p:txBody>
      </p:sp>
      <p:sp>
        <p:nvSpPr>
          <p:cNvPr id="36" name="Rectangle 35"/>
          <p:cNvSpPr/>
          <p:nvPr/>
        </p:nvSpPr>
        <p:spPr>
          <a:xfrm>
            <a:off x="2261567" y="3465576"/>
            <a:ext cx="2481004"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98143" y="3465576"/>
            <a:ext cx="2407852" cy="658368"/>
          </a:xfrm>
          <a:prstGeom prst="rect">
            <a:avLst/>
          </a:prstGeom>
          <a:noFill/>
        </p:spPr>
        <p:txBody>
          <a:bodyPr wrap="square" lIns="73152" rIns="73152" tIns="36576" bIns="36576" anchor="ctr">
            <a:spAutoFit/>
          </a:bodyPr>
          <a:lstStyle/>
          <a:p>
            <a:pPr algn="l"/>
            <a:r>
              <a:rPr sz="950" b="0" i="0">
                <a:solidFill>
                  <a:srgbClr val="0B1428"/>
                </a:solidFill>
                <a:latin typeface="Calibri"/>
              </a:rPr>
              <a:t>Auto-applicable parse rate + manual rubric</a:t>
            </a:r>
          </a:p>
        </p:txBody>
      </p:sp>
      <p:sp>
        <p:nvSpPr>
          <p:cNvPr id="38" name="Rectangle 37"/>
          <p:cNvSpPr/>
          <p:nvPr/>
        </p:nvSpPr>
        <p:spPr>
          <a:xfrm>
            <a:off x="4742572" y="3465576"/>
            <a:ext cx="4736463"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79148" y="3465576"/>
            <a:ext cx="4663311" cy="658368"/>
          </a:xfrm>
          <a:prstGeom prst="rect">
            <a:avLst/>
          </a:prstGeom>
          <a:noFill/>
        </p:spPr>
        <p:txBody>
          <a:bodyPr wrap="square" lIns="73152" rIns="73152" tIns="36576" bIns="36576" anchor="ctr">
            <a:spAutoFit/>
          </a:bodyPr>
          <a:lstStyle/>
          <a:p>
            <a:pPr algn="l"/>
            <a:r>
              <a:rPr sz="950" b="0" i="0">
                <a:solidFill>
                  <a:srgbClr val="0B1428"/>
                </a:solidFill>
                <a:latin typeface="Calibri"/>
              </a:rPr>
              <a:t>High ≥75%  ·  Medium 50–75%  ·  Low &lt;50%   (3 bands; repair quality is partly qualitative)</a:t>
            </a:r>
          </a:p>
        </p:txBody>
      </p:sp>
      <p:sp>
        <p:nvSpPr>
          <p:cNvPr id="40" name="Rectangle 39"/>
          <p:cNvSpPr/>
          <p:nvPr/>
        </p:nvSpPr>
        <p:spPr>
          <a:xfrm>
            <a:off x="9479036" y="3465576"/>
            <a:ext cx="2255459"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15612" y="3465576"/>
            <a:ext cx="2182307" cy="658368"/>
          </a:xfrm>
          <a:prstGeom prst="rect">
            <a:avLst/>
          </a:prstGeom>
          <a:noFill/>
        </p:spPr>
        <p:txBody>
          <a:bodyPr wrap="square" lIns="73152" rIns="73152" tIns="36576" bIns="36576" anchor="ctr">
            <a:spAutoFit/>
          </a:bodyPr>
          <a:lstStyle/>
          <a:p>
            <a:pPr algn="l"/>
            <a:r>
              <a:rPr sz="950" b="0" i="0">
                <a:solidFill>
                  <a:srgbClr val="0B1428"/>
                </a:solidFill>
                <a:latin typeface="Calibri"/>
              </a:rPr>
              <a:t>Monperrus 2014</a:t>
            </a:r>
          </a:p>
        </p:txBody>
      </p:sp>
      <p:sp>
        <p:nvSpPr>
          <p:cNvPr id="42" name="Rectangle 41"/>
          <p:cNvSpPr/>
          <p:nvPr/>
        </p:nvSpPr>
        <p:spPr>
          <a:xfrm>
            <a:off x="457200" y="4123944"/>
            <a:ext cx="1804367"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123944"/>
            <a:ext cx="1731215" cy="658368"/>
          </a:xfrm>
          <a:prstGeom prst="rect">
            <a:avLst/>
          </a:prstGeom>
          <a:noFill/>
        </p:spPr>
        <p:txBody>
          <a:bodyPr wrap="square" lIns="73152" rIns="73152" tIns="36576" bIns="36576" anchor="ctr">
            <a:spAutoFit/>
          </a:bodyPr>
          <a:lstStyle/>
          <a:p>
            <a:pPr algn="l"/>
            <a:r>
              <a:rPr sz="1050" b="1" i="0">
                <a:solidFill>
                  <a:srgbClr val="0B1428"/>
                </a:solidFill>
                <a:latin typeface="Calibri"/>
              </a:rPr>
              <a:t>R4 · Usability</a:t>
            </a:r>
          </a:p>
        </p:txBody>
      </p:sp>
      <p:sp>
        <p:nvSpPr>
          <p:cNvPr id="44" name="Rectangle 43"/>
          <p:cNvSpPr/>
          <p:nvPr/>
        </p:nvSpPr>
        <p:spPr>
          <a:xfrm>
            <a:off x="2261567" y="4123944"/>
            <a:ext cx="2481004"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98143" y="4123944"/>
            <a:ext cx="2407852" cy="658368"/>
          </a:xfrm>
          <a:prstGeom prst="rect">
            <a:avLst/>
          </a:prstGeom>
          <a:noFill/>
        </p:spPr>
        <p:txBody>
          <a:bodyPr wrap="square" lIns="73152" rIns="73152" tIns="36576" bIns="36576" anchor="ctr">
            <a:spAutoFit/>
          </a:bodyPr>
          <a:lstStyle/>
          <a:p>
            <a:pPr algn="l"/>
            <a:r>
              <a:rPr sz="950" b="0" i="0">
                <a:solidFill>
                  <a:srgbClr val="0B1428"/>
                </a:solidFill>
                <a:latin typeface="Calibri"/>
              </a:rPr>
              <a:t>End-to-end median latency</a:t>
            </a:r>
          </a:p>
        </p:txBody>
      </p:sp>
      <p:sp>
        <p:nvSpPr>
          <p:cNvPr id="46" name="Rectangle 45"/>
          <p:cNvSpPr/>
          <p:nvPr/>
        </p:nvSpPr>
        <p:spPr>
          <a:xfrm>
            <a:off x="4742572" y="4123944"/>
            <a:ext cx="4736463"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779148" y="4123944"/>
            <a:ext cx="4663311" cy="658368"/>
          </a:xfrm>
          <a:prstGeom prst="rect">
            <a:avLst/>
          </a:prstGeom>
          <a:noFill/>
        </p:spPr>
        <p:txBody>
          <a:bodyPr wrap="square" lIns="73152" rIns="73152" tIns="36576" bIns="36576" anchor="ctr">
            <a:spAutoFit/>
          </a:bodyPr>
          <a:lstStyle/>
          <a:p>
            <a:pPr algn="l"/>
            <a:r>
              <a:rPr sz="950" b="0" i="0">
                <a:solidFill>
                  <a:srgbClr val="0B1428"/>
                </a:solidFill>
                <a:latin typeface="Calibri"/>
              </a:rPr>
              <a:t>High: ≤5 s inline / ≤15 s full-file  ·  Medium: 5–15 s  ·  Low: &gt;15 s</a:t>
            </a:r>
          </a:p>
        </p:txBody>
      </p:sp>
      <p:sp>
        <p:nvSpPr>
          <p:cNvPr id="48" name="Rectangle 47"/>
          <p:cNvSpPr/>
          <p:nvPr/>
        </p:nvSpPr>
        <p:spPr>
          <a:xfrm>
            <a:off x="9479036" y="4123944"/>
            <a:ext cx="2255459" cy="658368"/>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15612" y="4123944"/>
            <a:ext cx="2182307" cy="658368"/>
          </a:xfrm>
          <a:prstGeom prst="rect">
            <a:avLst/>
          </a:prstGeom>
          <a:noFill/>
        </p:spPr>
        <p:txBody>
          <a:bodyPr wrap="square" lIns="73152" rIns="73152" tIns="36576" bIns="36576" anchor="ctr">
            <a:spAutoFit/>
          </a:bodyPr>
          <a:lstStyle/>
          <a:p>
            <a:pPr algn="l"/>
            <a:r>
              <a:rPr sz="950" b="0" i="0">
                <a:solidFill>
                  <a:srgbClr val="0B1428"/>
                </a:solidFill>
                <a:latin typeface="Calibri"/>
              </a:rPr>
              <a:t>Card 1983;</a:t>
            </a:r>
          </a:p>
          <a:p>
            <a:pPr algn="l"/>
            <a:r>
              <a:rPr sz="950" b="0" i="0">
                <a:solidFill>
                  <a:srgbClr val="0B1428"/>
                </a:solidFill>
                <a:latin typeface="Calibri"/>
              </a:rPr>
              <a:t>Nielsen 1994</a:t>
            </a:r>
          </a:p>
        </p:txBody>
      </p:sp>
      <p:sp>
        <p:nvSpPr>
          <p:cNvPr id="50" name="Rectangle 49"/>
          <p:cNvSpPr/>
          <p:nvPr/>
        </p:nvSpPr>
        <p:spPr>
          <a:xfrm>
            <a:off x="457200" y="4782312"/>
            <a:ext cx="1804367"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82312"/>
            <a:ext cx="1731215" cy="658368"/>
          </a:xfrm>
          <a:prstGeom prst="rect">
            <a:avLst/>
          </a:prstGeom>
          <a:noFill/>
        </p:spPr>
        <p:txBody>
          <a:bodyPr wrap="square" lIns="73152" rIns="73152" tIns="36576" bIns="36576" anchor="ctr">
            <a:spAutoFit/>
          </a:bodyPr>
          <a:lstStyle/>
          <a:p>
            <a:pPr algn="l"/>
            <a:r>
              <a:rPr sz="1050" b="1" i="0">
                <a:solidFill>
                  <a:srgbClr val="0B1428"/>
                </a:solidFill>
                <a:latin typeface="Calibri"/>
              </a:rPr>
              <a:t>R5 · Privacy</a:t>
            </a:r>
          </a:p>
        </p:txBody>
      </p:sp>
      <p:sp>
        <p:nvSpPr>
          <p:cNvPr id="52" name="Rectangle 51"/>
          <p:cNvSpPr/>
          <p:nvPr/>
        </p:nvSpPr>
        <p:spPr>
          <a:xfrm>
            <a:off x="2261567" y="4782312"/>
            <a:ext cx="2481004"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298143" y="4782312"/>
            <a:ext cx="2407852" cy="658368"/>
          </a:xfrm>
          <a:prstGeom prst="rect">
            <a:avLst/>
          </a:prstGeom>
          <a:noFill/>
        </p:spPr>
        <p:txBody>
          <a:bodyPr wrap="square" lIns="73152" rIns="73152" tIns="36576" bIns="36576" anchor="ctr">
            <a:spAutoFit/>
          </a:bodyPr>
          <a:lstStyle/>
          <a:p>
            <a:pPr algn="l"/>
            <a:r>
              <a:rPr sz="950" b="0" i="0">
                <a:solidFill>
                  <a:srgbClr val="0B1428"/>
                </a:solidFill>
                <a:latin typeface="Calibri"/>
              </a:rPr>
              <a:t>5-item verification checklist</a:t>
            </a:r>
          </a:p>
        </p:txBody>
      </p:sp>
      <p:sp>
        <p:nvSpPr>
          <p:cNvPr id="54" name="Rectangle 53"/>
          <p:cNvSpPr/>
          <p:nvPr/>
        </p:nvSpPr>
        <p:spPr>
          <a:xfrm>
            <a:off x="4742572" y="4782312"/>
            <a:ext cx="4736463"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79148" y="4782312"/>
            <a:ext cx="4663311" cy="658368"/>
          </a:xfrm>
          <a:prstGeom prst="rect">
            <a:avLst/>
          </a:prstGeom>
          <a:noFill/>
        </p:spPr>
        <p:txBody>
          <a:bodyPr wrap="square" lIns="73152" rIns="73152" tIns="36576" bIns="36576" anchor="ctr">
            <a:spAutoFit/>
          </a:bodyPr>
          <a:lstStyle/>
          <a:p>
            <a:pPr algn="l"/>
            <a:r>
              <a:rPr sz="950" b="0" i="0">
                <a:solidFill>
                  <a:srgbClr val="0B1428"/>
                </a:solidFill>
                <a:latin typeface="Calibri"/>
              </a:rPr>
              <a:t>Binary: all five criteria pass, or the requirement fails (privacy is a design constraint, not a spectrum)</a:t>
            </a:r>
          </a:p>
        </p:txBody>
      </p:sp>
      <p:sp>
        <p:nvSpPr>
          <p:cNvPr id="56" name="Rectangle 55"/>
          <p:cNvSpPr/>
          <p:nvPr/>
        </p:nvSpPr>
        <p:spPr>
          <a:xfrm>
            <a:off x="9479036" y="4782312"/>
            <a:ext cx="2255459" cy="658368"/>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15612" y="4782312"/>
            <a:ext cx="2182307" cy="658368"/>
          </a:xfrm>
          <a:prstGeom prst="rect">
            <a:avLst/>
          </a:prstGeom>
          <a:noFill/>
        </p:spPr>
        <p:txBody>
          <a:bodyPr wrap="square" lIns="73152" rIns="73152" tIns="36576" bIns="36576" anchor="ctr">
            <a:spAutoFit/>
          </a:bodyPr>
          <a:lstStyle/>
          <a:p>
            <a:pPr algn="l"/>
            <a:r>
              <a:rPr sz="950" b="0" i="0">
                <a:solidFill>
                  <a:srgbClr val="0B1428"/>
                </a:solidFill>
                <a:latin typeface="Calibri"/>
              </a:rPr>
              <a:t>Design constraint</a:t>
            </a:r>
          </a:p>
          <a:p>
            <a:pPr algn="l"/>
            <a:r>
              <a:rPr sz="950" b="0" i="0">
                <a:solidFill>
                  <a:srgbClr val="0B1428"/>
                </a:solidFill>
                <a:latin typeface="Calibri"/>
              </a:rPr>
              <a:t>(Ch. 2)</a:t>
            </a:r>
          </a:p>
        </p:txBody>
      </p:sp>
      <p:sp>
        <p:nvSpPr>
          <p:cNvPr id="58" name="Rounded Rectangle 57"/>
          <p:cNvSpPr/>
          <p:nvPr/>
        </p:nvSpPr>
        <p:spPr>
          <a:xfrm>
            <a:off x="457200" y="5550408"/>
            <a:ext cx="11277295" cy="77724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31520" y="5641848"/>
            <a:ext cx="10728655" cy="274320"/>
          </a:xfrm>
          <a:prstGeom prst="rect">
            <a:avLst/>
          </a:prstGeom>
          <a:noFill/>
        </p:spPr>
        <p:txBody>
          <a:bodyPr wrap="square" lIns="73152" rIns="73152" tIns="36576" bIns="36576" anchor="t">
            <a:spAutoFit/>
          </a:bodyPr>
          <a:lstStyle/>
          <a:p>
            <a:pPr algn="l"/>
            <a:r>
              <a:rPr sz="1000" b="1" i="0">
                <a:solidFill>
                  <a:srgbClr val="FCA311"/>
                </a:solidFill>
                <a:latin typeface="Calibri"/>
              </a:rPr>
              <a:t>WHY THESE THRESHOLDS</a:t>
            </a:r>
          </a:p>
        </p:txBody>
      </p:sp>
      <p:sp>
        <p:nvSpPr>
          <p:cNvPr id="60" name="TextBox 59"/>
          <p:cNvSpPr txBox="1"/>
          <p:nvPr/>
        </p:nvSpPr>
        <p:spPr>
          <a:xfrm>
            <a:off x="731520" y="5897880"/>
            <a:ext cx="10728655" cy="384048"/>
          </a:xfrm>
          <a:prstGeom prst="rect">
            <a:avLst/>
          </a:prstGeom>
          <a:noFill/>
        </p:spPr>
        <p:txBody>
          <a:bodyPr wrap="square" lIns="73152" rIns="73152" tIns="36576" bIns="36576" anchor="t">
            <a:spAutoFit/>
          </a:bodyPr>
          <a:lstStyle/>
          <a:p>
            <a:pPr algn="l"/>
            <a:r>
              <a:rPr sz="1100" b="0" i="0">
                <a:solidFill>
                  <a:srgbClr val="FFFFFF"/>
                </a:solidFill>
                <a:latin typeface="Calibri"/>
              </a:rPr>
              <a:t>Fixed in Chapter 2 before any model ran, the same pre-registration discipline as the held-out split.  Accuracy and repair bands follow IR/SE convention; latency bands follow HCI response-time limits; privacy is a binary design constraint.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01168"/>
            <a:ext cx="5486400" cy="457200"/>
          </a:xfrm>
          <a:prstGeom prst="rect">
            <a:avLst/>
          </a:prstGeom>
          <a:noFill/>
        </p:spPr>
        <p:txBody>
          <a:bodyPr wrap="square" lIns="73152" rIns="73152" tIns="36576" bIns="36576" anchor="t">
            <a:spAutoFit/>
          </a:bodyPr>
          <a:lstStyle/>
          <a:p>
            <a:pPr algn="l"/>
            <a:r>
              <a:rPr sz="1000" b="1" i="0">
                <a:solidFill>
                  <a:srgbClr val="FFFFFF"/>
                </a:solidFill>
                <a:latin typeface="Calibri"/>
              </a:rPr>
              <a:t>TECHNICAL UNIVERSITY OF CHEMNITZ</a:t>
            </a:r>
          </a:p>
        </p:txBody>
      </p:sp>
      <p:sp>
        <p:nvSpPr>
          <p:cNvPr id="5" name="TextBox 4"/>
          <p:cNvSpPr txBox="1"/>
          <p:nvPr/>
        </p:nvSpPr>
        <p:spPr>
          <a:xfrm>
            <a:off x="457200" y="960120"/>
            <a:ext cx="11277295" cy="594360"/>
          </a:xfrm>
          <a:prstGeom prst="rect">
            <a:avLst/>
          </a:prstGeom>
          <a:noFill/>
        </p:spPr>
        <p:txBody>
          <a:bodyPr wrap="square" lIns="73152" rIns="73152" tIns="36576" bIns="36576" anchor="t">
            <a:spAutoFit/>
          </a:bodyPr>
          <a:lstStyle/>
          <a:p>
            <a:pPr algn="l"/>
            <a:r>
              <a:rPr sz="3000" b="1" i="0">
                <a:solidFill>
                  <a:srgbClr val="14213D"/>
                </a:solidFill>
                <a:latin typeface="Calibri"/>
              </a:rPr>
              <a:t>A9  ·  Confidence Gate: Eval-Only Rescore Filter</a:t>
            </a:r>
          </a:p>
        </p:txBody>
      </p:sp>
      <p:sp>
        <p:nvSpPr>
          <p:cNvPr id="6" name="Rectangle 5"/>
          <p:cNvSpPr/>
          <p:nvPr/>
        </p:nvSpPr>
        <p:spPr>
          <a:xfrm>
            <a:off x="457200" y="1554480"/>
            <a:ext cx="640080" cy="36576"/>
          </a:xfrm>
          <a:prstGeom prst="rect">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4572000" cy="320040"/>
          </a:xfrm>
          <a:prstGeom prst="rect">
            <a:avLst/>
          </a:prstGeom>
          <a:noFill/>
        </p:spPr>
        <p:txBody>
          <a:bodyPr wrap="square" lIns="73152" rIns="73152" tIns="36576" bIns="36576" anchor="ctr">
            <a:spAutoFit/>
          </a:bodyPr>
          <a:lstStyle/>
          <a:p>
            <a:pPr algn="l"/>
            <a:r>
              <a:rPr sz="900" b="0" i="0">
                <a:solidFill>
                  <a:srgbClr val="5B657A"/>
                </a:solidFill>
                <a:latin typeface="Calibri"/>
              </a:rPr>
              <a:t>Md Hafizur Rahman</a:t>
            </a:r>
          </a:p>
        </p:txBody>
      </p:sp>
      <p:sp>
        <p:nvSpPr>
          <p:cNvPr id="8" name="Rounded Rectangle 7"/>
          <p:cNvSpPr/>
          <p:nvPr/>
        </p:nvSpPr>
        <p:spPr>
          <a:xfrm>
            <a:off x="10545775" y="228600"/>
            <a:ext cx="1097280" cy="365760"/>
          </a:xfrm>
          <a:prstGeom prst="roundRect">
            <a:avLst>
              <a:gd name="adj" fmla="val 6000"/>
            </a:avLst>
          </a:prstGeom>
          <a:solidFill>
            <a:srgbClr val="FCA3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228600"/>
            <a:ext cx="1097280"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APPENDIX</a:t>
            </a:r>
          </a:p>
        </p:txBody>
      </p:sp>
      <p:sp>
        <p:nvSpPr>
          <p:cNvPr id="10" name="Rectangle 9"/>
          <p:cNvSpPr/>
          <p:nvPr/>
        </p:nvSpPr>
        <p:spPr>
          <a:xfrm>
            <a:off x="457200" y="1783080"/>
            <a:ext cx="3157642"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83080"/>
            <a:ext cx="3157642"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Metric</a:t>
            </a:r>
          </a:p>
        </p:txBody>
      </p:sp>
      <p:sp>
        <p:nvSpPr>
          <p:cNvPr id="12" name="Rectangle 11"/>
          <p:cNvSpPr/>
          <p:nvPr/>
        </p:nvSpPr>
        <p:spPr>
          <a:xfrm>
            <a:off x="3614842" y="1783080"/>
            <a:ext cx="2481004"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4842" y="1783080"/>
            <a:ext cx="2481004"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Ungated</a:t>
            </a:r>
          </a:p>
        </p:txBody>
      </p:sp>
      <p:sp>
        <p:nvSpPr>
          <p:cNvPr id="14" name="Rectangle 13"/>
          <p:cNvSpPr/>
          <p:nvPr/>
        </p:nvSpPr>
        <p:spPr>
          <a:xfrm>
            <a:off x="6095847" y="1783080"/>
            <a:ext cx="2481004"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1783080"/>
            <a:ext cx="2481004"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Gate ≥ 0.67</a:t>
            </a:r>
          </a:p>
        </p:txBody>
      </p:sp>
      <p:sp>
        <p:nvSpPr>
          <p:cNvPr id="16" name="Rectangle 15"/>
          <p:cNvSpPr/>
          <p:nvPr/>
        </p:nvSpPr>
        <p:spPr>
          <a:xfrm>
            <a:off x="8576852" y="1783080"/>
            <a:ext cx="3157642" cy="36576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76852" y="1783080"/>
            <a:ext cx="3157642" cy="365760"/>
          </a:xfrm>
          <a:prstGeom prst="rect">
            <a:avLst/>
          </a:prstGeom>
          <a:noFill/>
        </p:spPr>
        <p:txBody>
          <a:bodyPr wrap="square" lIns="73152" rIns="73152" tIns="36576" bIns="36576" anchor="ctr">
            <a:spAutoFit/>
          </a:bodyPr>
          <a:lstStyle/>
          <a:p>
            <a:pPr algn="ctr"/>
            <a:r>
              <a:rPr sz="1100" b="1" i="0">
                <a:solidFill>
                  <a:srgbClr val="FFFFFF"/>
                </a:solidFill>
                <a:latin typeface="Calibri"/>
              </a:rPr>
              <a:t/>
            </a:r>
          </a:p>
        </p:txBody>
      </p:sp>
      <p:sp>
        <p:nvSpPr>
          <p:cNvPr id="18" name="Rectangle 17"/>
          <p:cNvSpPr/>
          <p:nvPr/>
        </p:nvSpPr>
        <p:spPr>
          <a:xfrm>
            <a:off x="457200" y="2148840"/>
            <a:ext cx="3157642"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148840"/>
            <a:ext cx="3084490" cy="457200"/>
          </a:xfrm>
          <a:prstGeom prst="rect">
            <a:avLst/>
          </a:prstGeom>
          <a:noFill/>
        </p:spPr>
        <p:txBody>
          <a:bodyPr wrap="square" lIns="73152" rIns="73152" tIns="36576" bIns="36576" anchor="ctr">
            <a:spAutoFit/>
          </a:bodyPr>
          <a:lstStyle/>
          <a:p>
            <a:pPr algn="l"/>
            <a:r>
              <a:rPr sz="1100" b="1" i="0">
                <a:solidFill>
                  <a:srgbClr val="0B1428"/>
                </a:solidFill>
                <a:latin typeface="Calibri"/>
              </a:rPr>
              <a:t>F1</a:t>
            </a:r>
          </a:p>
        </p:txBody>
      </p:sp>
      <p:sp>
        <p:nvSpPr>
          <p:cNvPr id="20" name="Rectangle 19"/>
          <p:cNvSpPr/>
          <p:nvPr/>
        </p:nvSpPr>
        <p:spPr>
          <a:xfrm>
            <a:off x="3614842" y="2148840"/>
            <a:ext cx="2481004"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1418" y="21488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71.43 %</a:t>
            </a:r>
          </a:p>
        </p:txBody>
      </p:sp>
      <p:sp>
        <p:nvSpPr>
          <p:cNvPr id="22" name="Rectangle 21"/>
          <p:cNvSpPr/>
          <p:nvPr/>
        </p:nvSpPr>
        <p:spPr>
          <a:xfrm>
            <a:off x="6095847" y="2148840"/>
            <a:ext cx="2481004"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32423" y="21488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74.07 %</a:t>
            </a:r>
          </a:p>
        </p:txBody>
      </p:sp>
      <p:sp>
        <p:nvSpPr>
          <p:cNvPr id="24" name="Rectangle 23"/>
          <p:cNvSpPr/>
          <p:nvPr/>
        </p:nvSpPr>
        <p:spPr>
          <a:xfrm>
            <a:off x="8576852" y="2148840"/>
            <a:ext cx="3157642"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13428" y="2148840"/>
            <a:ext cx="3084490" cy="457200"/>
          </a:xfrm>
          <a:prstGeom prst="rect">
            <a:avLst/>
          </a:prstGeom>
          <a:noFill/>
        </p:spPr>
        <p:txBody>
          <a:bodyPr wrap="square" lIns="73152" rIns="73152" tIns="36576" bIns="36576" anchor="ctr">
            <a:spAutoFit/>
          </a:bodyPr>
          <a:lstStyle/>
          <a:p>
            <a:pPr algn="l"/>
            <a:r>
              <a:rPr sz="1100" b="0" i="0">
                <a:solidFill>
                  <a:srgbClr val="0B1428"/>
                </a:solidFill>
                <a:latin typeface="Calibri"/>
              </a:rPr>
              <a:t>▲ precision-driven</a:t>
            </a:r>
          </a:p>
        </p:txBody>
      </p:sp>
      <p:sp>
        <p:nvSpPr>
          <p:cNvPr id="26" name="Rectangle 25"/>
          <p:cNvSpPr/>
          <p:nvPr/>
        </p:nvSpPr>
        <p:spPr>
          <a:xfrm>
            <a:off x="457200" y="2606040"/>
            <a:ext cx="3157642"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606040"/>
            <a:ext cx="3084490" cy="457200"/>
          </a:xfrm>
          <a:prstGeom prst="rect">
            <a:avLst/>
          </a:prstGeom>
          <a:noFill/>
        </p:spPr>
        <p:txBody>
          <a:bodyPr wrap="square" lIns="73152" rIns="73152" tIns="36576" bIns="36576" anchor="ctr">
            <a:spAutoFit/>
          </a:bodyPr>
          <a:lstStyle/>
          <a:p>
            <a:pPr algn="l"/>
            <a:r>
              <a:rPr sz="1100" b="1" i="0">
                <a:solidFill>
                  <a:srgbClr val="0B1428"/>
                </a:solidFill>
                <a:latin typeface="Calibri"/>
              </a:rPr>
              <a:t>Precision</a:t>
            </a:r>
          </a:p>
        </p:txBody>
      </p:sp>
      <p:sp>
        <p:nvSpPr>
          <p:cNvPr id="28" name="Rectangle 27"/>
          <p:cNvSpPr/>
          <p:nvPr/>
        </p:nvSpPr>
        <p:spPr>
          <a:xfrm>
            <a:off x="3614842" y="2606040"/>
            <a:ext cx="2481004"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1418" y="26060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72.46 %</a:t>
            </a:r>
          </a:p>
        </p:txBody>
      </p:sp>
      <p:sp>
        <p:nvSpPr>
          <p:cNvPr id="30" name="Rectangle 29"/>
          <p:cNvSpPr/>
          <p:nvPr/>
        </p:nvSpPr>
        <p:spPr>
          <a:xfrm>
            <a:off x="6095847" y="2606040"/>
            <a:ext cx="2481004"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32423" y="26060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78.13 %</a:t>
            </a:r>
          </a:p>
        </p:txBody>
      </p:sp>
      <p:sp>
        <p:nvSpPr>
          <p:cNvPr id="32" name="Rectangle 31"/>
          <p:cNvSpPr/>
          <p:nvPr/>
        </p:nvSpPr>
        <p:spPr>
          <a:xfrm>
            <a:off x="8576852" y="2606040"/>
            <a:ext cx="3157642"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13428" y="2606040"/>
            <a:ext cx="3084490" cy="457200"/>
          </a:xfrm>
          <a:prstGeom prst="rect">
            <a:avLst/>
          </a:prstGeom>
          <a:noFill/>
        </p:spPr>
        <p:txBody>
          <a:bodyPr wrap="square" lIns="73152" rIns="73152" tIns="36576" bIns="36576" anchor="ctr">
            <a:spAutoFit/>
          </a:bodyPr>
          <a:lstStyle/>
          <a:p>
            <a:pPr algn="l"/>
            <a:r>
              <a:rPr sz="1100" b="0" i="0">
                <a:solidFill>
                  <a:srgbClr val="0B1428"/>
                </a:solidFill>
                <a:latin typeface="Calibri"/>
              </a:rPr>
              <a:t>▲ +5.67 pts</a:t>
            </a:r>
          </a:p>
        </p:txBody>
      </p:sp>
      <p:sp>
        <p:nvSpPr>
          <p:cNvPr id="34" name="Rectangle 33"/>
          <p:cNvSpPr/>
          <p:nvPr/>
        </p:nvSpPr>
        <p:spPr>
          <a:xfrm>
            <a:off x="457200" y="3063240"/>
            <a:ext cx="3157642"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063240"/>
            <a:ext cx="3084490" cy="457200"/>
          </a:xfrm>
          <a:prstGeom prst="rect">
            <a:avLst/>
          </a:prstGeom>
          <a:noFill/>
        </p:spPr>
        <p:txBody>
          <a:bodyPr wrap="square" lIns="73152" rIns="73152" tIns="36576" bIns="36576" anchor="ctr">
            <a:spAutoFit/>
          </a:bodyPr>
          <a:lstStyle/>
          <a:p>
            <a:pPr algn="l"/>
            <a:r>
              <a:rPr sz="1100" b="1" i="0">
                <a:solidFill>
                  <a:srgbClr val="0B1428"/>
                </a:solidFill>
                <a:latin typeface="Calibri"/>
              </a:rPr>
              <a:t>Recall</a:t>
            </a:r>
          </a:p>
        </p:txBody>
      </p:sp>
      <p:sp>
        <p:nvSpPr>
          <p:cNvPr id="36" name="Rectangle 35"/>
          <p:cNvSpPr/>
          <p:nvPr/>
        </p:nvSpPr>
        <p:spPr>
          <a:xfrm>
            <a:off x="3614842" y="3063240"/>
            <a:ext cx="2481004"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1418" y="30632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70.42 %</a:t>
            </a:r>
          </a:p>
        </p:txBody>
      </p:sp>
      <p:sp>
        <p:nvSpPr>
          <p:cNvPr id="38" name="Rectangle 37"/>
          <p:cNvSpPr/>
          <p:nvPr/>
        </p:nvSpPr>
        <p:spPr>
          <a:xfrm>
            <a:off x="6095847" y="3063240"/>
            <a:ext cx="2481004"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32423" y="30632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70.42 %</a:t>
            </a:r>
          </a:p>
        </p:txBody>
      </p:sp>
      <p:sp>
        <p:nvSpPr>
          <p:cNvPr id="40" name="Rectangle 39"/>
          <p:cNvSpPr/>
          <p:nvPr/>
        </p:nvSpPr>
        <p:spPr>
          <a:xfrm>
            <a:off x="8576852" y="3063240"/>
            <a:ext cx="3157642" cy="457200"/>
          </a:xfrm>
          <a:prstGeom prst="rect">
            <a:avLst/>
          </a:prstGeom>
          <a:solidFill>
            <a:srgbClr val="F6F7FB"/>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13428" y="3063240"/>
            <a:ext cx="3084490" cy="457200"/>
          </a:xfrm>
          <a:prstGeom prst="rect">
            <a:avLst/>
          </a:prstGeom>
          <a:noFill/>
        </p:spPr>
        <p:txBody>
          <a:bodyPr wrap="square" lIns="73152" rIns="73152" tIns="36576" bIns="36576" anchor="ctr">
            <a:spAutoFit/>
          </a:bodyPr>
          <a:lstStyle/>
          <a:p>
            <a:pPr algn="l"/>
            <a:r>
              <a:rPr sz="1100" b="0" i="0">
                <a:solidFill>
                  <a:srgbClr val="0B1428"/>
                </a:solidFill>
                <a:latin typeface="Calibri"/>
              </a:rPr>
              <a:t>= unchanged</a:t>
            </a:r>
          </a:p>
        </p:txBody>
      </p:sp>
      <p:sp>
        <p:nvSpPr>
          <p:cNvPr id="42" name="Rectangle 41"/>
          <p:cNvSpPr/>
          <p:nvPr/>
        </p:nvSpPr>
        <p:spPr>
          <a:xfrm>
            <a:off x="457200" y="3520440"/>
            <a:ext cx="3157642"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520440"/>
            <a:ext cx="3084490" cy="457200"/>
          </a:xfrm>
          <a:prstGeom prst="rect">
            <a:avLst/>
          </a:prstGeom>
          <a:noFill/>
        </p:spPr>
        <p:txBody>
          <a:bodyPr wrap="square" lIns="73152" rIns="73152" tIns="36576" bIns="36576" anchor="ctr">
            <a:spAutoFit/>
          </a:bodyPr>
          <a:lstStyle/>
          <a:p>
            <a:pPr algn="l"/>
            <a:r>
              <a:rPr sz="1100" b="1" i="0">
                <a:solidFill>
                  <a:srgbClr val="0B1428"/>
                </a:solidFill>
                <a:latin typeface="Calibri"/>
              </a:rPr>
              <a:t>FPR</a:t>
            </a:r>
          </a:p>
        </p:txBody>
      </p:sp>
      <p:sp>
        <p:nvSpPr>
          <p:cNvPr id="44" name="Rectangle 43"/>
          <p:cNvSpPr/>
          <p:nvPr/>
        </p:nvSpPr>
        <p:spPr>
          <a:xfrm>
            <a:off x="3614842" y="3520440"/>
            <a:ext cx="2481004"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1418" y="35204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10.0 %</a:t>
            </a:r>
          </a:p>
        </p:txBody>
      </p:sp>
      <p:sp>
        <p:nvSpPr>
          <p:cNvPr id="46" name="Rectangle 45"/>
          <p:cNvSpPr/>
          <p:nvPr/>
        </p:nvSpPr>
        <p:spPr>
          <a:xfrm>
            <a:off x="6095847" y="3520440"/>
            <a:ext cx="2481004"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32423" y="3520440"/>
            <a:ext cx="2407852" cy="457200"/>
          </a:xfrm>
          <a:prstGeom prst="rect">
            <a:avLst/>
          </a:prstGeom>
          <a:noFill/>
        </p:spPr>
        <p:txBody>
          <a:bodyPr wrap="square" lIns="73152" rIns="73152" tIns="36576" bIns="36576" anchor="ctr">
            <a:spAutoFit/>
          </a:bodyPr>
          <a:lstStyle/>
          <a:p>
            <a:pPr algn="ctr"/>
            <a:r>
              <a:rPr sz="1100" b="0" i="0">
                <a:solidFill>
                  <a:srgbClr val="0B1428"/>
                </a:solidFill>
                <a:latin typeface="Calibri"/>
              </a:rPr>
              <a:t>10.0 %</a:t>
            </a:r>
          </a:p>
        </p:txBody>
      </p:sp>
      <p:sp>
        <p:nvSpPr>
          <p:cNvPr id="48" name="Rectangle 47"/>
          <p:cNvSpPr/>
          <p:nvPr/>
        </p:nvSpPr>
        <p:spPr>
          <a:xfrm>
            <a:off x="8576852" y="3520440"/>
            <a:ext cx="3157642" cy="457200"/>
          </a:xfrm>
          <a:prstGeom prst="rect">
            <a:avLst/>
          </a:prstGeom>
          <a:solidFill>
            <a:srgbClr val="FFFFFF"/>
          </a:solidFill>
          <a:ln w="9525">
            <a:solidFill>
              <a:srgbClr val="E2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13428" y="3520440"/>
            <a:ext cx="3084490" cy="457200"/>
          </a:xfrm>
          <a:prstGeom prst="rect">
            <a:avLst/>
          </a:prstGeom>
          <a:noFill/>
        </p:spPr>
        <p:txBody>
          <a:bodyPr wrap="square" lIns="73152" rIns="73152" tIns="36576" bIns="36576" anchor="ctr">
            <a:spAutoFit/>
          </a:bodyPr>
          <a:lstStyle/>
          <a:p>
            <a:pPr algn="l"/>
            <a:r>
              <a:rPr sz="1100" b="0" i="0">
                <a:solidFill>
                  <a:srgbClr val="0B1428"/>
                </a:solidFill>
                <a:latin typeface="Calibri"/>
              </a:rPr>
              <a:t>= unchanged</a:t>
            </a:r>
          </a:p>
        </p:txBody>
      </p:sp>
      <p:sp>
        <p:nvSpPr>
          <p:cNvPr id="50" name="Rounded Rectangle 49"/>
          <p:cNvSpPr/>
          <p:nvPr/>
        </p:nvSpPr>
        <p:spPr>
          <a:xfrm>
            <a:off x="457200" y="4160520"/>
            <a:ext cx="11277295" cy="1828800"/>
          </a:xfrm>
          <a:prstGeom prst="roundRect">
            <a:avLst>
              <a:gd name="adj" fmla="val 6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1520" y="4270248"/>
            <a:ext cx="10728655" cy="274320"/>
          </a:xfrm>
          <a:prstGeom prst="rect">
            <a:avLst/>
          </a:prstGeom>
          <a:noFill/>
        </p:spPr>
        <p:txBody>
          <a:bodyPr wrap="square" lIns="73152" rIns="73152" tIns="36576" bIns="36576" anchor="t">
            <a:spAutoFit/>
          </a:bodyPr>
          <a:lstStyle/>
          <a:p>
            <a:pPr algn="l"/>
            <a:r>
              <a:rPr sz="1000" b="1" i="0">
                <a:solidFill>
                  <a:srgbClr val="FCA311"/>
                </a:solidFill>
                <a:latin typeface="Calibri"/>
              </a:rPr>
              <a:t>WHAT THE GATE ACTUALLY DOES</a:t>
            </a:r>
          </a:p>
        </p:txBody>
      </p:sp>
      <p:sp>
        <p:nvSpPr>
          <p:cNvPr id="52" name="TextBox 51"/>
          <p:cNvSpPr txBox="1"/>
          <p:nvPr/>
        </p:nvSpPr>
        <p:spPr>
          <a:xfrm>
            <a:off x="731520" y="4572000"/>
            <a:ext cx="10728655" cy="1371600"/>
          </a:xfrm>
          <a:prstGeom prst="rect">
            <a:avLst/>
          </a:prstGeom>
          <a:noFill/>
        </p:spPr>
        <p:txBody>
          <a:bodyPr wrap="square" lIns="73152" rIns="73152" tIns="36576" bIns="36576" anchor="t">
            <a:spAutoFit/>
          </a:bodyPr>
          <a:lstStyle/>
          <a:p>
            <a:pPr algn="l">
              <a:spcAft>
                <a:spcPts val="400"/>
              </a:spcAft>
            </a:pPr>
            <a:r>
              <a:rPr sz="1100" b="0" i="0">
                <a:solidFill>
                  <a:srgbClr val="FFFFFF"/>
                </a:solidFill>
                <a:latin typeface="Calibri"/>
              </a:rPr>
              <a:t>• Drops findings the model could not map to a specific canonical category (the low-signal 'other' bucket): 6 findings in this run, all false positives. Recall is untouched.</a:t>
            </a:r>
          </a:p>
          <a:p>
            <a:pPr algn="l">
              <a:spcAft>
                <a:spcPts val="400"/>
              </a:spcAft>
            </a:pPr>
            <a:r>
              <a:rPr sz="1100" b="0" i="0">
                <a:solidFill>
                  <a:srgbClr val="FFFFFF"/>
                </a:solidFill>
                <a:latin typeface="Calibri"/>
              </a:rPr>
              <a:t>• NOT run consensus:  the three evaluation runs share seed 42 and are byte-identical, so there is no run-to-run disagreement to gate on, so the gate reduces to a category filter.</a:t>
            </a:r>
          </a:p>
          <a:p>
            <a:pPr algn="l">
              <a:spcAft>
                <a:spcPts val="400"/>
              </a:spcAft>
            </a:pPr>
            <a:r>
              <a:rPr sz="1100" b="0" i="0">
                <a:solidFill>
                  <a:srgbClr val="FFFFFF"/>
                </a:solidFill>
                <a:latin typeface="Calibri"/>
              </a:rPr>
              <a:t>• Off by default in the shipped extension (minConfidence).  Both gated and ungated numbers are reported in the thesis, so the reader picks the bar.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